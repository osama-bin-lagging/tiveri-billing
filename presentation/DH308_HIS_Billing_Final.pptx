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presProps.xml" ContentType="application/vnd.openxmlformats-officedocument.presentationml.pres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</ns0: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602525024d3d4e02" /><ns0:Relationship Type="http://schemas.openxmlformats.org/officeDocument/2006/relationships/extended-properties" Target="/docProps/app.xml" Id="Re809490ed6184c4c" /><ns0:Relationship Type="http://schemas.openxmlformats.org/officeDocument/2006/relationships/officeDocument" Target="/ppt/presentation.xml" Id="Ra6ceae1af5794388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beba6d0bfb7f410c"/>
  </ns0:sldMasterIdLst>
  <ns0:sldIdLst>
    <ns0:sldId id="256" ns1:id="R5489c68527434bbd"/>
    <ns0:sldId id="257" ns1:id="Rd3cf5204d20b41c8"/>
    <ns0:sldId id="258" ns1:id="R1f716cf8cfbd4eff"/>
    <ns0:sldId id="259" ns1:id="R1957f951b7a04bc2"/>
    <ns0:sldId id="260" ns1:id="R40505b4cb2654ee2"/>
    <ns0:sldId id="261" ns1:id="R0f2b26199881489c"/>
    <ns0:sldId id="262" ns1:id="R47a6fa81fae1471a"/>
    <ns0:sldId id="263" ns1:id="R801cef521a7a458d"/>
    <ns0:sldId id="264" ns1:id="Rff401b780b4441d1"/>
    <ns0:sldId id="265" ns1:id="R4304c41e7c654f4a"/>
    <ns0:sldId id="266" ns1:id="R5f7e2c2dab364a80"/>
    <ns0:sldId id="267" ns1:id="Rfacf6ea63dd54239"/>
    <ns0:sldId id="268" ns1:id="R61e7b0f726134599"/>
    <ns0:sldId id="269" ns1:id="R40c61f1172df457b"/>
    <ns0:sldId id="270" ns1:id="R4360ad3beca84b3a"/>
    <ns0:sldId id="271" ns1:id="Rdfab8ea7c83a49cb"/>
    <ns0:sldId id="272" ns1:id="Rde6332fa445f4a07"/>
    <ns0:sldId id="273" ns1:id="R6d7177af287b404c"/>
    <ns0:sldId id="274" ns1:id="R551d0c1862024a89"/>
    <ns0:sldId id="275" ns1:id="R4e2b6aa0fd8b4e0f"/>
    <ns0:sldId id="276" ns1:id="Rff13abcf52eb4d2e"/>
    <ns0:sldId id="277" ns1:id="R2f7279e3601b4085"/>
    <ns0:sldId id="278" ns1:id="R19d417a55c14456b"/>
    <ns0:sldId id="279" ns1:id="R859c3caac7a74baa"/>
    <ns0:sldId id="280" ns1:id="R82ba55c86ffe4bf1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e03a2a5a293b4d35" /><ns0:Relationship Type="http://schemas.openxmlformats.org/officeDocument/2006/relationships/slideMaster" Target="/ppt/slideMasters/slideMaster1.xml" Id="Rbeba6d0bfb7f410c" /><ns0:Relationship Type="http://schemas.openxmlformats.org/officeDocument/2006/relationships/presProps" Target="/ppt/presProps.xml" Id="R8702b267597e4c1f" /><ns0:Relationship Type="http://schemas.openxmlformats.org/officeDocument/2006/relationships/tableStyles" Target="/ppt/tableStyles.xml" Id="R7edb7a7898a54390" /><ns0:Relationship Type="http://schemas.openxmlformats.org/officeDocument/2006/relationships/slide" Target="/ppt/slides/slide1.xml" Id="R5489c68527434bbd" /><ns0:Relationship Type="http://schemas.openxmlformats.org/officeDocument/2006/relationships/slide" Target="/ppt/slides/slide2.xml" Id="Rd3cf5204d20b41c8" /><ns0:Relationship Type="http://schemas.openxmlformats.org/officeDocument/2006/relationships/slide" Target="/ppt/slides/slide3.xml" Id="R1f716cf8cfbd4eff" /><ns0:Relationship Type="http://schemas.openxmlformats.org/officeDocument/2006/relationships/slide" Target="/ppt/slides/slide4.xml" Id="R1957f951b7a04bc2" /><ns0:Relationship Type="http://schemas.openxmlformats.org/officeDocument/2006/relationships/slide" Target="/ppt/slides/slide5.xml" Id="R40505b4cb2654ee2" /><ns0:Relationship Type="http://schemas.openxmlformats.org/officeDocument/2006/relationships/slide" Target="/ppt/slides/slide6.xml" Id="R0f2b26199881489c" /><ns0:Relationship Type="http://schemas.openxmlformats.org/officeDocument/2006/relationships/slide" Target="/ppt/slides/slide7.xml" Id="R47a6fa81fae1471a" /><ns0:Relationship Type="http://schemas.openxmlformats.org/officeDocument/2006/relationships/slide" Target="/ppt/slides/slide8.xml" Id="R801cef521a7a458d" /><ns0:Relationship Type="http://schemas.openxmlformats.org/officeDocument/2006/relationships/slide" Target="/ppt/slides/slide9.xml" Id="Rff401b780b4441d1" /><ns0:Relationship Type="http://schemas.openxmlformats.org/officeDocument/2006/relationships/slide" Target="/ppt/slides/slide10.xml" Id="R4304c41e7c654f4a" /><ns0:Relationship Type="http://schemas.openxmlformats.org/officeDocument/2006/relationships/slide" Target="/ppt/slides/slide11.xml" Id="R5f7e2c2dab364a80" /><ns0:Relationship Type="http://schemas.openxmlformats.org/officeDocument/2006/relationships/slide" Target="/ppt/slides/slide12.xml" Id="Rfacf6ea63dd54239" /><ns0:Relationship Type="http://schemas.openxmlformats.org/officeDocument/2006/relationships/slide" Target="/ppt/slides/slide13.xml" Id="R61e7b0f726134599" /><ns0:Relationship Type="http://schemas.openxmlformats.org/officeDocument/2006/relationships/slide" Target="/ppt/slides/slide14.xml" Id="R40c61f1172df457b" /><ns0:Relationship Type="http://schemas.openxmlformats.org/officeDocument/2006/relationships/slide" Target="/ppt/slides/slide15.xml" Id="R4360ad3beca84b3a" /><ns0:Relationship Type="http://schemas.openxmlformats.org/officeDocument/2006/relationships/slide" Target="/ppt/slides/slide16.xml" Id="Rdfab8ea7c83a49cb" /><ns0:Relationship Type="http://schemas.openxmlformats.org/officeDocument/2006/relationships/slide" Target="/ppt/slides/slide17.xml" Id="Rde6332fa445f4a07" /><ns0:Relationship Type="http://schemas.openxmlformats.org/officeDocument/2006/relationships/slide" Target="/ppt/slides/slide18.xml" Id="R6d7177af287b404c" /><ns0:Relationship Type="http://schemas.openxmlformats.org/officeDocument/2006/relationships/slide" Target="/ppt/slides/slide19.xml" Id="R551d0c1862024a89" /><ns0:Relationship Type="http://schemas.openxmlformats.org/officeDocument/2006/relationships/slide" Target="/ppt/slides/slide20.xml" Id="R4e2b6aa0fd8b4e0f" /><ns0:Relationship Type="http://schemas.openxmlformats.org/officeDocument/2006/relationships/slide" Target="/ppt/slides/slide21.xml" Id="Rff13abcf52eb4d2e" /><ns0:Relationship Type="http://schemas.openxmlformats.org/officeDocument/2006/relationships/slide" Target="/ppt/slides/slide22.xml" Id="R2f7279e3601b4085" /><ns0:Relationship Type="http://schemas.openxmlformats.org/officeDocument/2006/relationships/slide" Target="/ppt/slides/slide23.xml" Id="R19d417a55c14456b" /><ns0:Relationship Type="http://schemas.openxmlformats.org/officeDocument/2006/relationships/slide" Target="/ppt/slides/slide24.xml" Id="R859c3caac7a74baa" /><ns0:Relationship Type="http://schemas.openxmlformats.org/officeDocument/2006/relationships/slide" Target="/ppt/slides/slide25.xml" Id="R82ba55c86ffe4bf1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730e5889ed064e60" /></ns0:Relationships>
</file>

<file path=ppt/slideLayouts/_rels/slideLayout2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9a59a3bfb6534ebd" /></ns0:Relationships>
</file>

<file path=ppt/slideLayouts/_rels/slideLayout3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9c6a0531f9f44aa9" /></ns0:Relationships>
</file>

<file path=ppt/slideLayouts/_rels/slideLayout4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fae112fcbe4947f8" /></ns0:Relationships>
</file>

<file path=ppt/slideLayouts/_rels/slideLayout5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9cdf8e2d59cc4b8f" /></ns0:Relationships>
</file>

<file path=ppt/slideLayouts/_rels/slideLayout6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bad6e9f8bfed416e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69B9DCA-DC4E-4AF9-9C1E-CC33B57E210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779497A-9D47-42C0-B853-19E3A22712C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68DBE37-703E-433F-BC41-01EB385752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745561B-26A1-4C2C-954A-4721D9D4F6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D1B627F-0C48-4202-ADC6-AF487E4E6FA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581BEF3-A7D3-4D62-AB55-E6483FB7C0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7C14167-3F09-4300-840A-E103EC0E09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B78BE67-48CB-4FAE-B83D-E3D6CFDCBC5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6DD2918-B0AE-4BF8-9C07-E955858A5E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39560D6-3080-4AAE-B8B7-3EB54D96652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3938c8e1fd7e442a" /><ns0:Relationship Type="http://schemas.openxmlformats.org/officeDocument/2006/relationships/slideLayout" Target="/ppt/slideLayouts/slideLayout1.xml" Id="Rcf9fa452de234b8e" /><ns0:Relationship Type="http://schemas.openxmlformats.org/officeDocument/2006/relationships/slideLayout" Target="/ppt/slideLayouts/slideLayout2.xml" Id="Ra6b46a0606e34946" /><ns0:Relationship Type="http://schemas.openxmlformats.org/officeDocument/2006/relationships/slideLayout" Target="/ppt/slideLayouts/slideLayout3.xml" Id="R4d50899a3f7e4972" /><ns0:Relationship Type="http://schemas.openxmlformats.org/officeDocument/2006/relationships/slideLayout" Target="/ppt/slideLayouts/slideLayout4.xml" Id="Rfc14e34956404582" /><ns0:Relationship Type="http://schemas.openxmlformats.org/officeDocument/2006/relationships/slideLayout" Target="/ppt/slideLayouts/slideLayout5.xml" Id="R1c9e238846254148" /><ns0:Relationship Type="http://schemas.openxmlformats.org/officeDocument/2006/relationships/slideLayout" Target="/ppt/slideLayouts/slideLayout6.xml" Id="Raaae00f9a7ed40b0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9fa452de234b8e"/>
    <p:sldLayoutId xmlns:r="http://schemas.openxmlformats.org/officeDocument/2006/relationships" id="2147483650" r:id="Ra6b46a0606e34946"/>
    <p:sldLayoutId xmlns:r="http://schemas.openxmlformats.org/officeDocument/2006/relationships" id="2147483651" r:id="R4d50899a3f7e4972"/>
    <p:sldLayoutId xmlns:r="http://schemas.openxmlformats.org/officeDocument/2006/relationships" id="2147483652" r:id="Rfc14e34956404582"/>
    <p:sldLayoutId xmlns:r="http://schemas.openxmlformats.org/officeDocument/2006/relationships" id="2147483653" r:id="R1c9e238846254148"/>
    <p:sldLayoutId xmlns:r="http://schemas.openxmlformats.org/officeDocument/2006/relationships" id="2147483654" r:id="Raaae00f9a7ed40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eea5551fb9d4825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0e1f0ecbfd714f77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b092b23801274d3f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9810183f70e4533" /><ns0:Relationship Type="http://schemas.openxmlformats.org/officeDocument/2006/relationships/image" Target="/ppt/media/image.png" Id="Re61e80ef28e54fc9" /><ns0:Relationship Type="http://schemas.openxmlformats.org/officeDocument/2006/relationships/image" Target="/ppt/media/image2.png" Id="Rfe9ef872664647f3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d10f5eccf3064c38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260428c3ddc6452b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9c196a8b6d9b4d94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fd98c0ab206940d1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931daa95938f4655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7e9576b008b466f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e638ffc2572c4d33" /><ns0:Relationship Type="http://schemas.openxmlformats.org/officeDocument/2006/relationships/image" Target="/ppt/media/image3.png" Id="Rbed4959235294951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6d65bf0417f4e34" /><ns0:Relationship Type="http://schemas.openxmlformats.org/officeDocument/2006/relationships/image" Target="/ppt/media/image4.png" Id="Ra15fb73779a64ee2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0db85e51cca34e88" /><ns0:Relationship Type="http://schemas.openxmlformats.org/officeDocument/2006/relationships/image" Target="/ppt/media/image5.png" Id="R57ecdbb12eaf41b6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77e97df5711e4c54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5c63d609c95460d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925d58cc555b4e10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e4bef416bf41414c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a70942684be34684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8169fd8e45554359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4aa9a64885ca4eb0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031370b89f71440e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33b1e6a73f7c4f48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dd8aaa5b3f5b41f4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1c473fcf9f154bd9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b0ace7775c5043eb" /></ns0: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CA9A5A-453C-480F-AE1B-62CE2F1D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07FB41-4FCF-4E29-8F29-7AAD894B0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1925"/>
            <a:ext cx="12192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A8574C-1690-4B79-AE6E-CEF8840B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"/>
            <a:ext cx="819150" cy="5143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BA2585-3DE7-43D4-B136-2C0C74AD4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04825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>
            <a:defPPr algn="ctr">
              <a:defRPr sz="2700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700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47FA8"/>
                </a:solidFill>
                <a:latin typeface="Arial"/>
                <a:ea typeface="Arial"/>
                <a:cs typeface="Arial"/>
              </a:rPr>
              <a:t>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7AEBDB-B189-4FEB-A76D-142CF241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810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95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955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95574"/>
                </a:solidFill>
                <a:latin typeface="Arial"/>
                <a:ea typeface="Arial"/>
                <a:cs typeface="Arial"/>
              </a:rPr>
              <a:t>DH 308  |  FINAL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6E5A3B-6015-40F2-B15E-9525A51D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43075"/>
            <a:ext cx="10820400" cy="3190875"/>
          </a:xfrm>
          <a:prstGeom xmlns:a="http://schemas.openxmlformats.org/drawingml/2006/main" prst="roundRect">
            <a:avLst>
              <a:gd name="adj" fmla="val 50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DE1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47F540-4369-4D02-A5CC-82925FFC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43075"/>
            <a:ext cx="13335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916A42-872F-4FCC-B5B8-EF7E7A087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09775"/>
            <a:ext cx="3343275" cy="2667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406AD5-57F2-41D2-A838-0FD10C41D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57400"/>
            <a:ext cx="319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7FA8"/>
                </a:solidFill>
                <a:latin typeface="Arial"/>
                <a:ea typeface="Arial"/>
                <a:cs typeface="Arial"/>
              </a:rPr>
              <a:t>HOSPITAL INFORMATION SYSTEM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ECEA13-994C-4974-9862-4C25740E5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543175"/>
            <a:ext cx="8486775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41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1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Design of a hospital</a:t>
            </a:r>
          </a:p>
          <a:p xmlns:a="http://schemas.openxmlformats.org/drawingml/2006/main">
            <a:pPr algn="l">
              <a:defRPr sz="41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billing system with HIS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70B75C-D8FB-492C-B839-C874E2B6B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48125"/>
            <a:ext cx="90773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Clinical records, Indian payer pathways, pharmacy GST and a working role-based prototype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219852-B80B-4331-9EA6-5DB13835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05425"/>
            <a:ext cx="2590800" cy="819150"/>
          </a:xfrm>
          <a:prstGeom xmlns:a="http://schemas.openxmlformats.org/drawingml/2006/main" prst="roundRect">
            <a:avLst>
              <a:gd name="adj" fmla="val 10465"/>
            </a:avLst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954608-996B-47ED-8FC7-91F7C855E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476875"/>
            <a:ext cx="514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C02AFA-0C27-4566-938C-B3E8ED3B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51497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EAD620-36DD-4BBE-8F34-071043E81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305425"/>
            <a:ext cx="2590800" cy="819150"/>
          </a:xfrm>
          <a:prstGeom xmlns:a="http://schemas.openxmlformats.org/drawingml/2006/main" prst="roundRect">
            <a:avLst>
              <a:gd name="adj" fmla="val 10465"/>
            </a:avLst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E457CE-932F-4D83-A2D8-AAA4EEAD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476875"/>
            <a:ext cx="514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112068-719D-4F84-B2F6-DA14C5BD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551497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Coding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6C9185-4FE4-4831-AED2-FF3BCDFD5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305425"/>
            <a:ext cx="2590800" cy="819150"/>
          </a:xfrm>
          <a:prstGeom xmlns:a="http://schemas.openxmlformats.org/drawingml/2006/main" prst="roundRect">
            <a:avLst>
              <a:gd name="adj" fmla="val 10465"/>
            </a:avLst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723FF5-7BE2-41B2-BFD0-5EC5BCA6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476875"/>
            <a:ext cx="514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E5E899-0A40-4948-BC31-97F71853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51497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5B2475-5923-4EFA-AEC8-8F29B4948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305425"/>
            <a:ext cx="2590800" cy="819150"/>
          </a:xfrm>
          <a:prstGeom xmlns:a="http://schemas.openxmlformats.org/drawingml/2006/main" prst="roundRect">
            <a:avLst>
              <a:gd name="adj" fmla="val 10465"/>
            </a:avLst>
          </a:prstGeom>
          <a:solidFill xmlns:a="http://schemas.openxmlformats.org/drawingml/2006/main">
            <a:srgbClr val="447D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1E0A63-E7EB-436B-A9EF-795D8EF9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476875"/>
            <a:ext cx="514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B07F2B-DE87-4110-8F6A-528C3B82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514975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91508B-6363-4D5C-AEAC-1FF81E2D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419850"/>
            <a:ext cx="2667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AEA883-A812-42B3-BFF3-E8F04CEE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381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533937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7FEEAD-69C3-4D1E-BB97-D22B5E9F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529C96-D525-4BD3-BD60-0E48B4D86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B5E847-6537-40C4-BBF5-F288B3C2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Project scope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40218E-6AC8-46E3-BA20-60202265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A8B27B-A1C4-4D43-AE09-27D5948F1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DDD694-49A0-41E2-822C-6CB0DD54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F07013-98A8-462E-9DB3-2C457995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31FFDD-5D6D-48A1-B7D4-36566C483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85925"/>
            <a:ext cx="3400425" cy="2971800"/>
          </a:xfrm>
          <a:prstGeom xmlns:a="http://schemas.openxmlformats.org/drawingml/2006/main" prst="roundRect">
            <a:avLst>
              <a:gd name="adj" fmla="val 3205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992E7B-96AD-4D3B-81F2-C798F861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28775"/>
            <a:ext cx="3400425" cy="2971800"/>
          </a:xfrm>
          <a:prstGeom xmlns:a="http://schemas.openxmlformats.org/drawingml/2006/main" prst="roundRect">
            <a:avLst>
              <a:gd name="adj" fmla="val 32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9C9946-54AB-4190-B629-39062964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28775"/>
            <a:ext cx="34004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EBD885-8BB3-4C5E-9C9C-20371C7F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92405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EF2C70-796A-47A7-83E1-9903751E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98120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7000DB-2A80-4E48-AD60-04245891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409825"/>
            <a:ext cx="2933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Care record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F02228-7091-48A1-97AD-992774919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86100"/>
            <a:ext cx="2933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Patient profile, history, clinical note, ICD-10 and prescription are linked to one encounter.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41CE38-E3B1-4470-9E80-4850E305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685925"/>
            <a:ext cx="3400425" cy="2971800"/>
          </a:xfrm>
          <a:prstGeom xmlns:a="http://schemas.openxmlformats.org/drawingml/2006/main" prst="roundRect">
            <a:avLst>
              <a:gd name="adj" fmla="val 3205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98F12E-2E67-4970-89F4-B6842F078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628775"/>
            <a:ext cx="3400425" cy="2971800"/>
          </a:xfrm>
          <a:prstGeom xmlns:a="http://schemas.openxmlformats.org/drawingml/2006/main" prst="roundRect">
            <a:avLst>
              <a:gd name="adj" fmla="val 32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D2B98A-E99C-4546-B924-0D1A71267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628775"/>
            <a:ext cx="34004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32C003-EB47-4EBC-8466-6C7AB5BD6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192405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B8AC7E-279F-4F99-A765-1C828B20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198120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BFDD2F-5A1F-4862-8689-F649DA95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409825"/>
            <a:ext cx="2933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Billing record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FFBC04-A3FC-4288-AA2F-2ADEE6251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086100"/>
            <a:ext cx="2933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Delivered services, room stay and pharmacy dispense create a running account and final invoice.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D10828-9665-4933-A055-1EA460FA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85925"/>
            <a:ext cx="3400425" cy="2971800"/>
          </a:xfrm>
          <a:prstGeom xmlns:a="http://schemas.openxmlformats.org/drawingml/2006/main" prst="roundRect">
            <a:avLst>
              <a:gd name="adj" fmla="val 3205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01BF9C-9C3F-4C2C-B696-1E4FD0621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1628775"/>
            <a:ext cx="3400425" cy="2971800"/>
          </a:xfrm>
          <a:prstGeom xmlns:a="http://schemas.openxmlformats.org/drawingml/2006/main" prst="roundRect">
            <a:avLst>
              <a:gd name="adj" fmla="val 32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4BBC17-02C6-4C3F-B40F-ED82FC0D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1628775"/>
            <a:ext cx="34004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E12EF2-25AC-4DDA-B4D0-C54F07227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192405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C1E172-E02A-4C31-82B0-BDC441D8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198120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81D54F-B901-47AA-93DE-E3B5F367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409825"/>
            <a:ext cx="2933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Payer record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308532-A497-4356-AEF3-68465056E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086100"/>
            <a:ext cx="2933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Self pay, private TPA, PM-JAY, CGHS and corporate routes remain distinct through settlement.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A140E5-A086-4F32-B761-A0674B3D6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972050"/>
            <a:ext cx="10706100" cy="790575"/>
          </a:xfrm>
          <a:prstGeom xmlns:a="http://schemas.openxmlformats.org/drawingml/2006/main" prst="roundRect">
            <a:avLst>
              <a:gd name="adj" fmla="val 10843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17C861-BC72-43E0-8E2A-2906CB47D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91125"/>
            <a:ext cx="1024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650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394E"/>
                </a:solidFill>
                <a:latin typeface="Arial"/>
                <a:ea typeface="Arial"/>
                <a:cs typeface="Arial"/>
              </a:rPr>
              <a:t>One shared encounter ID connects care, coding, stock, charges, invoice and payment.</a:t>
            </a:r>
          </a:p>
        </p:txBody>
      </p:sp>
    </p:spTree>
    <p:extLst>
      <p:ext uri="{BB962C8B-B14F-4D97-AF65-F5344CB8AC3E}">
        <p14:creationId xmlns:p14="http://schemas.microsoft.com/office/powerpoint/2010/main" val="18637914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6C75883-D2AB-47E7-8223-7BAB8F9E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27532A-3012-4D4D-9F4E-5178C089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49EDF6-9858-48F0-B95A-97F135241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Problem statement and objectives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C2C964-A2E7-431C-AADD-6EBA7A21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D61DCC-D180-4624-8B81-EE70EA948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47C674-5590-49A4-91F3-61AF763D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62BEB8-21E0-4F57-B751-B67CF4D5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EB7C3B-2597-49FE-A791-1E656315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28775"/>
            <a:ext cx="10715625" cy="1019175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FF2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784321-F2CB-4134-8538-33AF0755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790700"/>
            <a:ext cx="1200150" cy="2667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89ADC8-B50F-4BDF-83C6-961560DF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8383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PROBLEM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BF6C70-DF8D-4AF6-AEE9-13362B42C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771650"/>
            <a:ext cx="89630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Services, tariff rules and payer decisions can be recorded in separate places. A missed or repeated entry changes the final bill.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78FB90-018C-41D5-B249-2FDBB10B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90875"/>
            <a:ext cx="2505075" cy="242887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ACD4C1-4A45-42CE-864D-1C2EE470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133725"/>
            <a:ext cx="2505075" cy="242887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06ADB0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DB7E84-3DC5-4F7B-8062-FF413609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133725"/>
            <a:ext cx="25050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8A416B-F137-4817-BCE8-D7EA8DDAA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242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8D6FAD-B265-43E1-9381-BF930FEAE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813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71D863-2ED4-4710-A5CA-A4931C94D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00475"/>
            <a:ext cx="21812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Capture once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7BD75E-F550-44BD-8BB6-16971A80E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4371975"/>
            <a:ext cx="21717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unique HIS event ID prevents a repeated service charge.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974BE3-65CF-447F-A9EF-FFA18533A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90875"/>
            <a:ext cx="2505075" cy="242887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4DC71B-44DF-43EA-AA59-4AB46BCA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3133725"/>
            <a:ext cx="2505075" cy="242887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247FA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754C91-B454-4DB8-A383-7C7DBBFE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3133725"/>
            <a:ext cx="25050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38BD16-D967-4EBF-8117-0D2D47A8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3242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A1BA22-D273-4234-AF55-7AF1F5DA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3813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087C3E-8BA6-4055-B290-D0BCB75AB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800475"/>
            <a:ext cx="21812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Price correctly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16B675-355F-4A5A-9D43-1D8F4F8A7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371975"/>
            <a:ext cx="21717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charge stores the selected payer tariff and tax setting.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595820-6054-40B7-9AD8-E6E90EEB1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2505075" cy="242887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8C711F-5B11-4E2D-8A6B-00EC4687A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133725"/>
            <a:ext cx="2505075" cy="242887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195574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692D78-BFAE-4829-B6F2-D6C857E1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133725"/>
            <a:ext cx="25050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9AAC4F-5E70-49BC-8453-7937DCC6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242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BB4E0B-EB82-4180-A1B3-00B2BD294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813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013F65-F84B-4A15-83DC-9D21E527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00475"/>
            <a:ext cx="21812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Bill clearly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1EC2AD-7BD6-426A-95A6-7EA1EF73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371975"/>
            <a:ext cx="21717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encounter produces one final itemised invoice.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1991E4-DFE8-46B3-8EFE-28AC6C31D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90875"/>
            <a:ext cx="2505075" cy="242887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79EBF3-B510-4D32-B5A9-D368FFDF5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133725"/>
            <a:ext cx="2505075" cy="242887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4A82AD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350AD40-D059-429D-B9F6-9CE2287E6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133725"/>
            <a:ext cx="25050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82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B5F9A3-3DE3-43B8-BEC2-318B981C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242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ACD146A-4C88-4DE0-B710-CE17D58A2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813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C41324-681B-413A-B69B-FD8961A13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800475"/>
            <a:ext cx="21812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Track settlement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69DD70F-7ED2-4784-ABE4-42A2B0B6E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371975"/>
            <a:ext cx="21717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Approval and actual money received remain separate.</a:t>
            </a:r>
          </a:p>
        </p:txBody>
      </p:sp>
    </p:spTree>
    <p:extLst>
      <p:ext uri="{BB962C8B-B14F-4D97-AF65-F5344CB8AC3E}">
        <p14:creationId xmlns:p14="http://schemas.microsoft.com/office/powerpoint/2010/main" val="9803244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0A74BE-158A-4934-8563-38E60E0E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EA13A4-5662-4A81-BAE8-3A7E5A5F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E9BA1C-B254-42DF-81A8-9D5BC8D6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Existing gaps and reasons for gaps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70D0B2-2AED-465E-9B84-31F873EC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48895B-2D0F-4541-ABDC-D38200C74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88C026-5BAE-4799-B19C-30BBFB721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B0EDFA-1525-4F3F-A822-FDBD1500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EDA685-D1AF-495C-861F-3CC8254C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47825"/>
            <a:ext cx="5200650" cy="1752600"/>
          </a:xfrm>
          <a:prstGeom xmlns:a="http://schemas.openxmlformats.org/drawingml/2006/main" prst="roundRect">
            <a:avLst>
              <a:gd name="adj" fmla="val 5435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414A18-9C64-4B12-ADBA-B034B0DD8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90675"/>
            <a:ext cx="5200650" cy="1752600"/>
          </a:xfrm>
          <a:prstGeom xmlns:a="http://schemas.openxmlformats.org/drawingml/2006/main" prst="roundRect">
            <a:avLst>
              <a:gd name="adj" fmla="val 543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3136CC-4ECA-4DC5-B2F2-392D2F346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90675"/>
            <a:ext cx="520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331306-FE6F-4E71-8487-7D7A468B8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47825"/>
            <a:ext cx="5200650" cy="1752600"/>
          </a:xfrm>
          <a:prstGeom xmlns:a="http://schemas.openxmlformats.org/drawingml/2006/main" prst="roundRect">
            <a:avLst>
              <a:gd name="adj" fmla="val 5435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144B34-3B99-4710-8027-49131803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590675"/>
            <a:ext cx="5200650" cy="1752600"/>
          </a:xfrm>
          <a:prstGeom xmlns:a="http://schemas.openxmlformats.org/drawingml/2006/main" prst="roundRect">
            <a:avLst>
              <a:gd name="adj" fmla="val 543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5277CB-4FD2-47D4-8A33-AA654F08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590675"/>
            <a:ext cx="520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1B4CFB-6648-4B7F-BE21-F2E41E09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1743075"/>
            <a:ext cx="1657350" cy="2667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BA3F1C-9C8F-4340-B308-65A9382E8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1790700"/>
            <a:ext cx="1504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SANITISED BILL 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2724E5-3502-4093-BFDA-B9F70BD01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1657350" cy="2667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3F1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A2E477-069D-4AF9-B93C-F9969778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90700"/>
            <a:ext cx="1504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7FA8"/>
                </a:solidFill>
                <a:latin typeface="Arial"/>
                <a:ea typeface="Arial"/>
                <a:cs typeface="Arial"/>
              </a:rPr>
              <a:t>SANITISED BILL B</a:t>
            </a:r>
          </a:p>
        </p:txBody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D918DA-9F5A-4A62-827B-7CC1091B15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1e80ef28e54fc9"/>
          <a:stretch xmlns:a="http://schemas.openxmlformats.org/drawingml/2006/main"/>
        </p:blipFill>
        <p:spPr>
          <a:xfrm xmlns:a="http://schemas.openxmlformats.org/drawingml/2006/main">
            <a:off x="790575" y="2218084"/>
            <a:ext cx="4962525" cy="802581"/>
          </a:xfrm>
          <a:prstGeom xmlns:a="http://schemas.openxmlformats.org/drawingml/2006/main" prst="rect">
            <a:avLst/>
          </a:prstGeom>
        </p:spPr>
      </p:pic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37E468-09A2-495D-B225-E7B713D908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9ef872664647f3"/>
          <a:stretch xmlns:a="http://schemas.openxmlformats.org/drawingml/2006/main"/>
        </p:blipFill>
        <p:spPr>
          <a:xfrm xmlns:a="http://schemas.openxmlformats.org/drawingml/2006/main">
            <a:off x="7426876" y="2047875"/>
            <a:ext cx="2948473" cy="1143000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99722E-855D-41D5-A747-D3D2EBEFD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457575"/>
            <a:ext cx="104394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The uploaded examples use different formats. The visible service rows do not carry a shared HIS event ID or payer decision.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29956C-4D54-48AB-9BAB-D1981DE4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33850"/>
            <a:ext cx="10677525" cy="47625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FBFB69-6400-49A0-88AF-A5297E06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95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185E1F-BE7C-48A7-8795-E564513DC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767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539F8F-43CB-460B-ABF2-23D0EFD1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57675"/>
            <a:ext cx="3914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Disconnected service entry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8C240C-F484-40BE-AA70-5B063EFB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257675"/>
            <a:ext cx="55340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Use encounter ID plus unique source event ID.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64FF33-1391-4F5A-BBEE-2EA07285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10677525" cy="47625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070C14-C88E-4F10-8DF0-E6A29D29B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720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B80169-AFB9-4D4A-A858-3120DBF7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291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3E2133-D766-4CF2-9D3E-027107AA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810125"/>
            <a:ext cx="3914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Different payer prices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F6982C-9761-4205-8FCE-86B27B59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810125"/>
            <a:ext cx="55340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Keep a charge master and payer rate table.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B14146-53A4-4A68-B273-3AD807750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0677525" cy="47625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5A66D6-4F4C-41AF-AFDF-6C91F5F00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244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CA19505-6797-41B5-95E1-4A2EC744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3E2EC5-5825-4FAB-A2C6-F9689B283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62575"/>
            <a:ext cx="3914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Approval confused with payment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93B1FEE-F8E3-4D90-AEA6-5F9796F2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5362575"/>
            <a:ext cx="55340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Record claim decision and receipt separately.</a:t>
            </a:r>
          </a:p>
        </p:txBody>
      </p:sp>
    </p:spTree>
    <p:extLst>
      <p:ext uri="{BB962C8B-B14F-4D97-AF65-F5344CB8AC3E}">
        <p14:creationId xmlns:p14="http://schemas.microsoft.com/office/powerpoint/2010/main" val="4333835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21409B0-D2D4-48F5-BCE8-8A50A1D7D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4D0787-7B63-46A0-AA42-254FC8F8D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LITERATURE REVIEW / STANDARDS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BC151F-C6F1-4BBB-BB3B-7C826CBF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Standards that shaped the design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A76D56-39D6-4826-B766-D8EE2BFF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86F11F-9EE9-42E7-8B26-510AFE53C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629A0A-E850-41C1-91A8-589CAA09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2B914F-1EFD-462F-940E-4357B7B2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F3F500-CF28-4C0C-9532-FDA696169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581150"/>
            <a:ext cx="10734675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1374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DCC6C6-3A69-45BD-8ABC-427E18D02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724025"/>
            <a:ext cx="2743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Standard / guidance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4396E8-401C-4EB1-8548-E10EAB75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1724025"/>
            <a:ext cx="3533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Point used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45F7E9-0ED7-404A-9CA0-267A4846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1724025"/>
            <a:ext cx="3562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E74A3-4BFE-440A-9B6C-3EA67D48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171700"/>
            <a:ext cx="10734675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0FCF01-BF51-493C-BAE0-7393DAAE9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145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ICD-10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835FC8-E568-489D-B4F7-87FCAB8B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14575"/>
            <a:ext cx="29432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Diagnosis code entered by doctor and reviewed by coder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BA48A1-51FE-4AEC-B94B-47401C90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314575"/>
            <a:ext cx="4067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Claim uses the latest coder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A0A464-5278-4EBB-B82A-EF8EB99F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95600"/>
            <a:ext cx="10734675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C9D092-7D7B-401E-A1E0-452D70E1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0384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CPT field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4AD390-D704-4CC4-9121-C2D123060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38475"/>
            <a:ext cx="29432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Optional invented training identifier; no licensed catalog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DD4B6B-D6C7-47E5-9D68-04ABA3F3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38475"/>
            <a:ext cx="4067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Procedure field stays separate from tariff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5E1B53-F5DB-426C-92E2-21FDA0FDC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619500"/>
            <a:ext cx="10734675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39716A-7448-44DB-AF11-B66FC221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7623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IRDAI process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BC3402-0228-4FB2-BD17-AE666917C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762375"/>
            <a:ext cx="29432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Cashless request, decision and final claim are distinct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B9CC8D-9949-49E3-AA26-7B169724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762375"/>
            <a:ext cx="4067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Preauth, claim and receipt have separate records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A6E983-E20C-433C-A30E-1812E3899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343400"/>
            <a:ext cx="10734675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46F232-85A2-4FF1-AE20-938D1971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4862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PM-JAY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F0BB61-305C-4A1D-9D84-AFBA3DCC0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86275"/>
            <a:ext cx="29432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Package and scheme workflow for an empanelled hospital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F146FD-8F31-4196-9DFE-A2ADE795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86275"/>
            <a:ext cx="4067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Simulated check, package and zero patient collection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F8C662-911F-46D4-B3B9-9E1B61860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067300"/>
            <a:ext cx="10734675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F1308F-22C6-40CC-B646-7E48571A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2101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GST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16DB92-059A-4999-8C11-8A923217D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210175"/>
            <a:ext cx="29432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Healthcare exemption, specified room and item tax rules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5392EC-DB77-4783-995C-9F56C4CA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210175"/>
            <a:ext cx="4067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Rate and HSN are stored on each bill line</a:t>
            </a:r>
          </a:p>
        </p:txBody>
      </p:sp>
    </p:spTree>
    <p:extLst>
      <p:ext uri="{BB962C8B-B14F-4D97-AF65-F5344CB8AC3E}">
        <p14:creationId xmlns:p14="http://schemas.microsoft.com/office/powerpoint/2010/main" val="18718270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6D5F374-0063-4AD2-B28E-3E79ABE51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B04A1E-6FBC-4670-B02D-399C6D393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LITERATURE REVIEW / STANDARDS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8E2048-8317-4891-A1E2-5AC36D470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Indian payer routes and GST decisions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AC4BEA-5EA9-4543-B215-C79D78AD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66E79D-C9E1-4879-B206-F7487F9A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36B69E-4F7A-4DA1-B29E-4843F08B2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01198B-F1D8-412C-826B-ECF3AE5D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A56D62-85C1-46F1-B495-CF8893F0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5191125" cy="619125"/>
          </a:xfrm>
          <a:prstGeom xmlns:a="http://schemas.openxmlformats.org/drawingml/2006/main" prst="roundRect">
            <a:avLst>
              <a:gd name="adj" fmla="val 1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F84ED5-EEAE-4A6E-A879-9B988291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7811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89BDA1-4D2B-43F7-8404-6401B9C96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8383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E80EBD-ED75-4B89-BD1A-580143804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771650"/>
            <a:ext cx="15430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SELF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71C08F-DF1D-4EFE-A706-624DC9682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733550"/>
            <a:ext cx="28289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Patient receipt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A05C56-5F45-4D1F-8EA8-EDF5118D6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5191125" cy="619125"/>
          </a:xfrm>
          <a:prstGeom xmlns:a="http://schemas.openxmlformats.org/drawingml/2006/main" prst="roundRect">
            <a:avLst>
              <a:gd name="adj" fmla="val 10769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29CF32-9FB4-497F-B952-8656123B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5050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7DA03F-3BEE-4C96-BDE9-A24046A9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5622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F5B042-7BBA-42F2-B15B-37E13177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495550"/>
            <a:ext cx="15430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PRIVATE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1AA6DA-1C11-4756-9351-18E47EC1C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2457450"/>
            <a:ext cx="28289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TPA preauth, claim, insurer receipt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6F8207-6254-4B43-9335-97DF941E1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67050"/>
            <a:ext cx="5191125" cy="619125"/>
          </a:xfrm>
          <a:prstGeom xmlns:a="http://schemas.openxmlformats.org/drawingml/2006/main" prst="roundRect">
            <a:avLst>
              <a:gd name="adj" fmla="val 1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FB183E-067D-4D46-B99E-39930796D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2289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010E22-BA92-4E31-9554-BEE40D2A1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2861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116EE7-9469-4CCF-AA10-D5188DB78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219450"/>
            <a:ext cx="15430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PM-JAY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8FE925-3D43-4C92-A6BA-E1187334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3181350"/>
            <a:ext cx="28289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Package and scheme claim; no patient receipt in demo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DD57C1-9943-42EC-991B-6E72B81D6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90950"/>
            <a:ext cx="5191125" cy="619125"/>
          </a:xfrm>
          <a:prstGeom xmlns:a="http://schemas.openxmlformats.org/drawingml/2006/main" prst="roundRect">
            <a:avLst>
              <a:gd name="adj" fmla="val 10769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694E19-6537-4011-B774-E9A0C462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9528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0A4941-77D6-4A67-B7BF-7803DE284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0100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B87D76-9259-4F95-9227-2EA8967DD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943350"/>
            <a:ext cx="15430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CGHS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9C359A-5F49-4334-9019-D92107ABE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3905250"/>
            <a:ext cx="28289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Scheme rate card and claim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E7A9E6-FE72-497C-9D5B-A311291E3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5191125" cy="619125"/>
          </a:xfrm>
          <a:prstGeom xmlns:a="http://schemas.openxmlformats.org/drawingml/2006/main" prst="roundRect">
            <a:avLst>
              <a:gd name="adj" fmla="val 1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EB02F0-CAC6-42CB-8206-042F3CE7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6767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9B2D77-DB5A-41C1-8C0C-45341A489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7339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B882F0-A69B-4040-AB05-115723E8A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667250"/>
            <a:ext cx="15430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CORPORATE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9224AC4-470E-42A2-843A-D86B5620E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4629150"/>
            <a:ext cx="28289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Employer rate and credit balance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F327BE-3FA4-43E8-8B49-D776F8D8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1685925"/>
            <a:ext cx="5124450" cy="3648075"/>
          </a:xfrm>
          <a:prstGeom xmlns:a="http://schemas.openxmlformats.org/drawingml/2006/main" prst="roundRect">
            <a:avLst>
              <a:gd name="adj" fmla="val 2611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FAFA9F-3EF1-4796-A0A5-3C18228B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28775"/>
            <a:ext cx="5124450" cy="3648075"/>
          </a:xfrm>
          <a:prstGeom xmlns:a="http://schemas.openxmlformats.org/drawingml/2006/main" prst="roundRect">
            <a:avLst>
              <a:gd name="adj" fmla="val 26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9F3FD03-A8E3-417C-9F45-11274DF0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28775"/>
            <a:ext cx="5124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0B737D6-4367-4610-9B06-9C30258F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1847850"/>
            <a:ext cx="46101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Tax treatment in the demo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ADB756-C060-4380-835F-E5C56DB3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52750"/>
            <a:ext cx="4638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7113CAF-0983-4646-89EF-C3612CA0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2038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Clinical care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41A9E0E-57B7-4509-BCBD-E3E6F64B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50507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Exempt when it meets the notified definition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66C2A5F-B964-453F-8FDD-E17D651EA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00450"/>
            <a:ext cx="4638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A0D53A3-E5DA-452B-B4BA-DBB4748F3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152775"/>
            <a:ext cx="2038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Medicine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E147408-DB6E-470F-B995-DDA5E2D4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5277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Generally 5%; specified medicines can be nil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5094E04-2777-4E44-A1C5-D965C70D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48150"/>
            <a:ext cx="4638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3F7AD58-C45F-4E70-BF4E-F1DEE461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800475"/>
            <a:ext cx="2038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Medical device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6D096E6-3840-4780-AEB2-E21A67EE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80047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Generally 5%, unless specifically exempt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7A2DC4E-FB62-4AD4-AC68-B81ED281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95850"/>
            <a:ext cx="4638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F60E047-69A3-42B2-ABED-B1C8E366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448175"/>
            <a:ext cx="2038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Non-ICU room &gt; ₹5,000/day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7E3AC73-F2E4-42FD-AB60-92A989856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44817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5% subject to the no-ITC condition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E3246D4-C239-4FE1-AB6B-080DA66B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86400"/>
            <a:ext cx="48387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The charge master stores an effective-dated rule; real item classification needs review.</a:t>
            </a:r>
          </a:p>
        </p:txBody>
      </p:sp>
    </p:spTree>
    <p:extLst>
      <p:ext uri="{BB962C8B-B14F-4D97-AF65-F5344CB8AC3E}">
        <p14:creationId xmlns:p14="http://schemas.microsoft.com/office/powerpoint/2010/main" val="6393732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E881524-130A-45AF-810A-BB2D31625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2B328D-A0E0-4688-91B0-EBEA0873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LITERATURE REVIEW / STANDARDS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D516E9-9D99-49B9-9EEF-596AE863A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Pharmacy GST is item-specific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83A1A8-6B8B-4B9B-AFF7-6AF258E46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66EE50-F1D8-4919-B448-74DE4C08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A39367-C8D4-4CE0-BE51-0121F735B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F59239-99B2-4C6B-A871-010B155E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1FA2C4-FDB0-41D8-9D4E-E350BD27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52600"/>
            <a:ext cx="3371850" cy="3438525"/>
          </a:xfrm>
          <a:prstGeom xmlns:a="http://schemas.openxmlformats.org/drawingml/2006/main" prst="roundRect">
            <a:avLst>
              <a:gd name="adj" fmla="val 2825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D6E390-F15F-413E-9DF7-8E930CCB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95450"/>
            <a:ext cx="3371850" cy="3438525"/>
          </a:xfrm>
          <a:prstGeom xmlns:a="http://schemas.openxmlformats.org/drawingml/2006/main" prst="roundRect">
            <a:avLst>
              <a:gd name="adj" fmla="val 28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AC36FC-F06D-4C5F-84E9-CFBDBDC7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954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1D5790-617A-46BA-865A-0100660F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14525"/>
            <a:ext cx="1276350" cy="2667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198269-A206-42C1-99E9-B9603D0B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1123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7FA8"/>
                </a:solidFill>
                <a:latin typeface="Arial"/>
                <a:ea typeface="Arial"/>
                <a:cs typeface="Arial"/>
              </a:rPr>
              <a:t>MED-A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0DCCC3-4D9E-4288-B7D2-0BD5798A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71725"/>
            <a:ext cx="3009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Paracetamol training SKU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241613-CACB-460F-88DE-DBD51165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162300"/>
            <a:ext cx="3009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021486-9B8F-40B1-8E6A-53D53A21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81375"/>
            <a:ext cx="17240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Unit price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E5B555-9149-44CF-A7BA-B66AAA7B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381375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₹100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76BDA3-7F64-45DF-9898-FACA8F24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38575"/>
            <a:ext cx="17240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GST setting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87A3A7-35EB-4B98-8A1C-4A29AC11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838575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50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5%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E799F5-6C1C-496D-B25D-66A147667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314825"/>
            <a:ext cx="3009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47BEBD-8636-498E-99F0-8C0306DB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05325"/>
            <a:ext cx="17240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Bill amount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7F19F0-64D3-4F4D-888E-9845A088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486275"/>
            <a:ext cx="1238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₹105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B92FED-D6F6-4CDF-91C1-43BB853D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52600"/>
            <a:ext cx="3371850" cy="3438525"/>
          </a:xfrm>
          <a:prstGeom xmlns:a="http://schemas.openxmlformats.org/drawingml/2006/main" prst="roundRect">
            <a:avLst>
              <a:gd name="adj" fmla="val 2825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1E2454-B143-4549-B86A-65B575DC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95450"/>
            <a:ext cx="3371850" cy="3438525"/>
          </a:xfrm>
          <a:prstGeom xmlns:a="http://schemas.openxmlformats.org/drawingml/2006/main" prst="roundRect">
            <a:avLst>
              <a:gd name="adj" fmla="val 28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CA7B80-3049-4AD7-9509-2117FEE4A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954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E9CC36-0722-484E-8F48-55D020C0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914525"/>
            <a:ext cx="1276350" cy="2667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3F1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86928C-3760-4569-A12D-A80853E9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62150"/>
            <a:ext cx="1123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7FA8"/>
                </a:solidFill>
                <a:latin typeface="Arial"/>
                <a:ea typeface="Arial"/>
                <a:cs typeface="Arial"/>
              </a:rPr>
              <a:t>MED-N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3FF883-0195-4AAE-8263-B6A56CE83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71725"/>
            <a:ext cx="3009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Specified nil-rate category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E808F7-2AC3-437A-83B8-2093F779B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162300"/>
            <a:ext cx="3009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40C0846-D226-4FE9-83EA-A8AEDDAB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81375"/>
            <a:ext cx="17240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Unit price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C19C50-ED23-4556-8053-5B91A896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81375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₹1,800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E1E457B-47C9-4A80-904F-99C87F43A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838575"/>
            <a:ext cx="17240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GST setting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147CF73-C4B4-4074-858A-3E47E848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838575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50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Nil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7105FC-EAB8-47FF-8308-987A8183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4314825"/>
            <a:ext cx="3009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2A42D9-F0DE-4806-BEAA-3501AF88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05325"/>
            <a:ext cx="17240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Bill amount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F7DF974-CECC-4678-8F2F-DE9398C1D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86275"/>
            <a:ext cx="1238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₹1,800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7ACCD73-B0B6-4C68-8BCD-48444007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52600"/>
            <a:ext cx="3371850" cy="3438525"/>
          </a:xfrm>
          <a:prstGeom xmlns:a="http://schemas.openxmlformats.org/drawingml/2006/main" prst="roundRect">
            <a:avLst>
              <a:gd name="adj" fmla="val 2825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5F03F98-B2AD-4463-8BD9-64448EEA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1695450"/>
            <a:ext cx="3371850" cy="3438525"/>
          </a:xfrm>
          <a:prstGeom xmlns:a="http://schemas.openxmlformats.org/drawingml/2006/main" prst="roundRect">
            <a:avLst>
              <a:gd name="adj" fmla="val 28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7753427-321F-4AE5-916A-908D2395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16954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883D8FB-F9AB-42F6-816C-985A2F20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14525"/>
            <a:ext cx="1276350" cy="2667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0EA54D-16E4-47F8-B03B-F82F3590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62150"/>
            <a:ext cx="1123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7FA8"/>
                </a:solidFill>
                <a:latin typeface="Arial"/>
                <a:ea typeface="Arial"/>
                <a:cs typeface="Arial"/>
              </a:rPr>
              <a:t>DEVICE-B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9C8B4AB-CB13-441B-AEB7-A840D45C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71725"/>
            <a:ext cx="3009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Medical device training SKU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3C28761-DD98-47C2-B848-40106DDA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162300"/>
            <a:ext cx="3009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1FF8720-2127-4581-9B39-036D2C2B0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81375"/>
            <a:ext cx="17240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Unit price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E045B26-871E-43D6-B0DB-A7DCDD6FA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381375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₹2,500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5B2BFC6-2F3B-4A5F-9B07-93A6A469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38575"/>
            <a:ext cx="17240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GST setting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D78D8CB-100A-4EAA-BBE4-DEA58073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838575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50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5%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B00FE46-CB85-4353-B104-8523C803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4314825"/>
            <a:ext cx="3009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6A83EE0-755F-4CE3-B3C4-0A0A7A43E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505325"/>
            <a:ext cx="17240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Bill amount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B10A86D-A642-47B7-9B1B-6A145D0D1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486275"/>
            <a:ext cx="1238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₹2,625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3794017-6BA7-4118-8511-E4DCF936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10734675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FFF2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C6E7E60-FD46-47B0-B8CC-D54F75DB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543550"/>
            <a:ext cx="10334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394E"/>
                </a:solidFill>
                <a:latin typeface="Arial"/>
                <a:ea typeface="Arial"/>
                <a:cs typeface="Arial"/>
              </a:rPr>
              <a:t>The nil item is a synthetic category. Actual product HSN and rate must be verified before hospital use.</a:t>
            </a:r>
          </a:p>
        </p:txBody>
      </p:sp>
    </p:spTree>
    <p:extLst>
      <p:ext uri="{BB962C8B-B14F-4D97-AF65-F5344CB8AC3E}">
        <p14:creationId xmlns:p14="http://schemas.microsoft.com/office/powerpoint/2010/main" val="5694635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2C9F317-4980-4C02-998A-6DB627E34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5C3783-1902-46A9-99E5-1D8492C85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LITERATURE REVIEW / STANDARDS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0F1415-134A-4A6B-B54D-D1C94C8F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Functions needed across a hospital bill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20B36D-3AD4-47F6-86F1-F9473190A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22250E-D5F4-4062-B40D-177B523F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86214D-6F32-4FBF-9191-3A28A595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24C444-DC0A-484E-B50B-0632D1ED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E931D0-9680-4428-9BAA-0C9DC051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3362325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C8C835-8F9A-4633-8044-CE4AD58E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19250"/>
            <a:ext cx="3362325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069C3E-768D-4924-8F75-8143DBCBC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19250"/>
            <a:ext cx="33623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26D919-17AD-4037-889D-8E47B55B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6690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EA7F4B-15CF-4F9F-B458-F391A7AEE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2405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EE31B1-0C79-4926-A9CB-E1EA6CC33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847850"/>
            <a:ext cx="25431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OPD and IPD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3DF283-E2F3-45B3-919F-7F7FE9E85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419350"/>
            <a:ext cx="2971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Consultation, investigations, dated room stay, running account and final bill.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55C336-26D1-4C6C-9589-493F5F73B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1676400"/>
            <a:ext cx="3362325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931F5C-9BA3-4AC6-995E-C4AA2C19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19250"/>
            <a:ext cx="3362325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3AD0E2-11E7-48F1-B0F9-EA96AC11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19250"/>
            <a:ext cx="33623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F93B4C-3ADC-4A15-BF58-CFED57E51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186690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0E41D6-CF60-458B-8542-ED6F0E13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192405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A2FCD9-1BE4-4AFB-8849-A32B36BB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847850"/>
            <a:ext cx="25431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E1AA7A-E41F-41A9-8DD5-77071B672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19350"/>
            <a:ext cx="2971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Doctor order, batch and expiry check, stock movement and item GST.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96C228-D13E-4C0F-AE43-1C2B0AB8D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76400"/>
            <a:ext cx="3362325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CF2017-53B8-46F1-881A-F5BC73072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19250"/>
            <a:ext cx="3362325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41681D-2019-4D8C-8B61-9CA318338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19250"/>
            <a:ext cx="33623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566827-0EC5-4DE7-A45A-37C1911A0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86690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FCCDDD-1A7A-4393-948F-4F9F1D8F8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2405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F732FC-E0D4-4156-BBFF-EE5CD79B5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5431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Private TPA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73CCF4-3B48-4381-86DE-325B02B1E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419350"/>
            <a:ext cx="2971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Named payer rate, preauthorisation, claim decision and receipt.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208FD4-171D-4804-8A53-633286C5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3362325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941370-867D-4582-AAF4-66F1E3CF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752850"/>
            <a:ext cx="3362325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A00148-0593-4286-93F0-934283C2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752850"/>
            <a:ext cx="33623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DB52FE-C173-493F-A1D2-5BBEF7E06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0050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E5EA71-B232-4EFE-B332-56F13908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5765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F58F16B-A44F-4B7A-8605-41AA4A26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981450"/>
            <a:ext cx="25431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Government scheme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E84B2BA-A360-432D-915C-F6114395D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4552950"/>
            <a:ext cx="2971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Invented PM-JAY package, simulated eligibility and scheme claim.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AA2551A-3C66-456C-83BB-8A3B1344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810000"/>
            <a:ext cx="3362325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D13AF9-2A86-460B-BAD0-96B96DC1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752850"/>
            <a:ext cx="3362325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07A0C99-3122-47E4-B5AE-7A4BF2BE3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752850"/>
            <a:ext cx="33623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3D41DD3-0DEE-4576-BDC2-D4874A12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00050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2BC909C-CEA5-404F-884C-D9194912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05765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5BD3C98-B7B2-487D-BA29-BFF7545D9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981450"/>
            <a:ext cx="25431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Finance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9DDC869-8E80-4585-9BC2-ABFDA9222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552950"/>
            <a:ext cx="2971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Advances, refunds, receivables, payer mix and audit trail.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282EFE8-FC3E-4199-89F8-D05DDD20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10000"/>
            <a:ext cx="3362325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FD9BA90-A504-4F75-B490-FB59B016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52850"/>
            <a:ext cx="3362325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4570C9-F2E5-4C25-8960-D22676300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52850"/>
            <a:ext cx="33623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DAB7CA2-EDF7-4CBD-8D19-36B1A0C70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0050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03813EB-5E22-46CF-B8B6-24717B6E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5765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66CF369-ECA9-4176-A8F8-9D6B73C0D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81450"/>
            <a:ext cx="25431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Tax review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3F581BC-83D2-455A-9A70-AD761DD8D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552950"/>
            <a:ext cx="2971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Taxable, nil and exempt lines grouped for GSTR-1 review.</a:t>
            </a:r>
          </a:p>
        </p:txBody>
      </p:sp>
    </p:spTree>
    <p:extLst>
      <p:ext uri="{BB962C8B-B14F-4D97-AF65-F5344CB8AC3E}">
        <p14:creationId xmlns:p14="http://schemas.microsoft.com/office/powerpoint/2010/main" val="16354966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D4CCC3A-A1F1-49B8-9A18-B2FFF81F0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1FC53D-EB52-4127-B7A1-C3532DF05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A832A0-439C-4F9F-A4FD-1C390F31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HIS modules and the billing boundary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B45369-2D3E-4A6E-A029-EC1BE2D4C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2925D0-043B-49A6-8195-FF99608AC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27E488-7C47-434C-B6AE-289721737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E390B-2BBB-48C7-B741-639FD0D8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3804EA-32C2-4F15-A29E-A71A3238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9725"/>
            <a:ext cx="3143250" cy="8001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F90DBF-AA0C-47E3-A75A-C511A8C2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186690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D10556-A106-41B3-8331-921E41E1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192405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902C0A-F61F-4FEA-8CF9-A0495A0A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733550"/>
            <a:ext cx="2286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Registration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0F3828-DC7F-445A-9E76-6EE62CAC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047875"/>
            <a:ext cx="2286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Patient, encounter and payer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E62896-ABA8-43C6-BC53-94BEEFB6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3143250" cy="8001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3F1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5FF89-C1F4-4414-9DA3-04E37D93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8289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607AFF-B331-4136-8A8E-1877E5EEA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8860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9A7791-0389-4792-A1D7-EBA53FF2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695575"/>
            <a:ext cx="2286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Doctor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E7AF80-7BF7-40DB-8D51-E3375D27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009900"/>
            <a:ext cx="2286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503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Note, provisional ICD-10 and order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076F0C-6263-4063-8528-E58AB9A3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33775"/>
            <a:ext cx="3143250" cy="8001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F956FA-92D2-4F48-B4F5-205CD7E6D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79095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31A939-6CAC-4A4E-AE9C-531D86B1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84810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A6A1CC-263D-4DEF-A9B5-4B52E978C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657600"/>
            <a:ext cx="2286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Coder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DACC91-1B19-45EE-84B6-6BBDF9E1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971925"/>
            <a:ext cx="2286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447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Reviewed diagnosis and procedure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FF96FF-6CB5-4C8C-B55C-83152A59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95800"/>
            <a:ext cx="3143250" cy="8001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3F1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74F558-879C-4666-B89F-8305AEBB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7529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0B8AB2-79F1-42AF-8887-7FF87551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8101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24CE2D-516C-46C9-8D84-935FDE83C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619625"/>
            <a:ext cx="2286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FCBAE4-FC4C-4570-B6EA-014C12738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933950"/>
            <a:ext cx="2286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Prescription, batch and dispense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24B129-B8FE-4247-967B-B8BA64010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3076575"/>
            <a:ext cx="3714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4050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4050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9A23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5B25F3-8132-4345-A9A1-1705CD83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09750"/>
            <a:ext cx="3390900" cy="3524250"/>
          </a:xfrm>
          <a:prstGeom xmlns:a="http://schemas.openxmlformats.org/drawingml/2006/main" prst="roundRect">
            <a:avLst>
              <a:gd name="adj" fmla="val 2809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60EEC4-F51A-4075-A73A-BE3B42EFE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1752600"/>
            <a:ext cx="3390900" cy="3524250"/>
          </a:xfrm>
          <a:prstGeom xmlns:a="http://schemas.openxmlformats.org/drawingml/2006/main" prst="roundRect">
            <a:avLst>
              <a:gd name="adj" fmla="val 28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0E55C1-6DA3-4F20-9A02-F8E7C223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1752600"/>
            <a:ext cx="3390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2FAD55-F6D7-4E48-AAA8-2F7F213C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28825"/>
            <a:ext cx="295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1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1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Billing service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D7C17E-5851-436B-9476-43BD0F4C0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714625"/>
            <a:ext cx="28194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6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Unique event capture</a:t>
            </a:r>
          </a:p>
          <a:p xmlns:a="http://schemas.openxmlformats.org/drawingml/2006/main">
            <a:pPr algn="ctr">
              <a:defRPr sz="16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Payer tariff + GST snapshot</a:t>
            </a:r>
          </a:p>
          <a:p xmlns:a="http://schemas.openxmlformats.org/drawingml/2006/main">
            <a:pPr algn="ctr">
              <a:defRPr sz="16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Running account and invoice</a:t>
            </a:r>
          </a:p>
          <a:p xmlns:a="http://schemas.openxmlformats.org/drawingml/2006/main">
            <a:pPr algn="ctr">
              <a:defRPr sz="16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Claim, receipt and AR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20522E-7AAA-4185-A729-15FDEC21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3076575"/>
            <a:ext cx="3714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4050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4050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9A23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10B8468-1B76-48BA-BE70-04E9D33E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895475"/>
            <a:ext cx="2867025" cy="14478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321BDDA-A91F-40CB-9C5C-377395E6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838325"/>
            <a:ext cx="2867025" cy="14478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E3F1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CEC675-724C-4B77-9887-B983025E2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838325"/>
            <a:ext cx="28670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EF9CDC-2D9C-4143-8B0A-CECEA6715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085975"/>
            <a:ext cx="2447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Next.js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0D148A0-7F86-4D72-BF8F-5AFFCBD6A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76525"/>
            <a:ext cx="23717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Role-based website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E90BABE-1D1E-460B-9B07-133A3758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771900"/>
            <a:ext cx="2867025" cy="14478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2C886B-D84C-4DE9-AB9F-DF954B855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714750"/>
            <a:ext cx="2867025" cy="14478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5D0878F-B525-4EB0-8375-3486CD15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714750"/>
            <a:ext cx="28670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9895EA9-D2EE-4194-BFDB-E5FED5C64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962400"/>
            <a:ext cx="2447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PostgreSQL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5E50543-9237-452C-A8D1-D4E1C92D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552950"/>
            <a:ext cx="2514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Linked records and audit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7C7D097-442B-48B4-9027-2749BCCD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600700"/>
            <a:ext cx="107537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External payer and government responses are simulated for the classroom.</a:t>
            </a:r>
          </a:p>
        </p:txBody>
      </p:sp>
    </p:spTree>
    <p:extLst>
      <p:ext uri="{BB962C8B-B14F-4D97-AF65-F5344CB8AC3E}">
        <p14:creationId xmlns:p14="http://schemas.microsoft.com/office/powerpoint/2010/main" val="16617480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E22F063-6639-4C31-A6E5-8E7EBB92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E00F09-C581-4A43-949A-57D01BC4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4C2F65-9C67-4D88-B562-CC23C6E9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Database schema and integrity rules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AC41A-211C-469B-A686-FE8EF54B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86EA21-2960-4930-A757-F521BB419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D47FB5-9F18-4F5D-8C84-1E3AB2FCA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3ECDED-683F-4B57-B914-B53D7DAE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DDF7AD-B175-4A2F-AA60-E35264BB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0972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8ABCA8-872C-4A2A-AB7A-EA3CBFC9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0972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ECD711-3B83-4E36-8C99-7D1BB58A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72402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patients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CAEC06-CB10-474C-ABCB-CC7776C5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175260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patient_id PK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048352-0250-4562-887C-B4F479B2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1457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D0186A-47D3-4D67-8E87-C9F1BF2AA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1457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B482E5-7127-4A14-9519-1478AC38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2887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encounters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ACF201-C44C-4986-B5B1-472CCBE1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45745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encounter_id PK; patient_id FK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079F2D-748E-413D-B12E-1A376D070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1942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4BC3B1-B4C8-4EED-8391-7EE6B65BF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1942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C311A7-CAEB-44AD-833E-87C696F82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3372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clinical_notes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69CA93-8A03-43E2-8A07-296688A96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16230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note_id PK; encounter_id FK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C88C46-960E-406A-8121-F30CFF3DD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72427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FC4355-499D-46E9-81CF-C28FFF25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72427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D6AC0B-3A83-45DF-9E4A-2B7D39407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3857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prescriptions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F5A320-64C6-4456-AC5E-03C88B839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86715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prescription_ref PK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295D2E-462B-4D67-909B-177FA98A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2912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5300FE-6BF3-41D1-91F9-C347A789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2912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C5D011-41AB-479A-BA56-F219BDFEF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54342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coding_reviews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120713-0611-4856-8934-961D13BE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57200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review_id PK; encounter_id FK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EB78D0-3675-4C3E-A90A-F9B72673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3397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B06786-6304-4885-8C65-A1DD65C0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3397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BA8162-DEA7-4F59-A4EE-B88E6A10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24827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charges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9B1A14-AB62-4A13-8D23-3A2261BE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527685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source_event_id unique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28B9766-3328-4B13-9F8A-257B3BDE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60972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E22CDE-5E12-4974-8141-0202C1E2D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60972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7580E1-974D-4EA4-9298-AA82B155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2402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pharmacy_items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24FAF9F-0676-464D-9866-E3D89947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75260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item_code PK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F10AC10-3DB6-4C0E-8857-7570DD29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1457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DD39C8C-64D5-4CC7-B762-EDA884A2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1457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88A9E19-C1BB-4361-843D-54CB40E5A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2887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stock_batches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4CA2333-AC72-4CCA-8896-259DA37E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45745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item + batch unique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3DDCCD-8319-4CD9-B3E1-7E492724A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1942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8120033-03F6-421E-861F-30FCAB0ED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1942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CA289C-328D-4C32-89C2-7BECA286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3372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dispenses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E3B2DAF-AECE-4989-875E-9BBD4B28B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6230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charge_id unique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C06A94F-6372-48C7-8B51-FC593995D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2427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071B3A6-4F4B-45D5-9D67-0C48CFEAB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2427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9EA650B-73D9-4726-9198-F7E8BE0A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83857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invoices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3C7B910-1C3A-450A-9FC8-8232EF0C9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86715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encounter_id unique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08D7AE9-CC8B-44AC-945D-487E9D838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2912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ECE09F9-E4DE-4CC9-B565-0E506F88F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2912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8B29C5B-4795-4D70-A306-CB97E68CE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54342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claims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F32AF8C-B1BD-4E6D-BEE4-B05F751F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57200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invoice_id unique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98574C5-3D52-4F4C-BB40-3899AFE92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13397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14EDE55-C61C-4A9E-B643-E7524491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13397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3E87159-233F-4DBD-B5F1-2FC108D98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4827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receipts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01136C9-A137-40A0-8DDC-E71AC7046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27685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invoice_id FK</a:t>
            </a:r>
          </a:p>
        </p:txBody>
      </p:sp>
    </p:spTree>
    <p:extLst>
      <p:ext uri="{BB962C8B-B14F-4D97-AF65-F5344CB8AC3E}">
        <p14:creationId xmlns:p14="http://schemas.microsoft.com/office/powerpoint/2010/main" val="167463264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4EDC45-A819-4FCC-9E20-5319F041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21CFD7-F90F-4A61-8FFA-AAAF61AFE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93CAAD-EF8F-447E-8D1A-55EE0A55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ER diagram: encounter to receipt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436CFA-F685-487A-814B-B19F8706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C5F6B6-E16E-4857-9989-FAB6E8D3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82878B-9C32-4156-B807-DC6C17AB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8ED7B4-A2B0-4512-8614-8A7937617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5E56BF-4513-47BB-8F4C-AD6EAF747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5811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Chen notation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7A325F-DC01-4196-99F2-35E2AAA3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609725"/>
            <a:ext cx="83534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Rectangle = entity    Diamond = relationship    Oval = attribute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D5006A-84F7-4D4B-B844-E0A88CB7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0972800" cy="278130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EB68CD-785E-49A1-8DB8-AFD86FA0C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38350"/>
            <a:ext cx="10972800" cy="278130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5BE8A1-4921-4B33-8B89-A7A808F2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38350"/>
            <a:ext cx="1097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C66453-AC70-4C0E-B77C-E395B8C28C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d4959235294951"/>
          <a:stretch xmlns:a="http://schemas.openxmlformats.org/drawingml/2006/main"/>
        </p:blipFill>
        <p:spPr>
          <a:xfrm xmlns:a="http://schemas.openxmlformats.org/drawingml/2006/main">
            <a:off x="695325" y="2462386"/>
            <a:ext cx="10820400" cy="1942754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6FBBDA-A1F7-42A1-B068-65E6FE51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073467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BA329C-840C-4BB0-8463-99590723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67325"/>
            <a:ext cx="10239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425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394E"/>
                </a:solidFill>
                <a:latin typeface="Arial"/>
                <a:ea typeface="Arial"/>
                <a:cs typeface="Arial"/>
              </a:rPr>
              <a:t>The source event ID is unique. One encounter has at most one final invoice. Receipts refer to that invoice.</a:t>
            </a:r>
          </a:p>
        </p:txBody>
      </p:sp>
    </p:spTree>
    <p:extLst>
      <p:ext uri="{BB962C8B-B14F-4D97-AF65-F5344CB8AC3E}">
        <p14:creationId xmlns:p14="http://schemas.microsoft.com/office/powerpoint/2010/main" val="128027637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310B49-CBB1-4A7D-B193-2CFA3DCA8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B17584-39AF-4F7B-BBE2-B4B8468CD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4D3334-1C26-4EA8-92A2-B3A2363C0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ER diagram: payer and claim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24E6E5-8178-4004-B10B-EB67C828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FE541B-4B9A-4910-9F02-34C8A8A7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CE5827-BA7B-41BB-A831-EDD8CF7F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DA623D-535A-4DF2-AEC8-49A3E7A8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9D8CE4-EAF0-415D-B8F0-BB3DA59DF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5811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Chen notation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5AA598-C849-4818-A7AB-DC2A3C1E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609725"/>
            <a:ext cx="83534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Cardinalities show optional preauth and claim records.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B1446E-B11B-4A57-96B9-FBBEDCB3D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10972800" cy="3257550"/>
          </a:xfrm>
          <a:prstGeom xmlns:a="http://schemas.openxmlformats.org/drawingml/2006/main" prst="roundRect">
            <a:avLst>
              <a:gd name="adj" fmla="val 2924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01D344-D781-4A36-8205-377ABA55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19300"/>
            <a:ext cx="10972800" cy="3257550"/>
          </a:xfrm>
          <a:prstGeom xmlns:a="http://schemas.openxmlformats.org/drawingml/2006/main" prst="roundRect">
            <a:avLst>
              <a:gd name="adj" fmla="val 29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AAD40B-54F3-4DA7-9BD5-EBFB54F9C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19300"/>
            <a:ext cx="1097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0DBC4B-1225-4E77-93E3-FBE0426B4D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5fb73779a64ee2"/>
          <a:stretch xmlns:a="http://schemas.openxmlformats.org/drawingml/2006/main"/>
        </p:blipFill>
        <p:spPr>
          <a:xfrm xmlns:a="http://schemas.openxmlformats.org/drawingml/2006/main">
            <a:off x="695325" y="2253407"/>
            <a:ext cx="10820400" cy="2808386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938369-11CB-47F2-B83B-C9B3A68DB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457825"/>
            <a:ext cx="10553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425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394E"/>
                </a:solidFill>
                <a:latin typeface="Arial"/>
                <a:ea typeface="Arial"/>
                <a:cs typeface="Arial"/>
              </a:rPr>
              <a:t>The claim decision and the receipt are different records, so approval alone leaves the invoice outstanding.</a:t>
            </a:r>
          </a:p>
        </p:txBody>
      </p:sp>
    </p:spTree>
    <p:extLst>
      <p:ext uri="{BB962C8B-B14F-4D97-AF65-F5344CB8AC3E}">
        <p14:creationId xmlns:p14="http://schemas.microsoft.com/office/powerpoint/2010/main" val="109106556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118BFF-C999-4FA1-ABC1-C59D6D4E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E254F4-C6FF-4DC0-B4BD-09644E13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5C5D08-CDF3-4544-8866-1FFC394C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ER diagram: care, coding and pharmacy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0D4943-F3EB-4082-A823-9E77877E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69EA53-AEFD-4013-9D4B-AE21332C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E14111-D963-4890-85A2-820719BEC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49401E-7C31-41AD-8C1F-527DC9FB5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35208F-BE51-4F40-9D08-7549EF555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5716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Chen notation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A3032F-0A7B-420A-92E8-863AE3A5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600200"/>
            <a:ext cx="83534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Rectangle = entity    Diamond = relationship    Oval = attribute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C483A0-A81B-4A9C-86B3-513AA3E77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85975"/>
            <a:ext cx="10972800" cy="32385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917827-B3F6-40B1-82EC-5C09B9A94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28825"/>
            <a:ext cx="10972800" cy="32385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020056-DD07-457A-BBB8-A27CE75E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28825"/>
            <a:ext cx="1097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C73FE6-808F-4F2B-A611-FA03B575A4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ecdbb12eaf41b6"/>
          <a:stretch xmlns:a="http://schemas.openxmlformats.org/drawingml/2006/main"/>
        </p:blipFill>
        <p:spPr>
          <a:xfrm xmlns:a="http://schemas.openxmlformats.org/drawingml/2006/main">
            <a:off x="772365" y="2133600"/>
            <a:ext cx="10656794" cy="3019425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C66F95-68CE-4290-B4A0-8E92A674E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457825"/>
            <a:ext cx="10553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425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394E"/>
                </a:solidFill>
                <a:latin typeface="Arial"/>
                <a:ea typeface="Arial"/>
                <a:cs typeface="Arial"/>
              </a:rPr>
              <a:t>The coder review and prescription are linked to the same encounter that owns the bill.</a:t>
            </a:r>
          </a:p>
        </p:txBody>
      </p:sp>
    </p:spTree>
    <p:extLst>
      <p:ext uri="{BB962C8B-B14F-4D97-AF65-F5344CB8AC3E}">
        <p14:creationId xmlns:p14="http://schemas.microsoft.com/office/powerpoint/2010/main" val="202048791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A3EF626-471F-4DC6-8B69-83779D5D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263728-64AF-4E0F-8071-89CBC1D7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PROTOTYPE ASSUMPTIONS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7E7C31-A95A-4516-AA2B-9B3CFCA28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Assumptions behind the live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24357C-7DA9-4907-B196-4ED79E3F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C457F7-B31B-4EFC-A83D-BAC36950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89172F-0496-4F6B-A602-FCCC374F8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C69800-F7EA-4755-BD2A-2CC52A95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DF9B67-89F3-47F1-8942-B3F806F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DA1670-E357-478B-B112-D6E32494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57350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F23144-3369-4C14-BC37-FD28370E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57350"/>
            <a:ext cx="51530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536CCB-94F4-491E-A3B0-A56740C0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90500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193D14-F28E-4C59-B5A6-E5D0D0A6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96215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2EB07A-5F86-4430-9D03-BA0ABCB6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885950"/>
            <a:ext cx="433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Invented patients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FAD2E8-CEBB-4887-8732-5D679D10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257425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Names, contacts, history, prices and references are synthetic.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0FC8B3-A063-4FF4-9BEC-6A212978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714500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17E4E3-DA3C-40A3-82B5-B7254FA64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57350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E3F1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DD6405-BBA2-49C8-B312-DAF72FC8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57350"/>
            <a:ext cx="51530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696DE6-8FD1-4611-8B60-89FD7489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0500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90520A-70A3-4812-941F-56E847E9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DCA2D3-FCE9-4BAC-93DC-15A50B81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885950"/>
            <a:ext cx="433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Local HIS workflow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51E98F-2745-4167-90FA-ED15A537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57425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Doctor, coder, pharmacy and admin write to one local encounter record.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9F688F-4C9B-47C3-9A32-664B2DFC4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95625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650D20-285C-46E3-BFDD-D9BDD9E6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038475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B35088-8C2F-4923-8233-74461871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038475"/>
            <a:ext cx="51530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B69668-6E98-40E5-8630-501716252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2861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BDD54A-A063-4556-9148-FBFCC986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3432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A51FCB-39A9-47AC-A340-BC58815D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67075"/>
            <a:ext cx="433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Payer responses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B8D8C1-9D17-4C9D-9355-98C1DEEC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38550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TPA and PM-JAY decisions are recorded locally, without portal exchange.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71F0E5-1938-4D0C-A20F-861F26B4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095625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291063-9332-42CA-B59D-C6611AF72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38475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E3F1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FA2D27-89F5-4FE8-B047-0D54CD877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38475"/>
            <a:ext cx="51530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61A3D2-C6AD-45C8-AD7B-01A58F68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861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EABE90-F0A3-4122-A520-DB2D8B5A6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432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8C7907-A438-4827-86B8-9B3733762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267075"/>
            <a:ext cx="433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Training tax master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AF71D70-81E4-4C1A-9749-243E5E13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638550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Medicine, device and room examples are configured for class review.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04ED22C-F3EF-4FB6-95FD-700D4562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6E193DD-1F57-449B-9323-F30A990C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19600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6522513-8E12-4BBB-9A1E-E4A2E008E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19600"/>
            <a:ext cx="51530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70A2358-9337-4671-9342-FCD893A1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66725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DCD695D-3E08-444E-84C3-0682E416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72440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61AA021-DCEE-402E-A69B-843EB3E27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48200"/>
            <a:ext cx="433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Demo sign-in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FCA653A-A5BE-4900-83FE-AAB48207D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19675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Local role tokens protect actions; production identity controls are outside scope.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88770FE-FB60-4341-BBAF-45C5378F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476750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ACB9143-322C-41FC-85AD-9515BA9C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19600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E3F1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0B6A70-B9EB-4CC4-AE6F-3608CC32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19600"/>
            <a:ext cx="51530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E16434F-A76D-4726-90AC-804BE084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A78A441-FEC5-4417-9F67-54EFF957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72440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A260647-031E-49F4-9B96-3555FAED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48200"/>
            <a:ext cx="433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CPT-style field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B14CA72-1CC7-47C7-A251-F8C0C9F5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019675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CPT-DEMO-01 is invented; a real CPT catalog requires an AMA license.</a:t>
            </a:r>
          </a:p>
        </p:txBody>
      </p:sp>
    </p:spTree>
    <p:extLst>
      <p:ext uri="{BB962C8B-B14F-4D97-AF65-F5344CB8AC3E}">
        <p14:creationId xmlns:p14="http://schemas.microsoft.com/office/powerpoint/2010/main" val="84997890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FAF7DB8-D0FF-4D0D-8C2E-CCABBB38B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A5DEFB-B7D1-45C1-AAD8-481B21A3D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TECHNICAL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6E0527-45C0-4AF0-8AE3-AF72FC25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Frontend, backend and database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C48130-7559-49A0-A171-A089BE82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F5A869-51CF-4E3A-BC0B-E0C265E2A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CD984E-CCA6-403F-9581-33CBF8B0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E8BD49-8797-45BD-B6D1-59E754F1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A49DC8-D7A0-4113-8F4E-E90116AF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3381375" cy="278130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EA97B8-90AD-426D-A917-AF6AC11D9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733550"/>
            <a:ext cx="3381375" cy="278130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D345F6-B228-4085-8615-D02313A94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733550"/>
            <a:ext cx="33813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B3C009-1A15-41A3-9943-946785767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526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0ED8E0-8F2C-4AF3-B239-9BD59CF6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97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910DC0-0ABF-4722-992F-38657C54E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47925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Next.js + React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A512CF-7708-42A6-8A9D-402FC561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14675"/>
            <a:ext cx="2905125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Admin, doctor, coder and pharmacy workspaces share one patient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A493E4-5E02-42D1-A031-A40EEE08B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81375" cy="278130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A68845-89D4-4264-BE85-722B5FB9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733550"/>
            <a:ext cx="3381375" cy="278130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ECFD9C-2504-42D7-8248-408F84CC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733550"/>
            <a:ext cx="33813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52D4AB-13DE-4BB5-AD80-D5C067C3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526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CF40FB-E7DA-4146-9071-879175BDD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097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99B53B-16CB-4EDB-81E1-82E5BBA95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47925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FastAPI + Python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FB9A56-B9F5-41E6-BB44-9470A6B0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14675"/>
            <a:ext cx="2905125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Role checks, care events, medicine dispense, payer state and invoice rules.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92B966-1403-4602-A2F1-83A2430AF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90700"/>
            <a:ext cx="3381375" cy="278130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380F47-B1A1-4119-B53F-56648D9F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1733550"/>
            <a:ext cx="3381375" cy="278130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8C9CCE-0A97-47F7-AF43-BCFC97048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1733550"/>
            <a:ext cx="33813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E73ECA-7191-46ED-968D-A5AD7395F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526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47939A-2D2E-49AB-B873-23563DE4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097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CD2084-A8C8-432E-B796-8A70411CB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47925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PostgreSQL 16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4F8D3A-6144-45F3-83F7-89D284D1D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14675"/>
            <a:ext cx="2905125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Foreign keys, unique event IDs, signed-in sessions and transaction-backed stock changes.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D97A3D-0C65-4206-8A01-FEDFC7AF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933950"/>
            <a:ext cx="10744200" cy="790575"/>
          </a:xfrm>
          <a:prstGeom xmlns:a="http://schemas.openxmlformats.org/drawingml/2006/main" prst="roundRect">
            <a:avLst>
              <a:gd name="adj" fmla="val 9639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E6B74B-1C59-4FF0-8849-62B83DF4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33975"/>
            <a:ext cx="10344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500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94E"/>
                </a:solidFill>
                <a:latin typeface="Arial"/>
                <a:ea typeface="Arial"/>
                <a:cs typeface="Arial"/>
              </a:rPr>
              <a:t>Next.js calls the local API. FastAPI validates each role and state change. PostgreSQL stores the result.</a:t>
            </a:r>
          </a:p>
        </p:txBody>
      </p:sp>
    </p:spTree>
    <p:extLst>
      <p:ext uri="{BB962C8B-B14F-4D97-AF65-F5344CB8AC3E}">
        <p14:creationId xmlns:p14="http://schemas.microsoft.com/office/powerpoint/2010/main" val="209925182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11EE84-5D13-4D02-90EF-4432315B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4F5239-B137-40BA-A25B-BE14A3A2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TECHNICAL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1E3E85-4799-4747-A10C-F4D272C5D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Backend logic and integration steps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4A86E-178F-467B-B450-BEAC697F1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297DCC-C5AB-4B9F-B835-783B927CD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6A65E7-C80F-4D52-94BC-BC19FFB8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D4F73A-D950-4A46-8B05-369F3EF7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B3FA49-0F63-4A1C-931B-E39DB6ED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10734675" cy="619125"/>
          </a:xfrm>
          <a:prstGeom xmlns:a="http://schemas.openxmlformats.org/drawingml/2006/main" prst="roundRect">
            <a:avLst>
              <a:gd name="adj" fmla="val 1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F16411-1D66-4A15-A29A-B528F0FE5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240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0EEE47-30A3-4A37-936A-8F6A7DA8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811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C66362-E283-401C-A1D7-41B96614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1724025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Doctor note + prescription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DABFD4-E854-49AA-9999-180111E51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724025"/>
            <a:ext cx="5676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Save clinical context and order an item for this encounter.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C2ABC5-2552-4003-8000-E2C4A434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86000"/>
            <a:ext cx="10734675" cy="619125"/>
          </a:xfrm>
          <a:prstGeom xmlns:a="http://schemas.openxmlformats.org/drawingml/2006/main" prst="roundRect">
            <a:avLst>
              <a:gd name="adj" fmla="val 10769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A38CA1-70C6-43EF-8829-9E4FD1E88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479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179AD3-28FB-43C2-999B-8296943F9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050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CD9260-01E8-45E7-8572-42EFC69A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447925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Coding review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57B03A-F36B-4E1B-8B30-C40643CF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447925"/>
            <a:ext cx="5676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Record reviewed ICD-10 and optional training procedure code.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A61791-D773-4AB8-AD17-1F595481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10734675" cy="619125"/>
          </a:xfrm>
          <a:prstGeom xmlns:a="http://schemas.openxmlformats.org/drawingml/2006/main" prst="roundRect">
            <a:avLst>
              <a:gd name="adj" fmla="val 1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F5CD9E-2423-4694-B501-9F038D7A4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718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11F4C0-98FE-489A-9AAE-B5B52D5D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289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526606-AAA2-45DB-9606-E90CCEC5F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3171825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HIS event or dispense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2F738E-4B6E-482B-ABE2-736A7BCAC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171825"/>
            <a:ext cx="5676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A unique source event captures one billable service or stock issue.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628E36-8123-4D03-9DE9-BC30BD37B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0734675" cy="619125"/>
          </a:xfrm>
          <a:prstGeom xmlns:a="http://schemas.openxmlformats.org/drawingml/2006/main" prst="roundRect">
            <a:avLst>
              <a:gd name="adj" fmla="val 10769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0768F4-02F2-4787-A9E5-38010A09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957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97BA66-68D5-4FA1-B232-7553FA67C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528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90B1D5-4888-4FD7-B569-C179C591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3895725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Tariff + GST snapshot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25155F-51C1-496F-9748-D561C376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895725"/>
            <a:ext cx="5676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Apply payer price and effective tax rule when the charge is saved.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FA9EA6-E829-436E-8513-A674AC432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57700"/>
            <a:ext cx="10734675" cy="619125"/>
          </a:xfrm>
          <a:prstGeom xmlns:a="http://schemas.openxmlformats.org/drawingml/2006/main" prst="roundRect">
            <a:avLst>
              <a:gd name="adj" fmla="val 1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AA2903-0F14-4B54-84CA-99319770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196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8C3684-6F88-4B38-B98D-AD432D859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767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BF188BA-6938-404A-B95F-4520B0AA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4619625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Invoice + claim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EE4A535-8D5B-43A3-9B1F-27C31E4E2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619625"/>
            <a:ext cx="5676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Freeze bill lines; payer claims use the coder-reviewed diagnosis.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3071B3-8CBA-409B-8AA1-8564A18B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81600"/>
            <a:ext cx="10734675" cy="619125"/>
          </a:xfrm>
          <a:prstGeom xmlns:a="http://schemas.openxmlformats.org/drawingml/2006/main" prst="roundRect">
            <a:avLst>
              <a:gd name="adj" fmla="val 10769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552D2D-D90D-4C16-9C06-086063BA1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435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33E111A-AC6B-431D-ACEC-EB55CD3C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006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7B09E8-9ECF-4D78-B7EA-BB8BABAE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5343525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Receipt + reports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362C11A-66DA-4595-94B1-390F71E5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343525"/>
            <a:ext cx="5676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Actual money reduces the balance and updates receivables.</a:t>
            </a:r>
          </a:p>
        </p:txBody>
      </p:sp>
    </p:spTree>
    <p:extLst>
      <p:ext uri="{BB962C8B-B14F-4D97-AF65-F5344CB8AC3E}">
        <p14:creationId xmlns:p14="http://schemas.microsoft.com/office/powerpoint/2010/main" val="127576342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46573B-FE47-4C26-92E1-D0A7CFC1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041ADB-6DE2-4801-B32E-38F22D4C2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TECHNICAL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30622D-79AB-4674-B01E-E902D1D4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Rules enforced by the prototype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B30A16-E6F0-4240-B2F1-44387418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7A7EC5-A039-4771-8040-F369A649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AE5233-3015-4701-8D37-5F3FC03C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7F913D-E461-4F22-9F98-75444F61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60D880-0A4D-40FE-AAE5-8FD2885C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106584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CBB034-D7A9-41B5-8C34-106851A2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22383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32B903-C232-4562-A1A4-8E51C739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90700"/>
            <a:ext cx="1857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event, one charge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AFC4C6-0281-44AE-BAD5-4D3DEB41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1762125"/>
            <a:ext cx="8001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Repeating the same HIS event ID returns its saved charge; a changed retry is rejected.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0B8EBE-6C21-4F77-9B1C-B82948A0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66975"/>
            <a:ext cx="106584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FD68FE-EA32-42CB-BDED-791E67A26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66975"/>
            <a:ext cx="22383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A3F6BF-6FE5-4D88-99E0-3CED143D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57475"/>
            <a:ext cx="1857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Prescription to dispense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A2ABDB-3AF1-4068-949C-BF07F4103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628900"/>
            <a:ext cx="8001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Pharmacy checks the patient, item, remaining quantity, batch and expiry before stock moves.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86B292-CA54-41FA-B420-3964A4F6F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06584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A18C80-76A6-4207-A983-E07BFE51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2383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08ABB2-F118-4C17-99F7-77969E7AF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24250"/>
            <a:ext cx="1857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Payer controls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315E6F-C82E-4004-B179-59A55BFD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495675"/>
            <a:ext cx="8001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Seeded private and PM-JAY inpatient cases need simulated preauthorisation.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FE6C78-67AC-4649-B9C4-9C4DD2AC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00525"/>
            <a:ext cx="106584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1A1A15-71FE-4089-A897-61083F695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00525"/>
            <a:ext cx="22383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379EE0-8614-4BBF-8644-D06796486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91025"/>
            <a:ext cx="1857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Tax snapshots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A361EB-E171-4F34-B3B9-452F9BCA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4362450"/>
            <a:ext cx="8001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5% medicine, nil category, 5% device and specified 5% room examples stay on bill lines.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3AC344-C62D-46E2-B926-D365E451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67300"/>
            <a:ext cx="106584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409705-77D7-4C83-92BC-5CBE6C1C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67300"/>
            <a:ext cx="22383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E79082-AE22-44B5-9C2F-1A77CFF9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57800"/>
            <a:ext cx="1857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Cash and claims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533AF0-AD50-41AD-A432-58054C00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5229225"/>
            <a:ext cx="8001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A coder review is required for payer claim; approval and money received are separate.</a:t>
            </a:r>
          </a:p>
        </p:txBody>
      </p:sp>
    </p:spTree>
    <p:extLst>
      <p:ext uri="{BB962C8B-B14F-4D97-AF65-F5344CB8AC3E}">
        <p14:creationId xmlns:p14="http://schemas.microsoft.com/office/powerpoint/2010/main" val="55622803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CBF7441-BDC0-45CE-8CD3-82F883F9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94BA8B-BA64-44A0-9789-7BE2234E0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DATA FLOW &amp; INTEGRATION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6FA300-F8D6-4818-9FEF-30E35025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How care activity reaches the bill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31C20C-729C-4FFE-81A5-620C2E4C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9CC45E-B397-4C1E-9F47-C7DE76072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C1C38E-A533-44CF-A564-B70B0421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E3CC74-F26C-4B2E-9406-E151FD7EA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9C5394-97CF-4639-BD2A-9E812EF8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0225"/>
            <a:ext cx="2057400" cy="1428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6AFFB5-10D5-4501-854C-5EC77A2A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6287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C6A854-52C1-40DD-963E-2379270D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6859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4C4242-B005-4F21-9BD7-285A3123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152650"/>
            <a:ext cx="1800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Doctor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407164-1E9B-49A0-A656-B0367431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67000"/>
            <a:ext cx="1800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Note + order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CB6C63-59FC-41BA-A8C8-2DD6EBB3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2219325"/>
            <a:ext cx="266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3000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9A23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47FFD1-6738-4DDC-81B6-757CB77F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800225"/>
            <a:ext cx="2057400" cy="1428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7FB67F-23C1-4121-8D26-7A6FEB6D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6287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D52AA8-5D8B-4BE1-AEF5-98AD91B6B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6859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8AED9C-1566-482D-A948-3061F768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152650"/>
            <a:ext cx="1800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Coder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06C94A-DED7-4483-9798-7FD049A98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667000"/>
            <a:ext cx="1800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ICD-10 review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57D274-9C10-4504-9A2F-2AECC2D3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2219325"/>
            <a:ext cx="266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3000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9A23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1D99B8-1AF2-4A75-8525-67AAC6838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800225"/>
            <a:ext cx="2057400" cy="1428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22549A-2D3A-47A4-A67A-9C666846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6287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6269AC-43A2-4FA8-B060-EFA1C1F1F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6859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F8359E-4055-48FE-8D91-3EAF0485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152650"/>
            <a:ext cx="1800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8B1B24-0AE6-47D7-8479-8AFD4466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667000"/>
            <a:ext cx="1800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Batch dispense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B98B75-F597-4BE2-8A31-2F37151B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219325"/>
            <a:ext cx="266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3000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9A23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00154E-823D-43CC-83B4-495F4A385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800225"/>
            <a:ext cx="2057400" cy="1428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1AD483-EE9E-42B2-BF2F-2E0E3F8E3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6287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B72F26-2895-447A-809F-7A375C5C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6859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7712BB-B3DD-42BF-A247-323D9D059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152650"/>
            <a:ext cx="1800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917940-5A1E-41A3-805E-BE1CFFEA7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667000"/>
            <a:ext cx="1800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Charge + GST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E2B6F9-3150-43ED-8310-13370E8E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219325"/>
            <a:ext cx="266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3000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9A23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AB4189C-AF52-4036-BFDC-30669E0E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800225"/>
            <a:ext cx="2057400" cy="1428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D43575-17F3-486F-9517-A9F0FDB75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8975" y="16287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8B4171E-427C-44AF-968D-8E93F98E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8975" y="16859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0819FA8-2A9F-43CC-B835-17B530C4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2152650"/>
            <a:ext cx="1800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Finance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D50FA3B-E662-460B-88B3-8DE2BD6B3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2667000"/>
            <a:ext cx="1800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Invoice + receipt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C31680-E706-4F3F-94B6-D2AA2F450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933825"/>
            <a:ext cx="10668000" cy="1638300"/>
          </a:xfrm>
          <a:prstGeom xmlns:a="http://schemas.openxmlformats.org/drawingml/2006/main" prst="roundRect">
            <a:avLst>
              <a:gd name="adj" fmla="val 5814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C36E665-4ECA-48A4-B1C2-AE228783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76675"/>
            <a:ext cx="10668000" cy="1638300"/>
          </a:xfrm>
          <a:prstGeom xmlns:a="http://schemas.openxmlformats.org/drawingml/2006/main" prst="roundRect">
            <a:avLst>
              <a:gd name="adj" fmla="val 58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A1108FC-2F4E-40F8-BE5C-BE0AA776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76675"/>
            <a:ext cx="10668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024F845-C8EE-47F4-BB68-550FCC78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086225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Shared encounter example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489E80A-048C-4086-9E38-320A7BBE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514850"/>
            <a:ext cx="10267950" cy="561975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CA81390-B059-4059-9448-1DF8A463F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4638675"/>
            <a:ext cx="9867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95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9557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95574"/>
                </a:solidFill>
                <a:latin typeface="Arial"/>
                <a:ea typeface="Arial"/>
                <a:cs typeface="Arial"/>
              </a:rPr>
              <a:t>Ananya Rao  |  E-OPD-01  |  doctor note  →  prescription  →  MED-A dispense  →  running bill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3D4E1F6-CD90-4A10-9939-4B7B7717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5181600"/>
            <a:ext cx="9944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Prescription and charge keep their references, so pharmacy stock and the bill reconcile.</a:t>
            </a:r>
          </a:p>
        </p:txBody>
      </p:sp>
    </p:spTree>
    <p:extLst>
      <p:ext uri="{BB962C8B-B14F-4D97-AF65-F5344CB8AC3E}">
        <p14:creationId xmlns:p14="http://schemas.microsoft.com/office/powerpoint/2010/main" val="21420179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8D20469-6F6B-4DEE-BCC6-65980ED9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FC798C-ADED-4E1C-BA0E-A8E65B65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DATA FLOW &amp; INTEGRATION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6B2D84-95F5-4319-A00C-1DE7DDBD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Two billing examples from the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6186AA-276B-417B-8FB9-40F428A34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DA0C99-E70C-4FA3-912A-1BACE521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24BAAF-5527-4035-B92C-05E3576D4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01A8A0-8A4C-42C9-ABED-B8F711D1B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674911-151F-4065-9E2F-9745D6AFA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85925"/>
            <a:ext cx="5200650" cy="3609975"/>
          </a:xfrm>
          <a:prstGeom xmlns:a="http://schemas.openxmlformats.org/drawingml/2006/main" prst="roundRect">
            <a:avLst>
              <a:gd name="adj" fmla="val 2639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2ED1FA-B82D-4C47-933D-7F3170F95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5200650" cy="3609975"/>
          </a:xfrm>
          <a:prstGeom xmlns:a="http://schemas.openxmlformats.org/drawingml/2006/main" prst="roundRect">
            <a:avLst>
              <a:gd name="adj" fmla="val 2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EDFFBE-56C5-4297-B1DC-7D0DCC1D7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520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CE8EB6-9677-410A-9911-E449986B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809750"/>
            <a:ext cx="1581150" cy="2667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3A89E9-7740-48FD-891B-6CE8E7E86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1857375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OPD SELF PAY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9E4E66-F75D-4315-B079-BF3AB7E7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2669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Ananya Rao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816613-4634-4BCF-9DDF-2A59F028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276600"/>
            <a:ext cx="4743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EE9FD3-DCB0-4D8D-A45C-1887A765F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838450"/>
            <a:ext cx="34004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Consultation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E924C-CC51-482B-8305-B43873FCB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38450"/>
            <a:ext cx="10858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₹500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A8BC62-11F3-4174-A2C9-A3E177BC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867150"/>
            <a:ext cx="4743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9D5BDF-C581-418D-A581-4CB146D8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429000"/>
            <a:ext cx="34004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Complete blood count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53E61C-068D-48E5-9014-4FFE655E2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429000"/>
            <a:ext cx="10858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₹350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A89722-95E1-4F71-BB4A-FBE92724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457700"/>
            <a:ext cx="4743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F7716C-9BB0-44D1-9864-691DA345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19550"/>
            <a:ext cx="34004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MED-A, 1 unit + 5% GST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D55CC5-863B-4539-BA67-C61FDA06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19550"/>
            <a:ext cx="10858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₹105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F9EF42-7A3E-444C-8375-B585DF657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676775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Illustrative total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B3A34A-2D7B-4E26-8A1E-83936E7C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676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210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210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₹955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A3CCCA-9464-44B3-996E-D4E789DC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85925"/>
            <a:ext cx="5200650" cy="3609975"/>
          </a:xfrm>
          <a:prstGeom xmlns:a="http://schemas.openxmlformats.org/drawingml/2006/main" prst="roundRect">
            <a:avLst>
              <a:gd name="adj" fmla="val 2639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895FF9-1EED-45AD-B396-DD91A49B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628775"/>
            <a:ext cx="5200650" cy="3609975"/>
          </a:xfrm>
          <a:prstGeom xmlns:a="http://schemas.openxmlformats.org/drawingml/2006/main" prst="roundRect">
            <a:avLst>
              <a:gd name="adj" fmla="val 2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24E85D-A183-4B9D-87A6-100396DF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628775"/>
            <a:ext cx="520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94158E-9036-41A9-BE92-D267917B7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09750"/>
            <a:ext cx="1581150" cy="2667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3F1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249282-8EBC-44A8-BB80-765CB26B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57375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7FA8"/>
                </a:solidFill>
                <a:latin typeface="Arial"/>
                <a:ea typeface="Arial"/>
                <a:cs typeface="Arial"/>
              </a:rPr>
              <a:t>IPD SELF PAY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A234C9-2D30-45AE-8DD7-5EABD65D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2669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Rohan Iyer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5FD5A4-E6D1-42D2-B988-99F2C93C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467100"/>
            <a:ext cx="4743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7CC393-22EA-4919-A86E-77BC1EE8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009900"/>
            <a:ext cx="32480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Private non-ICU room, 1 day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55ADC4-0686-4BB3-907E-DEA0B2746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009900"/>
            <a:ext cx="1238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₹6,000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DDD1DC-CC0D-4BF4-8552-C688F328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229100"/>
            <a:ext cx="4743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715D525-B503-40C4-8FA6-8DB24C97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771900"/>
            <a:ext cx="32480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GST at 5%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0DB1A5-85A2-4292-B294-BCF35577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771900"/>
            <a:ext cx="1238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₹300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6617FA8-A937-46B5-912A-00B8662A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676775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Illustrative total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71A1ABE-B1EA-4908-9CFB-EA4EBF8D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67677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210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210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₹6,300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7B058F6-8FE5-428B-8FE9-BDF23654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438775"/>
            <a:ext cx="107251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EBB7E3A-430F-488C-A16C-9C9D8D207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534025"/>
            <a:ext cx="104108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394E"/>
                </a:solidFill>
                <a:latin typeface="Arial"/>
                <a:ea typeface="Arial"/>
                <a:cs typeface="Arial"/>
              </a:rPr>
              <a:t>These are invented demonstration tariffs. The room entry applies only under the notified conditions.</a:t>
            </a:r>
          </a:p>
        </p:txBody>
      </p:sp>
    </p:spTree>
    <p:extLst>
      <p:ext uri="{BB962C8B-B14F-4D97-AF65-F5344CB8AC3E}">
        <p14:creationId xmlns:p14="http://schemas.microsoft.com/office/powerpoint/2010/main" val="20694688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7A1CA1-0658-4F21-A3BE-FC322C76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7D00BB-E106-4F12-9E9E-43E379FE3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DATA FLOW &amp; INTEGRATION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A1E4D7-15C2-4453-8527-F8AD9D3D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Private insurance and PM-JAY 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1125DE-015E-4D81-BBF7-05DEEBD9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191D90-2146-4A1C-88AC-667093A5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70A2AD-ED43-45CE-BC21-A4C97601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0DAB27-6BBB-45D6-9706-E5A5BB6B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0B6FB4-1DC0-4987-B0AC-82B892A24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04975"/>
            <a:ext cx="10734675" cy="1057275"/>
          </a:xfrm>
          <a:prstGeom xmlns:a="http://schemas.openxmlformats.org/drawingml/2006/main" prst="roundRect">
            <a:avLst>
              <a:gd name="adj" fmla="val 9009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304856-ACFB-4522-A548-EB2F33BAE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47825"/>
            <a:ext cx="10734675" cy="1057275"/>
          </a:xfrm>
          <a:prstGeom xmlns:a="http://schemas.openxmlformats.org/drawingml/2006/main" prst="roundRect">
            <a:avLst>
              <a:gd name="adj" fmla="val 90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AC266F-DB86-43DE-B787-C2775C59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47825"/>
            <a:ext cx="107346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FBF51D-9F10-46C6-ABA6-7DA45141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097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C53F90-7C5A-48BB-A85D-009F30396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669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E867FB-7149-44D2-B860-6F4A2C113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943100"/>
            <a:ext cx="2857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Private TPA case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19E561-90C5-457A-A1AA-B1092FBD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885950"/>
            <a:ext cx="666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Coverage → preauth decision → invoice → coder-reviewed claim → insurer receipt.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6F9E43-3C2D-412D-BDF1-314A93E5F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19425"/>
            <a:ext cx="10734675" cy="1057275"/>
          </a:xfrm>
          <a:prstGeom xmlns:a="http://schemas.openxmlformats.org/drawingml/2006/main" prst="roundRect">
            <a:avLst>
              <a:gd name="adj" fmla="val 9009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4A87B5-F56D-4985-BBEC-30E552F1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962275"/>
            <a:ext cx="10734675" cy="1057275"/>
          </a:xfrm>
          <a:prstGeom xmlns:a="http://schemas.openxmlformats.org/drawingml/2006/main" prst="roundRect">
            <a:avLst>
              <a:gd name="adj" fmla="val 90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CCB41C-7F16-441D-BDF4-42FDD7B70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962275"/>
            <a:ext cx="107346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23172A-1D8E-4616-B749-DC8A5EA61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242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6C9C99-24CC-458D-A83E-41F1344D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813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9B6A61-33E4-4248-AB8B-44031466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257550"/>
            <a:ext cx="2857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PM-JAY case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E12590-9C12-402C-A313-F676D78F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200400"/>
            <a:ext cx="666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Simulated eligibility → invented package → preauth → invoice → scheme claim.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0316A1-95A5-4C9A-B549-FCD9CF6E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33875"/>
            <a:ext cx="10734675" cy="1057275"/>
          </a:xfrm>
          <a:prstGeom xmlns:a="http://schemas.openxmlformats.org/drawingml/2006/main" prst="roundRect">
            <a:avLst>
              <a:gd name="adj" fmla="val 9009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255257-2BB3-4847-9873-F2E5C1F5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276725"/>
            <a:ext cx="10734675" cy="1057275"/>
          </a:xfrm>
          <a:prstGeom xmlns:a="http://schemas.openxmlformats.org/drawingml/2006/main" prst="roundRect">
            <a:avLst>
              <a:gd name="adj" fmla="val 9009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C95B1B-F0BA-47E5-896C-F3AF1695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276725"/>
            <a:ext cx="107346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C0D0CE-5587-4ED9-BC7F-0A06CE6D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386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2986B1-240C-431F-AC31-6FEC6BE0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958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CD693D-09CA-4607-BB17-F4E7A987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572000"/>
            <a:ext cx="2857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Shared accounting rule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66FA3D-E032-4BEA-AACD-546F0A20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514850"/>
            <a:ext cx="666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Approval does not mean payment. Only a posted receipt reduces the balance.</a:t>
            </a:r>
          </a:p>
        </p:txBody>
      </p:sp>
    </p:spTree>
    <p:extLst>
      <p:ext uri="{BB962C8B-B14F-4D97-AF65-F5344CB8AC3E}">
        <p14:creationId xmlns:p14="http://schemas.microsoft.com/office/powerpoint/2010/main" val="124605378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2537B0-81B6-4395-BB6F-D034DB6A7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9A9713-F28D-4DBA-86AA-05C83B6B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RESULTS &amp; PROTOTYPE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443F3D-924B-4D57-8695-27227FE1F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Implemented HIS and billing modules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035815-EA0A-4486-B297-076C2C23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14F5BA-0AD1-4272-8785-AB9034C3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C4C80D-57A8-40B7-9DA4-7C3F5B5AA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26C1D4-D420-43AF-A392-609BB68C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475373-BD25-4E72-91E5-DBC5E1C5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28775"/>
            <a:ext cx="10734675" cy="866775"/>
          </a:xfrm>
          <a:prstGeom xmlns:a="http://schemas.openxmlformats.org/drawingml/2006/main" prst="roundRect">
            <a:avLst>
              <a:gd name="adj" fmla="val 12088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644F4D-3CBD-4D4A-8D8C-41B98CF3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28775"/>
            <a:ext cx="1047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D9C773-DB96-4DC7-93F8-A962BD9D6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15D082-670D-42B3-B05E-18E8C37F0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8120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333CD3-C411-44A2-9A83-C4B4D70FE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847850"/>
            <a:ext cx="25431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Clinical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77D05B-FD6F-4EFC-91C8-94C15CC5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38325"/>
            <a:ext cx="67532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Patient history, note, provisional ICD-10 and prescription.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7AC33F-16A8-40A2-A960-D470BEEF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10734675" cy="866775"/>
          </a:xfrm>
          <a:prstGeom xmlns:a="http://schemas.openxmlformats.org/drawingml/2006/main" prst="roundRect">
            <a:avLst>
              <a:gd name="adj" fmla="val 12088"/>
            </a:avLst>
          </a:prstGeom>
          <a:solidFill xmlns:a="http://schemas.openxmlformats.org/drawingml/2006/main">
            <a:srgbClr val="E3F1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57ED60-C9D5-4796-BB61-FF6FB21F4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1047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5B7AB9-8514-4AF7-869F-8436C8C9E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432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292190-EAE6-4182-A9ED-718FF378D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03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3FFFBE-6676-4E73-9804-A4ED83F13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867025"/>
            <a:ext cx="25431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Coding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24CD0F-7DE7-4574-96DF-3BBE04EC7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857500"/>
            <a:ext cx="67532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Reviewed ICD-10 and optional procedure identifier for claims.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FC4AEA-7041-4CE0-A3C2-C360FC9D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667125"/>
            <a:ext cx="10734675" cy="866775"/>
          </a:xfrm>
          <a:prstGeom xmlns:a="http://schemas.openxmlformats.org/drawingml/2006/main" prst="roundRect">
            <a:avLst>
              <a:gd name="adj" fmla="val 12088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57AF94-2419-4E3B-8D58-9AD483D91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667125"/>
            <a:ext cx="1047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E424F5-2C61-4E2E-A49B-CF4A0710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6240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92C5C4-3278-4384-8E88-16EF630E6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1955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D75B4A-404D-4DAD-9413-F6222C33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886200"/>
            <a:ext cx="25431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32553C-B89A-49D2-91BE-D3BAB1C1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76675"/>
            <a:ext cx="67532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Prescription queue, batch stock, 5% and nil medicine examples.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F06C33-7825-41B0-BDD2-CDFDCD9E8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686300"/>
            <a:ext cx="10734675" cy="866775"/>
          </a:xfrm>
          <a:prstGeom xmlns:a="http://schemas.openxmlformats.org/drawingml/2006/main" prst="roundRect">
            <a:avLst>
              <a:gd name="adj" fmla="val 12088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1C91D9-93D3-4628-AD2C-A24A7C14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686300"/>
            <a:ext cx="1047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F4A08B-3293-4CF0-ABB6-1BA8403BC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815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0E0202-1F81-4B22-BFC0-460F510A5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387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A64ACE-AB14-44F4-BC7C-EC168EDC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905375"/>
            <a:ext cx="25431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3D0A86-EDD4-4543-B6FA-5D5EB619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895850"/>
            <a:ext cx="67532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Room tariff, running bill, invoice, payer claim and receipt.</a:t>
            </a:r>
          </a:p>
        </p:txBody>
      </p:sp>
    </p:spTree>
    <p:extLst>
      <p:ext uri="{BB962C8B-B14F-4D97-AF65-F5344CB8AC3E}">
        <p14:creationId xmlns:p14="http://schemas.microsoft.com/office/powerpoint/2010/main" val="23605697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79846E-9818-4711-B5B4-37A66845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A7B0B0-D45C-4826-A914-19709857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RESULTS &amp; PROTOTYPE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0F10FD-B798-4AD7-ACF1-9E5BC57CB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What changed during the browser walkthrough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CA1296-D6FB-43AE-A199-3F183098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1CC5C7-FBDB-45AE-97F9-3AC28ECEE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000DC7-F8AC-419C-AC00-406E3D29D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A6074E-FD08-45F1-9137-465BF90FC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C6C50B-BFDE-468C-A3B8-80CFD4D1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10658475" cy="733425"/>
          </a:xfrm>
          <a:prstGeom xmlns:a="http://schemas.openxmlformats.org/drawingml/2006/main" prst="roundRect">
            <a:avLst>
              <a:gd name="adj" fmla="val 10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C43280-FC2F-46E7-9E42-555CBE8B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2286000" cy="733425"/>
          </a:xfrm>
          <a:prstGeom xmlns:a="http://schemas.openxmlformats.org/drawingml/2006/main" prst="roundRect">
            <a:avLst>
              <a:gd name="adj" fmla="val 10390"/>
            </a:avLst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603EAB-186E-4FE2-860A-CB4A7990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1800225"/>
            <a:ext cx="1885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Doctor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955B15-166E-49F4-81A2-7C3B4BCC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33550"/>
            <a:ext cx="7953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Saved a note with provisional ICD-10 and training procedure ID; created an order.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4B2236-E99B-4E34-8C60-E11D85B6E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38400"/>
            <a:ext cx="10658475" cy="733425"/>
          </a:xfrm>
          <a:prstGeom xmlns:a="http://schemas.openxmlformats.org/drawingml/2006/main" prst="roundRect">
            <a:avLst>
              <a:gd name="adj" fmla="val 10390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490031-4BD2-4E28-811B-11A92F3CC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38400"/>
            <a:ext cx="2286000" cy="733425"/>
          </a:xfrm>
          <a:prstGeom xmlns:a="http://schemas.openxmlformats.org/drawingml/2006/main" prst="roundRect">
            <a:avLst>
              <a:gd name="adj" fmla="val 10390"/>
            </a:avLst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D2979A-EC7E-45CF-924E-BFBE7D35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647950"/>
            <a:ext cx="1885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Coder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310564-431E-4834-BDC7-F625F484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581275"/>
            <a:ext cx="7953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Saved a reviewed diagnosis and procedure identifier.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FF039F-6563-4242-8020-7F133F452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10658475" cy="733425"/>
          </a:xfrm>
          <a:prstGeom xmlns:a="http://schemas.openxmlformats.org/drawingml/2006/main" prst="roundRect">
            <a:avLst>
              <a:gd name="adj" fmla="val 10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9EA830-AA8F-4FF4-A30C-74450E7E3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2286000" cy="733425"/>
          </a:xfrm>
          <a:prstGeom xmlns:a="http://schemas.openxmlformats.org/drawingml/2006/main" prst="roundRect">
            <a:avLst>
              <a:gd name="adj" fmla="val 10390"/>
            </a:avLst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83A27B-A431-4EC8-AFDA-30560A7F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495675"/>
            <a:ext cx="1885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5B7B72-256D-4DF1-8BE7-12D98CD0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429000"/>
            <a:ext cx="7953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Dispensed against an order; stock fell and the bill gained a 5% line.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F5F449-F47A-4CF8-9FA0-156D9278D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33850"/>
            <a:ext cx="10658475" cy="733425"/>
          </a:xfrm>
          <a:prstGeom xmlns:a="http://schemas.openxmlformats.org/drawingml/2006/main" prst="roundRect">
            <a:avLst>
              <a:gd name="adj" fmla="val 10390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9F711C-7C82-49D2-9C6A-0602452CE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33850"/>
            <a:ext cx="2286000" cy="733425"/>
          </a:xfrm>
          <a:prstGeom xmlns:a="http://schemas.openxmlformats.org/drawingml/2006/main" prst="roundRect">
            <a:avLst>
              <a:gd name="adj" fmla="val 10390"/>
            </a:avLst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471F90-5957-4C33-870F-48AEC6FA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343400"/>
            <a:ext cx="1885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Nil-rate case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00BB23-269A-47E2-BD0D-93138E5C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276725"/>
            <a:ext cx="7953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The specified training category added a nil-tax bill line.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ABD47C-9318-48C2-81E5-68DDF826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81575"/>
            <a:ext cx="10658475" cy="733425"/>
          </a:xfrm>
          <a:prstGeom xmlns:a="http://schemas.openxmlformats.org/drawingml/2006/main" prst="roundRect">
            <a:avLst>
              <a:gd name="adj" fmla="val 10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228ED4-8CC4-473D-923B-B01A8B21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81575"/>
            <a:ext cx="2286000" cy="733425"/>
          </a:xfrm>
          <a:prstGeom xmlns:a="http://schemas.openxmlformats.org/drawingml/2006/main" prst="roundRect">
            <a:avLst>
              <a:gd name="adj" fmla="val 10390"/>
            </a:avLst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12EFC3-6857-404F-995E-3C5EC6717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191125"/>
            <a:ext cx="1885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Admin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F28273-5D66-4634-BF5D-799BD47D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124450"/>
            <a:ext cx="7953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One private room day added ₹6,000 plus ₹300 GST.</a:t>
            </a:r>
          </a:p>
        </p:txBody>
      </p:sp>
    </p:spTree>
    <p:extLst>
      <p:ext uri="{BB962C8B-B14F-4D97-AF65-F5344CB8AC3E}">
        <p14:creationId xmlns:p14="http://schemas.microsoft.com/office/powerpoint/2010/main" val="118358938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139B2DC-B163-4542-8063-C4AABE65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F00ED5-B68C-4D86-8961-3F9E1EA8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RESULTS &amp; PROTOTYPE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3154A9-64BC-4018-9895-BC5F0316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Verified results and current limits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1130AB-1BC9-4BF1-BFE3-504F7823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C1D480-6595-4BEF-B7C8-F6C6E286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EF5D28-61D8-46D7-AE82-806117E47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BE82AA-AFF6-41F9-93C4-C571BD4D6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4B2C2A-D985-44A9-97F3-76223866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5172075" cy="4076700"/>
          </a:xfrm>
          <a:prstGeom xmlns:a="http://schemas.openxmlformats.org/drawingml/2006/main" prst="roundRect">
            <a:avLst>
              <a:gd name="adj" fmla="val 2336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0915FA-C010-4692-B9DB-55CF2F0A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609725"/>
            <a:ext cx="5172075" cy="4076700"/>
          </a:xfrm>
          <a:prstGeom xmlns:a="http://schemas.openxmlformats.org/drawingml/2006/main" prst="roundRect">
            <a:avLst>
              <a:gd name="adj" fmla="val 23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D2D538-1ED7-4601-A46A-FCDE40F0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609725"/>
            <a:ext cx="51720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BE9339-2F3E-4AA0-AD8E-030BE05E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828800"/>
            <a:ext cx="4695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Verified locally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47774A-6773-4C90-83FA-53F84624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47925"/>
            <a:ext cx="247650" cy="24765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C746F6-0417-45A5-BFAB-DAB4D6ED1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48602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50"/>
          </a:bodyPr>
          <a:lstStyle xmlns:a="http://schemas.openxmlformats.org/drawingml/2006/main">
            <a:def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89A8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C56295-D3A6-463E-8E24-60062772E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457450"/>
            <a:ext cx="4257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Three PostgreSQL-backed API scenarios passed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121EEE-AE54-489E-8BEA-62FEC0B61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33700"/>
            <a:ext cx="247650" cy="24765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BB827E-CD93-4E7A-98F9-CCC0F22C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971800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50"/>
          </a:bodyPr>
          <a:lstStyle xmlns:a="http://schemas.openxmlformats.org/drawingml/2006/main">
            <a:def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89A8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397A7C-7075-4CC4-9197-26B11CFDA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943225"/>
            <a:ext cx="4257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Next.js production build completed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8D19E8-A3FB-4474-8AE8-554CD545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19475"/>
            <a:ext cx="247650" cy="24765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32C634-FCF9-4BB4-AB17-0FD1714B8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4575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50"/>
          </a:bodyPr>
          <a:lstStyle xmlns:a="http://schemas.openxmlformats.org/drawingml/2006/main">
            <a:def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89A8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912ED9-5F2B-4200-A8D8-A6E0F482A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429000"/>
            <a:ext cx="4257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Four role sign-ins and sign-outs worked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5ACF82-3549-4E5A-B274-86860EF6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05250"/>
            <a:ext cx="247650" cy="24765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37DCFD-E603-4EEA-A792-759E8E87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943350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50"/>
          </a:bodyPr>
          <a:lstStyle xmlns:a="http://schemas.openxmlformats.org/drawingml/2006/main">
            <a:def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89A8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72DD5D-2882-4844-96EF-994A1ABD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914775"/>
            <a:ext cx="4257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Prescription quantity and stock were checked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6B25B5-02DD-4FFE-B9DE-4BCBF256E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91025"/>
            <a:ext cx="247650" cy="24765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92ABA2-888C-4217-8773-422BC0EA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42912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50"/>
          </a:bodyPr>
          <a:lstStyle xmlns:a="http://schemas.openxmlformats.org/drawingml/2006/main">
            <a:def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89A8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1B285C-9A89-485D-95F0-1AEC64CD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4400550"/>
            <a:ext cx="4257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Room, package, refund and PM-JAY guards passed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0ACBF8-C972-4668-8D33-BA670D262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76800"/>
            <a:ext cx="247650" cy="24765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A40C9F-C52C-436A-839F-1043E43F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914900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50"/>
          </a:bodyPr>
          <a:lstStyle xmlns:a="http://schemas.openxmlformats.org/drawingml/2006/main">
            <a:def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89A8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64268E-4A04-4032-A1D2-6B4692F0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4886325"/>
            <a:ext cx="4257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Tax review includes taxable, nil and exempt lines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3F30CA-11A6-409C-800A-66A5116ED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1666875"/>
            <a:ext cx="5172075" cy="4076700"/>
          </a:xfrm>
          <a:prstGeom xmlns:a="http://schemas.openxmlformats.org/drawingml/2006/main" prst="roundRect">
            <a:avLst>
              <a:gd name="adj" fmla="val 2336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8121E8-B162-4F22-A855-B0CBB6939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09725"/>
            <a:ext cx="5172075" cy="4076700"/>
          </a:xfrm>
          <a:prstGeom xmlns:a="http://schemas.openxmlformats.org/drawingml/2006/main" prst="roundRect">
            <a:avLst>
              <a:gd name="adj" fmla="val 23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1C7207-6D51-44EB-9B6B-DABF83B81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09725"/>
            <a:ext cx="51720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F8F5F79-8306-4196-8F3D-7840D3AED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828800"/>
            <a:ext cx="4695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Outside the classroom demo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D10FFC-5D13-479D-9A84-302DD527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4669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5A921E-712B-4858-ADF0-7A55FDC9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5241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042BE91-6111-4BCB-A6DF-74E254EAF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76500"/>
            <a:ext cx="4210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No live insurer or government portal exchange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A4BCB6E-79F2-4BB7-9826-A561E64BE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04800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0D87B7-D5B3-42C6-9F6A-3EABDA25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0515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E9A5D03-DA43-4258-BA05-00E6AF90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057525"/>
            <a:ext cx="4210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No production authentication or PHI controls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BCAF914-781E-4CBF-9AA9-29DB4E9AF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6290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FF82E27-9EAE-453A-A0F7-909A8F30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6861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A054F70-B5EC-4BCC-ABFE-DDBB76C2F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638550"/>
            <a:ext cx="4210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No validated hospital tariff or medicine catalog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4FA8A8-5364-452F-83C7-8361A2857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1005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B9670EC-37CD-4BFC-800F-B2C018F9A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6720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6A34B67-9ED7-4022-8471-E52DAC1D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219575"/>
            <a:ext cx="4210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No licensed CPT content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D0DAEEC-7F2A-425D-A575-32B5AD787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910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1B292F1-BAA1-421C-9A3E-C07B7AEC2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8482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158D3D2-8F7C-409F-ADD7-D44D9CF8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800600"/>
            <a:ext cx="4210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GSTR-1 is a review packet, not portal upload JSON</a:t>
            </a:r>
          </a:p>
        </p:txBody>
      </p:sp>
    </p:spTree>
    <p:extLst>
      <p:ext uri="{BB962C8B-B14F-4D97-AF65-F5344CB8AC3E}">
        <p14:creationId xmlns:p14="http://schemas.microsoft.com/office/powerpoint/2010/main" val="17398182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3129B7-3C08-4A7C-BD99-B60615315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244D2-2808-463B-A626-A176910C0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CONCLUSION &amp; FUTURE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076B13-1DC9-4B9E-AF1C-7CE5AA9B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Conclusion and future scope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D71D69-F1A2-4524-84E6-20972AA4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CDDCBB-F2A0-41CB-8866-0D3FA332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AB8C17-817D-4524-95B6-F8530D5A5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ABC7B8-B509-470D-9C04-F68DBBFD7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9353CD-DDAF-4159-A881-B463AAAB6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10725150" cy="876300"/>
          </a:xfrm>
          <a:prstGeom xmlns:a="http://schemas.openxmlformats.org/drawingml/2006/main" prst="roundRect">
            <a:avLst>
              <a:gd name="adj" fmla="val 9783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54666F-6129-4467-9DD9-3A84C62B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1724025"/>
            <a:ext cx="102393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575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394E"/>
                </a:solidFill>
                <a:latin typeface="Arial"/>
                <a:ea typeface="Arial"/>
                <a:cs typeface="Arial"/>
              </a:rPr>
              <a:t>The prototype connects care notes, coding, dispensing and billing around one encounter. It produces an itemised bill and tracks payer settlement using synthetic cases.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FC7525-80EB-4DC5-834E-B360940B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71800"/>
            <a:ext cx="3381375" cy="2752725"/>
          </a:xfrm>
          <a:prstGeom xmlns:a="http://schemas.openxmlformats.org/drawingml/2006/main" prst="roundRect">
            <a:avLst>
              <a:gd name="adj" fmla="val 3460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85D686-9DE3-4BFB-AB51-F0143B6CB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914650"/>
            <a:ext cx="3381375" cy="2752725"/>
          </a:xfrm>
          <a:prstGeom xmlns:a="http://schemas.openxmlformats.org/drawingml/2006/main" prst="roundRect">
            <a:avLst>
              <a:gd name="adj" fmla="val 34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C64D1E-E732-459C-A5D4-841D1B49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914650"/>
            <a:ext cx="33813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A4556A-8C6D-4B1F-A8D5-A3A7E3BB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1337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E92D54-5B35-4B6B-8267-C501E2A29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1908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3C2D76-3E78-464E-A949-1CD6ABC19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09975"/>
            <a:ext cx="29241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Mid-sized hospital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C6DE8E-6194-4597-8971-36FBDC60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292417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More specialties, named TPAs, corporate contracts, department controls and a larger catalog.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014894-315D-487A-880F-26ECE221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71800"/>
            <a:ext cx="3381375" cy="2752725"/>
          </a:xfrm>
          <a:prstGeom xmlns:a="http://schemas.openxmlformats.org/drawingml/2006/main" prst="roundRect">
            <a:avLst>
              <a:gd name="adj" fmla="val 3460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674FC1-79B6-4114-B6EA-6963D677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914650"/>
            <a:ext cx="3381375" cy="2752725"/>
          </a:xfrm>
          <a:prstGeom xmlns:a="http://schemas.openxmlformats.org/drawingml/2006/main" prst="roundRect">
            <a:avLst>
              <a:gd name="adj" fmla="val 34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35CEEE-4B13-47D9-A8E3-7EEAE20D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914650"/>
            <a:ext cx="33813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669178-CC65-4379-8549-20934054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1337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275035-8626-4D6E-B4BA-6CB128E6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1908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F73DA3-20D0-4BBE-8787-5EE485CB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09975"/>
            <a:ext cx="29241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Large hospital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F1F7C6-874B-4AC6-A906-BBDD0F72A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05300"/>
            <a:ext cx="292417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Multi-site billing, multiple GST registrations, higher concurrency and enterprise analytics.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22BAAA-0241-455A-8073-FF6AD3AC4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971800"/>
            <a:ext cx="3381375" cy="2752725"/>
          </a:xfrm>
          <a:prstGeom xmlns:a="http://schemas.openxmlformats.org/drawingml/2006/main" prst="roundRect">
            <a:avLst>
              <a:gd name="adj" fmla="val 3460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FF8733-AEEF-4B62-86C7-5EACC0618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914650"/>
            <a:ext cx="3381375" cy="2752725"/>
          </a:xfrm>
          <a:prstGeom xmlns:a="http://schemas.openxmlformats.org/drawingml/2006/main" prst="roundRect">
            <a:avLst>
              <a:gd name="adj" fmla="val 34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0F272E-18F0-4376-BC94-02FECDDD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914650"/>
            <a:ext cx="33813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0268F5-DEB9-462D-A44F-BB2FCDD9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1337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AC13B3-DB33-431E-A123-A129B948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1908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714DF3-D011-464F-9C5D-C878781B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609975"/>
            <a:ext cx="29241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Before live use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6A8B58-4F1C-497E-978A-20D5308B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292417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Approved payer connectors, stronger identity controls, backups, tested rates and privacy governance.</a:t>
            </a:r>
          </a:p>
        </p:txBody>
      </p:sp>
    </p:spTree>
    <p:extLst>
      <p:ext uri="{BB962C8B-B14F-4D97-AF65-F5344CB8AC3E}">
        <p14:creationId xmlns:p14="http://schemas.microsoft.com/office/powerpoint/2010/main" val="204784522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DFE6A44-6857-4632-B950-171809BA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9F445D-3FAA-487D-BBB3-3C18F66F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A6861D-E999-4B3A-B375-F9741DB67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B64FE5-3CAA-4755-9CA4-AFCEF4E77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ED30FA-3953-4C1B-AC81-8E38CB2F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8FF956-E8F9-4932-ADB6-FC2B2CC6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0B95F6-F394-4DA9-92A2-B1C745576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D72713-82DC-4413-BA9D-8BDC61A79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1066800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00097E-246B-4EB2-A36C-6332549DF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190500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60122A-77CC-4DA6-B13D-35E8B24BD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1704975"/>
            <a:ext cx="16097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DH 308 lectures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FEB4DE-D026-4C67-AEDA-0B85CF0C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695450"/>
            <a:ext cx="828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Course slides on HIS modules, ER modelling, HL7, ICD and ABDM supplied with the assignment.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E420D9-6B9B-4820-8E17-0A2F24513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1066800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C4E1C9-FA09-4FC0-8055-7C0F4C50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190500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E0BE55-4E8E-4B36-B11D-1B7127FA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247900"/>
            <a:ext cx="16097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GST Council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0EA1C2-9BEC-4214-AF2D-54E38442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238375"/>
            <a:ext cx="828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Medicine and medical device FAQ (2025): gstcouncil.gov.in/sites/default/files/2025-09/faq_0.pdf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15E2A5-F83E-4F19-93FC-895FE9B6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76525"/>
            <a:ext cx="1066800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792BFF-7101-43EB-AF6D-5517810C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76525"/>
            <a:ext cx="190500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1A8C82-EEB2-491E-9486-896797743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790825"/>
            <a:ext cx="16097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CBIC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D45208-A9AD-4265-BA9C-FA4345937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781300"/>
            <a:ext cx="828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Goods and services rates, including specified room entry 31A: cbic-gst.gov.in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58D50E-CA78-459C-9465-AA4305AB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1066800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5A7594-82B9-4570-B68C-3EEDFF95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190500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338BF3-13DB-4E2C-9168-AD10CB9C2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333750"/>
            <a:ext cx="16097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038033-C5C2-42DC-9E4A-FB719356F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324225"/>
            <a:ext cx="828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International Classification of Diseases: who.int/classifications/classification-of-diseases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167BF5-10C9-40CC-B369-3A0EEE8EA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1066800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45324B-6C52-4D20-A0F2-635A55A7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190500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886E85-B7E1-4A1D-B2D6-7DC5660F4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876675"/>
            <a:ext cx="16097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779913-578D-4F90-893D-B8F41E15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867150"/>
            <a:ext cx="828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CPT licensing FAQ: ama-assn.org/practice-management/cpt/cpt-licensing-frequently-asked-questions-faqs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F22D1E-E697-4672-89F2-FB773C788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05300"/>
            <a:ext cx="1066800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6AEDB9-E246-464D-BB6D-F1ED3C2B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05300"/>
            <a:ext cx="190500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91C004-7715-48B2-B1FF-68CBDE619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4419600"/>
            <a:ext cx="16097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IRDAI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D20BD3-66A9-4558-A5EC-E0FA4CCD0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410075"/>
            <a:ext cx="828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Health insurance guidance: irdai.gov.in/health-dept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25861A-E870-4BC3-9306-821C3598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1066800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6A4271-0EB8-49BC-B0CE-4D7FA5E53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190500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C18183-8CA8-4426-96FC-ED4F4730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4962525"/>
            <a:ext cx="16097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NHA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48B71A-C340-4A27-8066-A3A622A7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953000"/>
            <a:ext cx="828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AB PM-JAY operations and Health Benefit Package manuals: nha.gov.in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BC9C295-640B-4ADB-BCE8-DE2D76DA9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91150"/>
            <a:ext cx="1066800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665D45-D946-4CEB-97C5-52359C9D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91150"/>
            <a:ext cx="190500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E2D76AB-81B3-432F-BD53-0AF648E42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5505450"/>
            <a:ext cx="16097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GST portal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8C984AB-0F7F-4C3D-BF47-90A52FED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495925"/>
            <a:ext cx="828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GSTR-1 user guide: tutorial.gst.gov.in/userguide/returns/GSTR_1.htm</a:t>
            </a:r>
          </a:p>
        </p:txBody>
      </p:sp>
    </p:spTree>
    <p:extLst>
      <p:ext uri="{BB962C8B-B14F-4D97-AF65-F5344CB8AC3E}">
        <p14:creationId xmlns:p14="http://schemas.microsoft.com/office/powerpoint/2010/main" val="2578045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2026-10-07T13:51:24.3130000Z</dcterms:created>
  <dcterms:modified xsi:type="dcterms:W3CDTF">2026-10-07T13:51:24.3130000Z</dcterms:modified>
</coreProperties>
</file>