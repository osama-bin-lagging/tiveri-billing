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4b4864b883b74e9d" /><ns0:Relationship Type="http://schemas.openxmlformats.org/officeDocument/2006/relationships/extended-properties" Target="/docProps/app.xml" Id="R7425301cb886481a" /><ns0:Relationship Type="http://schemas.openxmlformats.org/officeDocument/2006/relationships/officeDocument" Target="/ppt/presentation.xml" Id="R319185f58f534449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32fe019eb60148ab"/>
  </ns0:sldMasterIdLst>
  <ns0:sldIdLst>
    <ns0:sldId id="256" ns1:id="Rc73122a94b5b4988"/>
    <ns0:sldId id="257" ns1:id="Red093fa771574be9"/>
    <ns0:sldId id="258" ns1:id="Rf0066caff9054379"/>
    <ns0:sldId id="259" ns1:id="R6423aea994f54ff8"/>
    <ns0:sldId id="260" ns1:id="R185e50ad4e5b418e"/>
    <ns0:sldId id="261" ns1:id="R92d79f0ee2554b9d"/>
    <ns0:sldId id="262" ns1:id="R291c465577b848df"/>
    <ns0:sldId id="263" ns1:id="R7757edbf5dbf496a"/>
    <ns0:sldId id="264" ns1:id="Rd4daeb232bdd4b56"/>
    <ns0:sldId id="265" ns1:id="Rd236cdc059284dad"/>
    <ns0:sldId id="266" ns1:id="Re6f58c11c7994d36"/>
    <ns0:sldId id="267" ns1:id="R4df562a1730e4ca1"/>
    <ns0:sldId id="268" ns1:id="R82903df5ebe64897"/>
    <ns0:sldId id="269" ns1:id="Rb8f282ed2ee04a3f"/>
    <ns0:sldId id="270" ns1:id="Rc6826278f8024655"/>
    <ns0:sldId id="271" ns1:id="R93e502ca55344668"/>
    <ns0:sldId id="272" ns1:id="R45e18f8fa1a74a17"/>
    <ns0:sldId id="273" ns1:id="R9124d2976d90453b"/>
    <ns0:sldId id="274" ns1:id="Raaa90ab3e1164198"/>
    <ns0:sldId id="275" ns1:id="R499131d9c2b643b5"/>
    <ns0:sldId id="276" ns1:id="R2a6414a4cbf94c22"/>
    <ns0:sldId id="277" ns1:id="Rf2aa7a4828f749ec"/>
    <ns0:sldId id="278" ns1:id="R50edc3b38ede4395"/>
    <ns0:sldId id="279" ns1:id="R45ad583dab514b87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f3d75f79b41e4c31" /><ns0:Relationship Type="http://schemas.openxmlformats.org/officeDocument/2006/relationships/slideMaster" Target="/ppt/slideMasters/slideMaster1.xml" Id="R32fe019eb60148ab" /><ns0:Relationship Type="http://schemas.openxmlformats.org/officeDocument/2006/relationships/presProps" Target="/ppt/presProps.xml" Id="R0a43df743a1e45e3" /><ns0:Relationship Type="http://schemas.openxmlformats.org/officeDocument/2006/relationships/tableStyles" Target="/ppt/tableStyles.xml" Id="Recb03673c0ff40e0" /><ns0:Relationship Type="http://schemas.openxmlformats.org/officeDocument/2006/relationships/slide" Target="/ppt/slides/slide1.xml" Id="Rc73122a94b5b4988" /><ns0:Relationship Type="http://schemas.openxmlformats.org/officeDocument/2006/relationships/slide" Target="/ppt/slides/slide2.xml" Id="Red093fa771574be9" /><ns0:Relationship Type="http://schemas.openxmlformats.org/officeDocument/2006/relationships/slide" Target="/ppt/slides/slide3.xml" Id="Rf0066caff9054379" /><ns0:Relationship Type="http://schemas.openxmlformats.org/officeDocument/2006/relationships/slide" Target="/ppt/slides/slide4.xml" Id="R6423aea994f54ff8" /><ns0:Relationship Type="http://schemas.openxmlformats.org/officeDocument/2006/relationships/slide" Target="/ppt/slides/slide5.xml" Id="R185e50ad4e5b418e" /><ns0:Relationship Type="http://schemas.openxmlformats.org/officeDocument/2006/relationships/slide" Target="/ppt/slides/slide6.xml" Id="R92d79f0ee2554b9d" /><ns0:Relationship Type="http://schemas.openxmlformats.org/officeDocument/2006/relationships/slide" Target="/ppt/slides/slide7.xml" Id="R291c465577b848df" /><ns0:Relationship Type="http://schemas.openxmlformats.org/officeDocument/2006/relationships/slide" Target="/ppt/slides/slide8.xml" Id="R7757edbf5dbf496a" /><ns0:Relationship Type="http://schemas.openxmlformats.org/officeDocument/2006/relationships/slide" Target="/ppt/slides/slide9.xml" Id="Rd4daeb232bdd4b56" /><ns0:Relationship Type="http://schemas.openxmlformats.org/officeDocument/2006/relationships/slide" Target="/ppt/slides/slide10.xml" Id="Rd236cdc059284dad" /><ns0:Relationship Type="http://schemas.openxmlformats.org/officeDocument/2006/relationships/slide" Target="/ppt/slides/slide11.xml" Id="Re6f58c11c7994d36" /><ns0:Relationship Type="http://schemas.openxmlformats.org/officeDocument/2006/relationships/slide" Target="/ppt/slides/slide12.xml" Id="R4df562a1730e4ca1" /><ns0:Relationship Type="http://schemas.openxmlformats.org/officeDocument/2006/relationships/slide" Target="/ppt/slides/slide13.xml" Id="R82903df5ebe64897" /><ns0:Relationship Type="http://schemas.openxmlformats.org/officeDocument/2006/relationships/slide" Target="/ppt/slides/slide14.xml" Id="Rb8f282ed2ee04a3f" /><ns0:Relationship Type="http://schemas.openxmlformats.org/officeDocument/2006/relationships/slide" Target="/ppt/slides/slide15.xml" Id="Rc6826278f8024655" /><ns0:Relationship Type="http://schemas.openxmlformats.org/officeDocument/2006/relationships/slide" Target="/ppt/slides/slide16.xml" Id="R93e502ca55344668" /><ns0:Relationship Type="http://schemas.openxmlformats.org/officeDocument/2006/relationships/slide" Target="/ppt/slides/slide17.xml" Id="R45e18f8fa1a74a17" /><ns0:Relationship Type="http://schemas.openxmlformats.org/officeDocument/2006/relationships/slide" Target="/ppt/slides/slide18.xml" Id="R9124d2976d90453b" /><ns0:Relationship Type="http://schemas.openxmlformats.org/officeDocument/2006/relationships/slide" Target="/ppt/slides/slide19.xml" Id="Raaa90ab3e1164198" /><ns0:Relationship Type="http://schemas.openxmlformats.org/officeDocument/2006/relationships/slide" Target="/ppt/slides/slide20.xml" Id="R499131d9c2b643b5" /><ns0:Relationship Type="http://schemas.openxmlformats.org/officeDocument/2006/relationships/slide" Target="/ppt/slides/slide21.xml" Id="R2a6414a4cbf94c22" /><ns0:Relationship Type="http://schemas.openxmlformats.org/officeDocument/2006/relationships/slide" Target="/ppt/slides/slide22.xml" Id="Rf2aa7a4828f749ec" /><ns0:Relationship Type="http://schemas.openxmlformats.org/officeDocument/2006/relationships/slide" Target="/ppt/slides/slide23.xml" Id="R50edc3b38ede4395" /><ns0:Relationship Type="http://schemas.openxmlformats.org/officeDocument/2006/relationships/slide" Target="/ppt/slides/slide24.xml" Id="R45ad583dab514b87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229553dbc079457a" /></ns0:Relationships>
</file>

<file path=ppt/slideLayouts/_rels/slideLayout2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7bd72b1b24654ee8" /></ns0:Relationships>
</file>

<file path=ppt/slideLayouts/_rels/slideLayout3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346ff88b0e33415d" /></ns0:Relationships>
</file>

<file path=ppt/slideLayouts/_rels/slideLayout4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b360115fb477406d" /></ns0:Relationships>
</file>

<file path=ppt/slideLayouts/_rels/slideLayout5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a9db6ce4d53e45ee" /></ns0:Relationships>
</file>

<file path=ppt/slideLayouts/_rels/slideLayout6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40900716f6f44698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4B762EA-5139-4C3E-B06B-FB7BABA436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CD5B1AD-D71B-4E7E-9CB7-431EB7C057E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B1C4677-4388-4406-AA84-D51F2C8199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F418BEB-B6CC-4495-A13B-DA403C2B4C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69D5627-7DBD-4901-98E2-26425BC450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AE597F5-1341-4B7F-88D2-37377E1E82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4D70016-2C6A-4BFB-8610-0D12E4078E9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4A04680-31B4-493E-B68E-1016CBD83EF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A842B2C-E7EF-465F-A405-353BFD0A38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45CCE95-A20F-4681-8D19-6EC90127A9A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2452e3a84bb5485e" /><ns0:Relationship Type="http://schemas.openxmlformats.org/officeDocument/2006/relationships/slideLayout" Target="/ppt/slideLayouts/slideLayout1.xml" Id="R74c7ce4cdc494d3c" /><ns0:Relationship Type="http://schemas.openxmlformats.org/officeDocument/2006/relationships/slideLayout" Target="/ppt/slideLayouts/slideLayout2.xml" Id="Rc602d699bdde4aad" /><ns0:Relationship Type="http://schemas.openxmlformats.org/officeDocument/2006/relationships/slideLayout" Target="/ppt/slideLayouts/slideLayout3.xml" Id="Re061c5690b9d40c5" /><ns0:Relationship Type="http://schemas.openxmlformats.org/officeDocument/2006/relationships/slideLayout" Target="/ppt/slideLayouts/slideLayout4.xml" Id="Ra342eb25ef38406f" /><ns0:Relationship Type="http://schemas.openxmlformats.org/officeDocument/2006/relationships/slideLayout" Target="/ppt/slideLayouts/slideLayout5.xml" Id="Rcbe66070ad9f4466" /><ns0:Relationship Type="http://schemas.openxmlformats.org/officeDocument/2006/relationships/slideLayout" Target="/ppt/slideLayouts/slideLayout6.xml" Id="R96e59c2d63fd4d79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4c7ce4cdc494d3c"/>
    <p:sldLayoutId xmlns:r="http://schemas.openxmlformats.org/officeDocument/2006/relationships" id="2147483650" r:id="Rc602d699bdde4aad"/>
    <p:sldLayoutId xmlns:r="http://schemas.openxmlformats.org/officeDocument/2006/relationships" id="2147483651" r:id="Re061c5690b9d40c5"/>
    <p:sldLayoutId xmlns:r="http://schemas.openxmlformats.org/officeDocument/2006/relationships" id="2147483652" r:id="Ra342eb25ef38406f"/>
    <p:sldLayoutId xmlns:r="http://schemas.openxmlformats.org/officeDocument/2006/relationships" id="2147483653" r:id="Rcbe66070ad9f4466"/>
    <p:sldLayoutId xmlns:r="http://schemas.openxmlformats.org/officeDocument/2006/relationships" id="2147483654" r:id="R96e59c2d63fd4d7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49c034ec3ee441bb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eba7100555e943a9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2a940d0b9a444ffa" /><ns0:Relationship Type="http://schemas.openxmlformats.org/officeDocument/2006/relationships/image" Target="/ppt/media/image.png" Id="R09b6aa6ad1ae492d" /><ns0:Relationship Type="http://schemas.openxmlformats.org/officeDocument/2006/relationships/image" Target="/ppt/media/image2.png" Id="R041b7c57073b4703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a226e88fb7394965" /><ns0:Relationship Type="http://schemas.openxmlformats.org/officeDocument/2006/relationships/image" Target="/ppt/media/image3.png" Id="R9078ce19c7874454" /><ns0:Relationship Type="http://schemas.openxmlformats.org/officeDocument/2006/relationships/image" Target="/ppt/media/image4.png" Id="Re296ed02c2e24062" /><ns0:Relationship Type="http://schemas.openxmlformats.org/officeDocument/2006/relationships/image" Target="/ppt/media/image5.png" Id="R19f37f3aa75840ce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9c077e88c146456a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70ddf156536a425d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07eff0972a304a94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d5d27d6de9514861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370d78ab0b774855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f438d726751046da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f6159c44a7804235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80ed17d4b7d64546" /><ns0:Relationship Type="http://schemas.openxmlformats.org/officeDocument/2006/relationships/image" Target="/ppt/media/image6.png" Id="Rffde3028350b4055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4746dd0a3ec241d8" /><ns0:Relationship Type="http://schemas.openxmlformats.org/officeDocument/2006/relationships/image" Target="/ppt/media/image7.png" Id="R558910a48e154d87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7386b8d0460b472d" /><ns0:Relationship Type="http://schemas.openxmlformats.org/officeDocument/2006/relationships/image" Target="/ppt/media/image8.png" Id="R217b8a05d89d4ee2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8960a8018e854016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60b9e6ef9b4c452d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ba32e9c013b54bcc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166bbb9321c14797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de10237691a54f81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aabf50c8e06d4540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8356e6d61bfc44f1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de71f34a2ff6497f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0b607b2c33bd402e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968a1b8c31554e84" /></ns0: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8F0566-E988-45DA-B1C8-9205E5A07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3B0397-03FC-45A3-8BD6-2253EB29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D6D027-692C-47FE-B1B6-BF21838B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600075" cy="600075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EBE6D3-31BA-4367-AB51-256B20EC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81025"/>
            <a:ext cx="323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476"/>
          </a:bodyPr>
          <a:lstStyle xmlns:a="http://schemas.openxmlformats.org/drawingml/2006/main">
            <a:defPPr algn="ctr">
              <a:defRPr sz="26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6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811D9C-4E35-45A4-874F-CA8EAD10B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61912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DH 308  /  FINAL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CAB689-1D7E-4991-B859-EBB6F1DA1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962150"/>
            <a:ext cx="9810750" cy="1724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4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Designing a hospital</a:t>
            </a:r>
          </a:p>
          <a:p xmlns:a="http://schemas.openxmlformats.org/drawingml/2006/main">
            <a:pPr algn="l">
              <a:defRPr sz="4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billing system with HIS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941B9A-6ED0-42E2-A3D9-A0C7C8BB4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981450"/>
            <a:ext cx="93821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A prototype for Indian hospitals that connects clinical work, pharmacy and the final patient bill.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02481A-8371-41D9-A1A2-BF55A8EA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53025"/>
            <a:ext cx="10820400" cy="885825"/>
          </a:xfrm>
          <a:prstGeom xmlns:a="http://schemas.openxmlformats.org/drawingml/2006/main" prst="roundRect">
            <a:avLst>
              <a:gd name="adj" fmla="val 7527"/>
            </a:avLst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74710D-1706-48C0-A0D5-189AC4F8F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391150"/>
            <a:ext cx="2762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Doctor note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FCE562-6DA4-4505-A219-8F2D5FEE7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5391150"/>
            <a:ext cx="33432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Pharmacy dispense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371987-3969-422C-9BD7-A44BEEE01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5391150"/>
            <a:ext cx="31623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Itemised invoice</a:t>
            </a:r>
          </a:p>
        </p:txBody>
      </p:sp>
    </p:spTree>
    <p:extLst>
      <p:ext uri="{BB962C8B-B14F-4D97-AF65-F5344CB8AC3E}">
        <p14:creationId xmlns:p14="http://schemas.microsoft.com/office/powerpoint/2010/main" val="13129488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E3D701-3607-4097-B5A4-7A80A0522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08EA4E-7B2D-406B-BF82-0B4F6E028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901BD1-227A-45EB-8136-79B3FCB7D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Project scope and billing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36BC20-4071-4079-BF94-3F81E60AD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197249-F8E5-4B48-A1FE-F51196A5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FF5CA3-DDB9-4982-B4D6-DFF9CE64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59FCF5-5332-46D4-A749-861DF7540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9725"/>
            <a:ext cx="102870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50"/>
          </a:bodyPr>
          <a:lstStyle xmlns:a="http://schemas.openxmlformats.org/drawingml/2006/main">
            <a:defPPr algn="l">
              <a:defRPr sz="21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billing system receives completed work from the HIS and links every charge to one encounter.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B22882-1BFF-487E-8C04-37358E9E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67000"/>
            <a:ext cx="3295650" cy="2047875"/>
          </a:xfrm>
          <a:prstGeom xmlns:a="http://schemas.openxmlformats.org/drawingml/2006/main" prst="roundRect">
            <a:avLst>
              <a:gd name="adj" fmla="val 3256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CEAA0F-A375-4453-AC11-BCB75490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1D0123-595A-488C-944A-F96CBB192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527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5C4967-2EB2-405D-9055-DC1FD6BD1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67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Clinical care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CAF34C-0A76-4167-9FCB-6C0402726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280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Doctor records diagnosis, treatment and orders.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898E13-FD0E-4737-B2EA-95A802AC4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67000"/>
            <a:ext cx="3295650" cy="2047875"/>
          </a:xfrm>
          <a:prstGeom xmlns:a="http://schemas.openxmlformats.org/drawingml/2006/main" prst="roundRect">
            <a:avLst>
              <a:gd name="adj" fmla="val 325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BDBD0-6C46-4CC5-9FAB-4D0949883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765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3F21A3-9B09-4C1C-A8EC-9E4B8EB9B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527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1E3843-2AC3-4F7C-87C3-34B3BF18B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467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11ACD3-4E54-4781-B27E-88E15F954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962400"/>
            <a:ext cx="280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Dispensing links product, batch, quantity and tax.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B9CA2B-FA0C-494A-BC95-23F4F048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67000"/>
            <a:ext cx="3295650" cy="2047875"/>
          </a:xfrm>
          <a:prstGeom xmlns:a="http://schemas.openxmlformats.org/drawingml/2006/main" prst="roundRect">
            <a:avLst>
              <a:gd name="adj" fmla="val 325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636FAC-5038-4201-8D12-6B1983ED5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765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9A6804-4186-4277-A2C0-8CB0FC68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527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E42B91-20F3-45A2-BBE8-EA23E458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67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C1331B-3E0A-4F3F-A653-36471175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62400"/>
            <a:ext cx="280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 rate card prices each charge before final invoice.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725622-F9A1-41D4-A2CD-BA7B98180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62550"/>
            <a:ext cx="10753725" cy="59055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C3055B-61C7-4A35-8B4A-EDA3A6F7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314950"/>
            <a:ext cx="1019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Shared key: one patient encounter</a:t>
            </a:r>
          </a:p>
        </p:txBody>
      </p:sp>
    </p:spTree>
    <p:extLst>
      <p:ext uri="{BB962C8B-B14F-4D97-AF65-F5344CB8AC3E}">
        <p14:creationId xmlns:p14="http://schemas.microsoft.com/office/powerpoint/2010/main" val="7347012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057420-1383-44D3-98C9-7FAD38019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16764A-605F-41DB-B3C7-A299FE1B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7E84E0-1EBC-462C-AEAF-A2C85BC3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Source bills: OPD tests and pharmacy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FBA729-A054-4C5B-BF13-1A44BA0E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E6E314-F3F4-4066-944E-F519A148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C6A6FA-D91E-46EE-AC33-6B194618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BFD275-1136-4B52-BDD5-2AAA30B8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52575"/>
            <a:ext cx="10382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KIMS bills show a service code and amount for each test, plus separate tax fields on a pharmacy invoice.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9D9598-52EE-4713-B822-E31DA149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OPD diagnostics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DFC7CE-B170-4C20-92D1-B69D68DE76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b6aa6ad1ae492d"/>
          <a:stretch xmlns:a="http://schemas.openxmlformats.org/drawingml/2006/main"/>
        </p:blipFill>
        <p:spPr>
          <a:xfrm xmlns:a="http://schemas.openxmlformats.org/drawingml/2006/main">
            <a:off x="1945645" y="2571750"/>
            <a:ext cx="8186410" cy="132397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01EA37-ECA5-4E20-8CC3-BDCA36D17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428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CBC  ₹790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F6317F-D47F-458E-8396-CA78E06D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000500"/>
            <a:ext cx="2333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CRP  ₹890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B35546-BEF8-46BD-9965-2E3944D7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00050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Dengue NS1  ₹2,490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F2FD58-C9F9-45C5-BB6D-342F4F01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67225"/>
            <a:ext cx="10734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45E465-5F20-4451-B204-B08B3BEF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Pharmacy GST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F28552-FADA-4FF6-8A35-E5908D6BBC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1b7c57073b4703"/>
          <a:stretch xmlns:a="http://schemas.openxmlformats.org/drawingml/2006/main"/>
        </p:blipFill>
        <p:spPr>
          <a:xfrm xmlns:a="http://schemas.openxmlformats.org/drawingml/2006/main">
            <a:off x="2331944" y="4981575"/>
            <a:ext cx="7413812" cy="76200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D60176-947D-4D85-8F98-36C583F4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53100"/>
            <a:ext cx="105251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Taxable value ₹4,801.38. CGST and SGST are 2.5% each. Receipt ₹5,041.45.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A52082-1DEA-4F3E-A2C4-57973AFC7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De-identified crops from the supplied KIMS bill pages. Values above are transcribed from the scanned documents.</a:t>
            </a:r>
          </a:p>
        </p:txBody>
      </p:sp>
    </p:spTree>
    <p:extLst>
      <p:ext uri="{BB962C8B-B14F-4D97-AF65-F5344CB8AC3E}">
        <p14:creationId xmlns:p14="http://schemas.microsoft.com/office/powerpoint/2010/main" val="15535164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BCB944-3C79-4FB8-9775-0BA36B564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B5B9A7-ADDD-48B5-97BC-74B2B65D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628A22-5914-4120-AAE0-B55E4B5F0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Source bills: Apollo inpatient account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4B4A2F-B9E5-46D8-98DA-38312025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BC1109-120E-422D-A247-873F98BD8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0304B3-F740-43F3-BDFC-2DB423E68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41C257-3F73-4445-A682-6736672A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52575"/>
            <a:ext cx="104298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IPD account combines department charges, pharmacy lines, bed history and a separate payment receipt.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E1B304-A54E-497A-B945-FB7105A8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90750"/>
            <a:ext cx="6410325" cy="2219325"/>
          </a:xfrm>
          <a:prstGeom xmlns:a="http://schemas.openxmlformats.org/drawingml/2006/main" prst="roundRect">
            <a:avLst>
              <a:gd name="adj" fmla="val 2146"/>
            </a:avLst>
          </a:prstGeom>
          <a:solidFill xmlns:a="http://schemas.openxmlformats.org/drawingml/2006/main">
            <a:srgbClr val="F6F8F8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15979E-2E48-4C68-BE66-42E4B4DAFA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78ce19c7874454"/>
          <a:stretch xmlns:a="http://schemas.openxmlformats.org/drawingml/2006/main"/>
        </p:blipFill>
        <p:spPr>
          <a:xfrm xmlns:a="http://schemas.openxmlformats.org/drawingml/2006/main">
            <a:off x="755423" y="2238375"/>
            <a:ext cx="6328229" cy="20764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6CE846-6D1E-42FB-A15D-0026BE3E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49580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Final payable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F903EF-404F-45AF-8166-454F3C890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4495800"/>
            <a:ext cx="29241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Separate receipt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DC02D5-1DC8-4C28-A54E-B5BB9CED21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6ed02c2e24062"/>
          <a:stretch xmlns:a="http://schemas.openxmlformats.org/drawingml/2006/main"/>
        </p:blipFill>
        <p:spPr>
          <a:xfrm xmlns:a="http://schemas.openxmlformats.org/drawingml/2006/main">
            <a:off x="757775" y="4819650"/>
            <a:ext cx="2865950" cy="866775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5681BA-D9A4-4E9E-B663-183DD7CC33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f37f3aa75840ce"/>
          <a:stretch xmlns:a="http://schemas.openxmlformats.org/drawingml/2006/main"/>
        </p:blipFill>
        <p:spPr>
          <a:xfrm xmlns:a="http://schemas.openxmlformats.org/drawingml/2006/main">
            <a:off x="3924300" y="4885350"/>
            <a:ext cx="3067050" cy="735375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C4FB03-626A-429F-AA53-161776EF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276475"/>
            <a:ext cx="3876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01   Consultation charges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841100-B47C-4A1E-98CC-30CA4440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600325"/>
            <a:ext cx="3848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₹9,500 on the account page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170704-536A-4629-AEDF-42D99F833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076575"/>
            <a:ext cx="3876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02   Emergency services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1D4A33-54B8-43BC-BF1C-C7CA81C7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400425"/>
            <a:ext cx="3848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₹5,280, plus a ₹430 procedure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1AF336-2A32-435B-A0FE-32F24456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76675"/>
            <a:ext cx="3876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03   Pharmacy and bed history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FE4444-C87D-484D-90DB-DE1F8E53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200525"/>
            <a:ext cx="3857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Three medicine lines total ₹790.03.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7D8B59-82E3-45B6-AC9C-96CC252E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476750"/>
            <a:ext cx="3905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Bed dates and categories appear separately.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64B22D-CA33-480C-AE94-7D1529C6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191125"/>
            <a:ext cx="390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payable and receipt remain distinct records.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95E476-CA69-437E-80E1-CE3A148C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De-identified crops from supplied Apollo IPD bill and receipt pages. Values are transcribed from the scanned documents.</a:t>
            </a:r>
          </a:p>
        </p:txBody>
      </p:sp>
    </p:spTree>
    <p:extLst>
      <p:ext uri="{BB962C8B-B14F-4D97-AF65-F5344CB8AC3E}">
        <p14:creationId xmlns:p14="http://schemas.microsoft.com/office/powerpoint/2010/main" val="12722184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AB1553-E1A4-4A46-9E5A-9490F4594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A2BAD3-D0D7-43D5-89AA-84A56A1BD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F11FF6-4C6E-40B9-AD47-4CC123A1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Problem statement and objectives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C7B2EB-C1A5-4FED-86A4-8C19ABAE7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CF7FFD-74B9-4878-BA70-E5718DDA9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DCE279-107E-4DB5-A02E-81BF2AECE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433D50-2DED-4B1A-BB5B-A6B0A7C0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10734675" cy="895350"/>
          </a:xfrm>
          <a:prstGeom xmlns:a="http://schemas.openxmlformats.org/drawingml/2006/main" prst="roundRect">
            <a:avLst>
              <a:gd name="adj" fmla="val 7447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8FEC6E-6AE5-4DE0-8AF3-834052D6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4307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Problem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E646E8-634F-42E0-A231-2E36D7B16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1704975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 service can be missed, repeated, charged at the wrong tariff, or confused with a payer approval.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97A78B-1DE8-456C-954F-D460DA14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92416C-A857-4372-9BC0-AF5D225EA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9A852E-C06A-4C09-882C-A899C771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6150"/>
            <a:ext cx="23526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215DFD-4F2D-43F5-A4F6-967BBA070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Capture once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1E9E26-0BA6-42E1-968B-F15D863F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23526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Reject a repeated HIS event ID.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E55450-D97C-46AF-AFC8-2964BABD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33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B5A3AC-F576-4C79-A18E-10750205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009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6DD3BB-E551-4DB5-80DA-82A9C38E0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86150"/>
            <a:ext cx="23526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6A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01171A-C2C3-4371-90D5-113C7A26E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338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Use the right rate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2C0C2F-C2AF-4C0B-81EE-1C75C68B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362450"/>
            <a:ext cx="23526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Snapshot the payer tariff on the charge.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AD2167-09F5-4945-94E7-A21EBBF2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33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EC3314-BEA4-4EFA-ACBE-260ED8ECE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09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ADF445-836B-420A-ADC0-A48131EB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86150"/>
            <a:ext cx="23526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5B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88E460-2D6D-40A8-9B90-2AE804C2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338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Explain the bill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A36CA5-F7DA-45B4-B1FB-6B6750EB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62450"/>
            <a:ext cx="23526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Show item, quantity, GST and total.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8B929F-DCAD-4D1D-82E7-01C53DFEE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933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BC7159-7991-4DFB-B495-637671644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009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6B96FD-1210-4C34-AAC3-DD2055AF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486150"/>
            <a:ext cx="235267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64B3E6-CC58-492B-811F-A5A49556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733800"/>
            <a:ext cx="23907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Track money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266FF1-ADBB-4B6D-8F72-A2A08477C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362450"/>
            <a:ext cx="23526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Keep claims and actual receipts separate.</a:t>
            </a:r>
          </a:p>
        </p:txBody>
      </p:sp>
    </p:spTree>
    <p:extLst>
      <p:ext uri="{BB962C8B-B14F-4D97-AF65-F5344CB8AC3E}">
        <p14:creationId xmlns:p14="http://schemas.microsoft.com/office/powerpoint/2010/main" val="8765911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79E2CA-ED7A-420F-A3B4-31093AFB5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B80EB4-DF1D-49D0-A0B5-FF8EC3E8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INTRODUCTION &amp;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100B1B-6E23-4FF3-B8A5-56F3D681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Existing gaps and why they occur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199695-F522-4551-98A3-CC8144CDD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8EDAF3-7BD3-4EC5-87BB-75E74087C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E88685-9250-4A07-AF27-D53205CD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35354E-2AC8-4EB0-8814-9059524E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972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Gap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6B7FBF-0CD9-4B72-8C64-5E2497C8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609725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Reason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0E4AE2-DBC1-4C40-A3AE-B008EB041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609725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Design response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34B085-88AE-47C3-A819-C9B3F7F8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28825"/>
            <a:ext cx="10734675" cy="752475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6F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E26A9F-AB4A-41FF-83C9-A82507E3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209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6A5A99-116F-463A-AEF1-4518FF1B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2860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963E77-6459-4EED-B3F4-55556CF37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3837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Missing service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E24223-BB59-4265-BC53-E0388B1D7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71700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Manual handoff between care and billing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C4C17-D3F4-475B-9F9B-FD313F917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171700"/>
            <a:ext cx="309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Doctor event posts a charge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38BEFE-05D7-46E9-9BCF-0B0936D3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71800"/>
            <a:ext cx="10734675" cy="752475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145C86-576B-44B2-8526-D3197E71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1527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E1ECC3-DF68-41D7-9A41-B4FCFD65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2289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D6C4C6-B4EE-4AFE-9C51-4E06E3F27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1813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Wrong amount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A4928E-743D-4243-B691-2E8CE4F28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14675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Different payer rate cards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CE0CEC-1691-4FB1-8D1A-F406E815D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114675"/>
            <a:ext cx="309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Rate chosen at capture time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044B1B-67E0-4EDD-A067-ED86C8A4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14775"/>
            <a:ext cx="10734675" cy="752475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6F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63061E-9BBE-4DE6-ABD0-FABC375C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0957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6534A7-143C-4655-A209-F4C73DA7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171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C77509-0449-4FBA-9C7B-197C03CD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243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Payment confusion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8EB638-EF52-4378-A689-54123DC0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057650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Approval treated as collection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DB7A61-DFBF-4AAC-8649-DD604D729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4057650"/>
            <a:ext cx="309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Claim and receipt stored separately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94FCB9-2E71-47F1-A26B-D943E215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734675" cy="752475"/>
          </a:xfrm>
          <a:prstGeom xmlns:a="http://schemas.openxmlformats.org/drawingml/2006/main" prst="roundRect">
            <a:avLst>
              <a:gd name="adj" fmla="val 8861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6E5E3B-FC43-460B-86FE-7F6806D2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0387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0668D2-841D-4DBC-86AC-F95F5E41E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149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1D0480-9A94-4178-A950-950FEFED9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Discharge delay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5722A8-A9C7-4577-9320-D6C80A2D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000625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Charges assembled at the end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110688-F332-4284-AF37-17976873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5000625"/>
            <a:ext cx="3095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Running bill stays current</a:t>
            </a:r>
          </a:p>
        </p:txBody>
      </p:sp>
    </p:spTree>
    <p:extLst>
      <p:ext uri="{BB962C8B-B14F-4D97-AF65-F5344CB8AC3E}">
        <p14:creationId xmlns:p14="http://schemas.microsoft.com/office/powerpoint/2010/main" val="9786494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7DE7DC-E15F-4937-9150-AD7F9BE53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AE7183-E4BE-4128-B2A4-AAC94266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LITERATURE REVIEW / STANDARDS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79233A-7CB3-4D6B-B3DE-E964730D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Evidence behind the billing design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991A9A-1CA2-49D4-BA45-DB497FE54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66A3F-2B52-4439-A5F4-FD5AFF75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E3CEF2-2412-43C8-9866-5C63CC14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3F2649-6B65-4761-9EA4-A466D86C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6668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7376CD-732A-4ADD-9843-FAF379A2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430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1B6292-E9FD-4426-A6E5-276034F6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600200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D00ABF-8ED4-4932-96C1-A139DEDE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049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Itemised billing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39A9BF-F988-4335-A21B-0FDB9F221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69545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Patients’ Rights Charter supports a clear charge list and receipt for the patient.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3CBB0D-DB79-4216-A554-308133C3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24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96931E-9B64-4502-957F-C0BBE9EB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8003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657E35-B6B6-4919-AEF1-A8C31BC4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5747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732C66-98FE-48AC-815F-CB63E4E4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6225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Charge versus invoice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E8A9EF-CD1C-4E59-AA0C-7C015AFF0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5272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HL7 FHIR separates a performed ChargeItem from the priced lines of an Invoice.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A927B0-9610-4D1C-AC18-32C35BF1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7814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5E71C4-61DA-422F-9145-68D6B3A5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8576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0947D3-96EF-421C-A0C3-6E65905A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714750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BEC68D-82FE-4E96-81A9-1CA89427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1952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Payer workflow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DD772C-1AC8-4B64-813D-E3BF99027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1000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IRDAI describes preauthorisation for cashless care; NHA uses package rules for PM-JAY.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97097C-1A4B-4771-970D-760ED6D7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38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EA09AE-8AA6-4314-A740-02C3554E1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914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A54D60-A7F9-48A2-A0A3-2A254CEF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7720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FC5C1A-1AA8-450C-B3E6-BB3F2C3E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768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HIS data model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44D0F2-086F-4CAC-9A18-8C9AF645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672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Course lectures on ER, ICD-10 and HL7 informed the encounter and code fields.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090991-B199-465B-8FEB-227CE30A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Sources: MoHFW, HL7 FHIR R4, IRDAI, NHA and DH 308 course material. Full references are on the final slide.</a:t>
            </a:r>
          </a:p>
        </p:txBody>
      </p:sp>
    </p:spTree>
    <p:extLst>
      <p:ext uri="{BB962C8B-B14F-4D97-AF65-F5344CB8AC3E}">
        <p14:creationId xmlns:p14="http://schemas.microsoft.com/office/powerpoint/2010/main" val="18099352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42B0F2-43F6-4F1A-B340-B4A6C3AAE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CA9CD0-7EB3-45C2-A2A8-2CCD3A537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LITERATURE REVIEW / STANDARDS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A324D2-3B39-4A81-AE3E-3CE167CC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Clinical and billing codes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9A0861-3C2E-4A4A-B240-2F8783EE6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0C6577-57CF-48A3-8126-CB921CDE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8C0880-37A2-4D8E-A063-5DCABC16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EFCE88-D3CB-499B-BC6F-1C3332DD9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Different codes answer different questions. The system stores each code with its source.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AD8A1E-45C0-41B5-972F-36231244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095500"/>
            <a:ext cx="2286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5D6A1C-0BCE-4178-8736-B83C9EA02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95500"/>
            <a:ext cx="3619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MEANING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A160BA-DCAF-4963-A881-DAFD2A88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95500"/>
            <a:ext cx="419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USE IN THIS DESIGN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92BA16-F03B-4D2E-83F3-61589008A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10734675" cy="4953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291EF4-BF21-4F1F-8019-7AFEBD1D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590800"/>
            <a:ext cx="2181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ICD-10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328038-3FCC-4680-AD61-90AE2A80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90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Why was care needed?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7E1C2B-6892-4466-8F3D-C4D5D8E3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71750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Doctor diagnosis and claim context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D72375-C175-44C6-BA4D-79BE166CB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38475"/>
            <a:ext cx="10734675" cy="4953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1ED6BA-88CB-41C2-BBDD-3120E1A2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152775"/>
            <a:ext cx="2181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Service code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CD8C54-7BA1-47D5-86F6-1DB6177D3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5277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What was done?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1B15AB-6007-4196-B79B-3FE339BA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33725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KIMS bill examples: PAT0042, BIO0121, MIC0251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F2449F-037A-4E47-B952-88876A6F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00450"/>
            <a:ext cx="10734675" cy="4953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02DBB9-86F8-4BF9-8CCE-FE4E5445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714750"/>
            <a:ext cx="2181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CPT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BEFE9F-7394-4112-BC85-49EC428B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14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External procedure mapping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DFAEB8-BDC0-4A95-AA35-3AD9B79C4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95700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Optional licensed mapping, not the default Indian tariff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53ECD6-9C79-4905-A33B-D5B2DA82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62425"/>
            <a:ext cx="10734675" cy="4953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D39BAC-9334-409F-BA72-823464D8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276725"/>
            <a:ext cx="2181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LOINC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5122FA-B6CF-48DB-A3E4-98534DCD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7672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Which lab observation?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69F02A-9F8A-4D72-B832-5A7B93E3F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257675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LIS integration when a coded lab result is available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2626E4-1E43-4B14-BB2D-FAEFEE04E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24400"/>
            <a:ext cx="10734675" cy="4953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5561DC-1531-4A29-8CF2-53D2EA6B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838700"/>
            <a:ext cx="2181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HSN / SAC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3EC264-C5BC-4180-AD71-1A2B4CAAB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387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What is the GST class?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95546B-27B0-4C15-A02B-E8F8F894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819650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Pharmacy goods and billable service classification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88EDAF-6B97-4BED-B647-9099E2D49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86375"/>
            <a:ext cx="10734675" cy="4953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8C5130-C203-4732-AFA3-93531447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400675"/>
            <a:ext cx="2181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PM-JAY HBP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CFACDF-80C8-49C1-AF8C-27EDB968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0067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Which scheme package?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8FE412-6317-419E-B7C4-DC62E0994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381625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Rate and claim route for an empanelled case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F380D3-34FA-4C3C-B7A1-E3757CC6F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WHO ICD; MoHFW EHR standards (CPT is optional and licensed); DH 308 ICD/LOINC lecture; NHA HBP manual. Service codes are from the supplied KIMS bill.</a:t>
            </a:r>
          </a:p>
        </p:txBody>
      </p:sp>
    </p:spTree>
    <p:extLst>
      <p:ext uri="{BB962C8B-B14F-4D97-AF65-F5344CB8AC3E}">
        <p14:creationId xmlns:p14="http://schemas.microsoft.com/office/powerpoint/2010/main" val="1099701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63FE93-3866-4326-84D7-6E92C388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0DFA0A-2919-4696-971E-2F891B12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LITERATURE REVIEW / STANDARDS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4BF89B-8308-4B60-B96F-7DD264DD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GST rules the prototype applies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1B38E6-9000-4AD1-85E5-2A82BE55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947EFA-3D9C-4B42-B7D4-0B4F23870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29A4A4-B9FE-456F-8488-3289DFE8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D8CE11-C624-4A2C-9E21-608CBF0D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tariff stores tax treatment by item and supply context.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CC2FE9-660D-487A-B631-361B7D807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43125"/>
            <a:ext cx="10744200" cy="647700"/>
          </a:xfrm>
          <a:prstGeom xmlns:a="http://schemas.openxmlformats.org/drawingml/2006/main" prst="roundRect">
            <a:avLst>
              <a:gd name="adj" fmla="val 7353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155B40-928B-4349-957D-6FF477810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05050"/>
            <a:ext cx="3143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Clinical care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0315CC-329A-4962-A573-EDDEE072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2860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Qualifying consultation and treatment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8E901A-D331-495E-8B7A-F4AF5307E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95525"/>
            <a:ext cx="1733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Exempt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FD7D37-8DF5-432F-B611-586D43E8A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24175"/>
            <a:ext cx="10744200" cy="647700"/>
          </a:xfrm>
          <a:prstGeom xmlns:a="http://schemas.openxmlformats.org/drawingml/2006/main" prst="roundRect">
            <a:avLst>
              <a:gd name="adj" fmla="val 735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E2A01F-DA9C-4BC0-877B-F0F168626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6100"/>
            <a:ext cx="3143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Separate OPD medicine sale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42EDCF-03C6-43D9-BA4C-5CCF0AFD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0670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KIMS pharmacy sample: ₹4,801.38 taxable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3EF6DC-D33B-403E-9F7B-C7D77F3C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076575"/>
            <a:ext cx="1733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5% GST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35164B-A3A4-4DD7-854C-ADDDE3BD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05225"/>
            <a:ext cx="10744200" cy="647700"/>
          </a:xfrm>
          <a:prstGeom xmlns:a="http://schemas.openxmlformats.org/drawingml/2006/main" prst="roundRect">
            <a:avLst>
              <a:gd name="adj" fmla="val 7353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17278C-DA56-4DD0-A6D4-AB6045B94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67150"/>
            <a:ext cx="3143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Notified nil-rated medicine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06607B-7A08-4353-B758-31C139A21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8481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Rate follows the product classification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424B32-2B7A-48C3-81C2-5E6B71158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57625"/>
            <a:ext cx="1733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Nil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8B4126-B413-4BE7-99BE-D7B8F810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10744200" cy="647700"/>
          </a:xfrm>
          <a:prstGeom xmlns:a="http://schemas.openxmlformats.org/drawingml/2006/main" prst="roundRect">
            <a:avLst>
              <a:gd name="adj" fmla="val 735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1471E2-8546-424F-BD74-1E817947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48200"/>
            <a:ext cx="3143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Specified non-ICU room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CC4F7C-AD3B-42F0-A1B3-955F5F01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6291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Example: ₹6,000 per day, above ₹5,000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67B04B-CB3A-4397-9851-71612E4AF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38675"/>
            <a:ext cx="1733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5%, ₹300 tax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1796C7-9CCC-4CC6-9324-34071A09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81625"/>
            <a:ext cx="10620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Inpatient medicines supplied as part of qualifying hospital care need a composite-supply review; the OPD pharmacy rate is not applied automatically.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3C3A98-5667-4181-AB88-C1C6A5EBE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GST Council 2025 medicine FAQ; CBIC service rate entry 31A (5% without ITC); notification 12/2017 and inpatient AAR orders.</a:t>
            </a:r>
          </a:p>
        </p:txBody>
      </p:sp>
    </p:spTree>
    <p:extLst>
      <p:ext uri="{BB962C8B-B14F-4D97-AF65-F5344CB8AC3E}">
        <p14:creationId xmlns:p14="http://schemas.microsoft.com/office/powerpoint/2010/main" val="19728788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9C10FA-9C38-4FE4-BAD1-4B64DD2E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15B519-5921-4B38-BA98-B50C7F40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11225C-E40B-4B19-AD90-388C0A8FB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System modules and integration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DB3CFA-CEC6-4218-8148-91408464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152D1A-4E32-4582-ADEA-6D19A006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FBB1CF-73CE-4050-817D-CC1A5C0C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E734A2-E9EC-4F0C-BC94-541FA340C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81150"/>
            <a:ext cx="10363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Three desks work on the same encounter. FastAPI checks each write before PostgreSQL stores 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36DDA2-FAC8-4A7F-9741-FFC183423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3276600" cy="1057275"/>
          </a:xfrm>
          <a:prstGeom xmlns:a="http://schemas.openxmlformats.org/drawingml/2006/main" prst="roundRect">
            <a:avLst>
              <a:gd name="adj" fmla="val 6306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BD2027-912E-4233-90C1-D062BD28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DOCTOR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B8B2DF-243A-46CF-BCE6-D9981311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76575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Note, ICD-10, service, prescription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7E2644-F065-420A-928C-A844F86F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495550"/>
            <a:ext cx="3276600" cy="1057275"/>
          </a:xfrm>
          <a:prstGeom xmlns:a="http://schemas.openxmlformats.org/drawingml/2006/main" prst="roundRect">
            <a:avLst>
              <a:gd name="adj" fmla="val 630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21BEB4-1091-43F2-8C6A-98BA3BB6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86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F5342C-1601-489E-98E8-34C248199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76575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Prescription, batch, dispense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CE6337-FD47-4822-A691-004DCB93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495550"/>
            <a:ext cx="3276600" cy="1057275"/>
          </a:xfrm>
          <a:prstGeom xmlns:a="http://schemas.openxmlformats.org/drawingml/2006/main" prst="roundRect">
            <a:avLst>
              <a:gd name="adj" fmla="val 630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A44887-85B6-441F-8C19-ED631EFA7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86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B9B8FD-8664-4CEB-9684-2E579F39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76575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Room, payer, invoice, receipt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65BD3D-F030-4DB7-9925-6BB39762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62400"/>
            <a:ext cx="100965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43048B-44F9-44AD-8064-FFC1F90B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1719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FastAPI: access checks, charge capture, tax rules, claim state and invoice lock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F868AF-6873-4FE0-950D-D37BF7B3B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153025"/>
            <a:ext cx="6315075" cy="666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B8F637-C335-4D12-BDC4-78633FBF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5334000"/>
            <a:ext cx="5962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PostgreSQL: linked records and audit events</a:t>
            </a:r>
          </a:p>
        </p:txBody>
      </p:sp>
    </p:spTree>
    <p:extLst>
      <p:ext uri="{BB962C8B-B14F-4D97-AF65-F5344CB8AC3E}">
        <p14:creationId xmlns:p14="http://schemas.microsoft.com/office/powerpoint/2010/main" val="8971462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52F215D-6095-47CC-9792-7A5E0EBA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AC51D4-1592-4535-8453-C09E56CB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2515A6-D49D-41C8-BFFA-FAF25106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Database schema: the useful links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C57DF3-E9E2-4F10-9CBA-0B9673F9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DA927C-D1D8-4371-8DF7-0E1E3D8B3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37F63B-D7A7-45BD-9D59-58369DF12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AF91D6-C538-4D3F-A578-D3EA9E47B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CARE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E1D1CF-E366-4A50-B981-49D6B439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6692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553D5A-B641-4926-8139-1C95A8E50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6217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patients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96A366-DF85-4716-B8A7-202D956A4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patient_id (PK)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4561AB-9581-478E-BF2E-9D33586B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E2D115-C82C-4858-8B10-235F0DF2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encounters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A72296-1176-4368-99A1-779E498EB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8612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encounter_id (PK), patient_id (FK)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CDC4A2-EDA1-4F45-889E-CDBE11E7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0F188B-E54B-4ED3-8683-37086625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5762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clinical_notes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4C59B4-EC09-48EC-9290-90B2C51D5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encounter_id (FK), ICD-10, procedure code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E5C775-A671-4BF7-9E95-D395E6918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02AC35-1DC4-4273-8710-E44B20A4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prescriptions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50D1C8-5C63-4310-8082-97A545758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8157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encounter_id (FK), pharmacy item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2BD4E1-B412-4D9A-B546-A2DDFDFF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638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789B79-8269-4206-B592-F613E825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06692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3F004B-1E71-4394-B8DA-03D16418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6217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services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BA0525-326E-4AAB-9DF5-96AF5B5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43840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service_code (PK), tariff, tax rule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C3DB40-5EF9-43C1-B936-2F862718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91465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983C0A-EBA1-4B62-B78A-FC027F6A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00990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charges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2BE86F-87EC-48E0-9E76-210304E46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28612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charge_id (PK), encounter_id (FK), event 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EFA736-8689-4913-A25F-797234BE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76237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3F9EE6-E4AE-4763-8AC8-681881B12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85762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invoices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33E13D-339C-467B-94B7-2A4FD7DCD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13385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invoice_id (PK), encounter_id (FK)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D3CE3F-F3F1-4B8D-91DF-24B65E431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61010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705B37-74D1-40E2-BB3A-803DD74B4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70535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invoice_lines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148C7A-A83A-4764-BCF5-3FE166CC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8157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invoice_id (FK), charge and tax snapshot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91AE13-6454-4B69-A48E-AF101E1F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38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PAYER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1BA3C97-96A7-497B-B446-13229AA9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6692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27B8293-C0C5-401C-8E7A-45888B71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6217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coverages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701D229-7E26-47F1-99B1-FFC7B596D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43840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encounter_id (FK), payer route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5A0A4F6-EE71-4A3A-9523-08C927093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1465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025AD7C-240C-4AB4-86D3-FBC1E13C0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0990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preauths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67934A-5069-4D4D-8AF1-4FF662430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8612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encounter_id (FK), approved amount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14AB96B-22D2-43D3-B97F-4793A227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62375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7262906-2E16-4906-A85F-A5CB93A75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57625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claims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7D2DEE-C084-4425-B3D4-1BD48F11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133850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invoice_id (FK), diagnosis and status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D173136-699D-4BDF-943D-2EF6AFF3F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10100"/>
            <a:ext cx="330517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BDFA44E-2631-41E6-B356-62A4F07E0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705350"/>
            <a:ext cx="3019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receipts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2762DF7-04F0-411C-AADE-1AB83486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981575"/>
            <a:ext cx="3028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invoice_id (FK), payer and amount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D5E5C49-213F-4E1B-898A-FB6322BBF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43575"/>
            <a:ext cx="10744200" cy="390525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6D6CB20-1915-45B4-8F82-532A8EA2E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819775"/>
            <a:ext cx="103536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One encounter has many charges and at most one final invoice.</a:t>
            </a:r>
          </a:p>
        </p:txBody>
      </p:sp>
    </p:spTree>
    <p:extLst>
      <p:ext uri="{BB962C8B-B14F-4D97-AF65-F5344CB8AC3E}">
        <p14:creationId xmlns:p14="http://schemas.microsoft.com/office/powerpoint/2010/main" val="36720656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44C6A0-B108-49FC-B5EA-2D06BACE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A2F7AF-C5F7-47F1-BBDB-80A99632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8F07DC-3C63-4A99-A2F1-EF386FBAB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Chen notation ER diagram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714172-A5F3-4111-80EC-345C549B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27DCF-1A17-42B9-BD95-34ABDE406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87F437-D0F5-4F50-A12C-A5C793AF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88F26A-A29D-4D3C-BFF7-1C1452CFF0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de3028350b4055"/>
          <a:stretch xmlns:a="http://schemas.openxmlformats.org/drawingml/2006/main"/>
        </p:blipFill>
        <p:spPr>
          <a:xfrm xmlns:a="http://schemas.openxmlformats.org/drawingml/2006/main">
            <a:off x="2036296" y="1514475"/>
            <a:ext cx="8109883" cy="4286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52EF4B-8195-45F0-9293-FBA90BC8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0072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This conceptual diagram was supplied for the project. It links HIS, pharmacy, billing and external payer entities.</a:t>
            </a:r>
          </a:p>
        </p:txBody>
      </p:sp>
    </p:spTree>
    <p:extLst>
      <p:ext uri="{BB962C8B-B14F-4D97-AF65-F5344CB8AC3E}">
        <p14:creationId xmlns:p14="http://schemas.microsoft.com/office/powerpoint/2010/main" val="12656878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74F1CC-8453-410C-87CE-A7732367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EA41EE-5916-4BA4-94EE-F7994266F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8BF20D-D1BB-45E2-AD13-9CDC1841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ER detail: patient and registration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04D1DD-8A54-4A1A-BB06-1B95F1C1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11CE2B-49BE-4B56-8CB4-8DB743AF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F853D2-426C-46ED-A2C0-5963ADD5E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F92809-818C-4F01-9214-6F3C198733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8910a48e154d87"/>
          <a:stretch xmlns:a="http://schemas.openxmlformats.org/drawingml/2006/main"/>
        </p:blipFill>
        <p:spPr>
          <a:xfrm xmlns:a="http://schemas.openxmlformats.org/drawingml/2006/main">
            <a:off x="2433309" y="1504950"/>
            <a:ext cx="7258707" cy="4210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A1C059-A451-4FA0-BD18-B94D65C2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53100"/>
            <a:ext cx="10525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One patient can have many registrations. Each registration connects to the doctor and later bill.</a:t>
            </a:r>
          </a:p>
        </p:txBody>
      </p:sp>
    </p:spTree>
    <p:extLst>
      <p:ext uri="{BB962C8B-B14F-4D97-AF65-F5344CB8AC3E}">
        <p14:creationId xmlns:p14="http://schemas.microsoft.com/office/powerpoint/2010/main" val="197607291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F35496-5007-4C1A-9D76-D748B89E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68ECE-D308-4DA7-BCBD-6EB6A082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SYSTEM DESIGN &amp;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4E9C52-888D-45B7-82F3-45372A356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ER detail: claim and insurance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2B1E02-FED0-4CE0-B800-F58A7392E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7B9651-2C46-4DA4-BB01-282E8DF8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9D8930-42DC-4FBD-9698-5E6117437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48CC83-3987-4FB0-92E7-7EBDCD58E46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7b8a05d89d4ee2"/>
          <a:stretch xmlns:a="http://schemas.openxmlformats.org/drawingml/2006/main"/>
        </p:blipFill>
        <p:spPr>
          <a:xfrm xmlns:a="http://schemas.openxmlformats.org/drawingml/2006/main">
            <a:off x="1120802" y="1504950"/>
            <a:ext cx="9940871" cy="4095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8EE2BD-776C-4BA1-A2B3-8EE749B0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62625"/>
            <a:ext cx="105441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 claim records its approved amount and status; it belongs to an insurer. The full diagram links it back to a bill.</a:t>
            </a:r>
          </a:p>
        </p:txBody>
      </p:sp>
    </p:spTree>
    <p:extLst>
      <p:ext uri="{BB962C8B-B14F-4D97-AF65-F5344CB8AC3E}">
        <p14:creationId xmlns:p14="http://schemas.microsoft.com/office/powerpoint/2010/main" val="76891462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E89683-714A-4FD4-964B-F775A4961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E792E5-7164-42AD-B1AD-DFB9C611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PROTOTYPE ASSUMPTIONS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434C97-B577-4DE0-B9AE-4993411D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What our demo assumes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5DE2D6-636D-4FB5-A850-2959868A2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BD47F9-91B4-4BED-99E6-8010EAE8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2B7D5E-5582-4661-8E2F-E4CE9967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80C4A3-DF66-4F73-9C15-AE092D62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27406C-707C-4A5C-AC2D-52B74FEA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C11E6B-DD50-4C2B-826F-3F1B7ABAC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581150"/>
            <a:ext cx="10067925" cy="638175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2D606A-6333-4E73-B0CD-6A0F4FF5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430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Hospital size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E82B56-A2EF-40E7-AF09-00AB6A5B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17049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working scope represents a 20 to 50 bed hospital.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BE4347-B59E-4178-A155-79DBB5BA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527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71D1A4-A708-4C3E-B07A-BF23EDFF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289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7F6963-7270-4920-A97B-D7DAB101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419350"/>
            <a:ext cx="10067925" cy="638175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A1FF66-DC2B-4BFB-B693-3B29D757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812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Patient records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425B60-9C57-4FFB-9CA7-8C250579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25431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All patients, prices, identifiers and clinical notes are invented.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3D260C-6135-452A-B392-2527EF609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909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EE5C3B-BE68-4CEB-B7AC-F3CB83882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671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06946E-CEDD-49F2-AE24-44B066CD0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257550"/>
            <a:ext cx="10067925" cy="638175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FAEAD8-4553-4ACD-A947-B9C54E200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194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External systems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5C335C-AE7D-4619-B1F9-8A39B5EA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33813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HIS events are local API calls. TPA and PM-JAY replies are simulated.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9FE20C-39AE-42E4-8AE6-4E4FA4FE5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9B0F7C-81E1-46AD-954C-F44A3253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053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7BDB1C-7523-4CD0-8BB0-5E980897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095750"/>
            <a:ext cx="10067925" cy="638175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8940B5-7AD4-4CB0-8433-114BB49D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576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GST master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9E2198-347F-440E-8278-B14F25E5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42195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Training rates illustrate rules. A real hospital must verify product HSN and current tariff.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F6C42F-7EB2-43C1-BDCA-47052BDC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67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493D34-6B53-4B69-9CD4-0D8725E4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435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AE3E14-492A-4663-8865-2C2F6014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933950"/>
            <a:ext cx="10067925" cy="638175"/>
          </a:xfrm>
          <a:prstGeom xmlns:a="http://schemas.openxmlformats.org/drawingml/2006/main" prst="roundRect">
            <a:avLst>
              <a:gd name="adj" fmla="val 1044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A4CC66-F658-47DB-9942-ED3DBA788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95875"/>
            <a:ext cx="2352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Diagram scope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241C22-0F2E-4B9C-A6EC-77A0C5750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5057775"/>
            <a:ext cx="716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supplied Chen diagram also shows LIS and RIS as conceptual modules.</a:t>
            </a:r>
          </a:p>
        </p:txBody>
      </p:sp>
    </p:spTree>
    <p:extLst>
      <p:ext uri="{BB962C8B-B14F-4D97-AF65-F5344CB8AC3E}">
        <p14:creationId xmlns:p14="http://schemas.microsoft.com/office/powerpoint/2010/main" val="17150301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50BB3C-DC05-4CB9-AAA3-E291C8A9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C23C98-5D8A-4E64-BD52-D224176D9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TECHNICAL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536969-B448-46F9-8E21-DF0152B1D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Prototype implementation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F1F47D-0CE8-4E10-91CE-72B78E8B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25BE11-B360-4674-92C3-A29E6645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30E1A8-22DD-42EE-9750-9663CD42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1942CA-33D9-4C67-9FCE-45EA7800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24025"/>
            <a:ext cx="3333750" cy="1695450"/>
          </a:xfrm>
          <a:prstGeom xmlns:a="http://schemas.openxmlformats.org/drawingml/2006/main" prst="roundRect">
            <a:avLst>
              <a:gd name="adj" fmla="val 3933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3A9D46-E758-42A9-BFB3-4FC752C0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240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DDA67D-5D85-4174-9494-E95C0D15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A2C380-FBC6-453A-ADA9-4CEB2BDE1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28875"/>
            <a:ext cx="28860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Next.js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A204A6-F06B-43EF-95D0-351CA0D0B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9146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Role screens for doctor, pharmacy and billing.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86677A-C6E6-43EA-A10C-A59633526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724025"/>
            <a:ext cx="3333750" cy="1695450"/>
          </a:xfrm>
          <a:prstGeom xmlns:a="http://schemas.openxmlformats.org/drawingml/2006/main" prst="roundRect">
            <a:avLst>
              <a:gd name="adj" fmla="val 393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361298-4941-4143-B2EE-7D2D21132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9240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85472-BE03-4C27-AE7F-55B36117F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002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03B9F3-CEF8-433F-BD2A-1121A1355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28875"/>
            <a:ext cx="28860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FastAPI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907E22-18B1-4E91-8C30-C023FBC7F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146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Validates care events, dispensing, tax and payer steps.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0A63C9-36B9-4B15-BBA5-4AE2BE663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24025"/>
            <a:ext cx="3333750" cy="1695450"/>
          </a:xfrm>
          <a:prstGeom xmlns:a="http://schemas.openxmlformats.org/drawingml/2006/main" prst="roundRect">
            <a:avLst>
              <a:gd name="adj" fmla="val 393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E92C25-58A4-4400-AC93-74D2A3CE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9240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14B36B-B39B-4575-885E-A3FACD83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002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A1EAB5-DEFA-4C53-BFA5-61E8EB1B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428875"/>
            <a:ext cx="28860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PostgreSQL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384CB-4472-4041-8928-5FF65F57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9146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Links patients, encounters, charges and receipts.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0FE9A1-4BF3-4D1C-B742-F73D3A6F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33825"/>
            <a:ext cx="333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Core API calls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9BB6F0-CA22-406B-90DC-05E0CA12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400550"/>
            <a:ext cx="4171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/api/his/events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F03124-BE60-4DBF-8094-0334B2BC6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4400550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delivered care item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C2318B-CDC1-4EFF-B553-295207D2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724400"/>
            <a:ext cx="4171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/api/pharmacy/dispense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5DCFAB-61FF-48AC-B460-3F1F076F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4724400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stock plus charge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1CE93A-E7EB-4AB8-9FF0-C9619124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048250"/>
            <a:ext cx="4171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/api/invoices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328ED9-9142-461B-A02F-653167491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5048250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one final bill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E404D0-70D3-478F-B806-B3A344FA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372100"/>
            <a:ext cx="4171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/api/claims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621564-D2F1-4379-9770-D82A6EAB8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5372100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payer submission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693823C-101B-4F00-AE88-835B96AF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695950"/>
            <a:ext cx="4171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POST /api/receipts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E2EF7B-3372-4859-A6B8-74DA9C3E9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5695950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money received</a:t>
            </a:r>
          </a:p>
        </p:txBody>
      </p:sp>
    </p:spTree>
    <p:extLst>
      <p:ext uri="{BB962C8B-B14F-4D97-AF65-F5344CB8AC3E}">
        <p14:creationId xmlns:p14="http://schemas.microsoft.com/office/powerpoint/2010/main" val="190365567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C79E70-FFDA-4739-A434-D8B1B37A5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EE02C1-0906-4AFC-8FA1-F4E124C0D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TECHNICAL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20B1DD-E2F8-4945-8D14-0090F30D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Backend rules that prevent common errors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9103E4-CBBE-4869-9998-3A18EE6FD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51EA28-EA7B-45D5-81D4-375D53841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9CE457-F447-4C96-9D72-56BC899B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80E272-0950-40F6-A1E4-0CECA2049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6764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46118D-E33D-448C-8C31-EE7524B96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526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0B2F1C-D935-4CB8-B426-B0128F0AA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6097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EC6D8-A09D-4A0A-9AD3-30CC1DCA2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145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Service event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18CB81-3306-4173-973A-4F0462E68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049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 source event ID can create one charge. The same retry returns it; a changed retry fails.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B059A7-18F9-4438-99EF-919D4D6C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336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768E88-1972-45C1-93AE-7A194177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8098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D3C17C-640D-444F-BD8E-1672E47A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67000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B08452-C46E-44FD-838E-3CCF6A9A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717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568EA8-A78B-4C62-93A0-3E332E9D1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6225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 prescribed item needs an open order and available unexpired batch stock.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12CF36-A0FF-429E-9B1C-0838911B9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7909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CF243F-0745-4C08-B55B-8962C5B0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8671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6F8AB2-2FCB-454B-B30D-C6E05CEA2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72427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3352F8-F20F-4793-8B72-035E4CD72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2905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Final invoice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A43A6A-DD68-4FFF-A6FE-787851E6D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1952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system copies charge details into invoice lines and locks the encounter.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240032-D413-4BC6-89A8-1E2037B3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48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D5CDC5-C7B2-491D-90DA-1F1DAB6D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9244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FBE1C8-90FB-4220-A6C5-8415E24A8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781550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A97C3F-7A11-45EC-BBD9-CD18CB11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8632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Payer receipt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377B2B-3BCE-43E9-8C9E-FCFEE6944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7680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An approved claim does not settle the bill. Only a posted receipt reduces the balance.</a:t>
            </a:r>
          </a:p>
        </p:txBody>
      </p:sp>
    </p:spTree>
    <p:extLst>
      <p:ext uri="{BB962C8B-B14F-4D97-AF65-F5344CB8AC3E}">
        <p14:creationId xmlns:p14="http://schemas.microsoft.com/office/powerpoint/2010/main" val="211578755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EF9E71-F20B-43F9-8D93-50E8C189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9F2249-9941-4838-A04F-7BA7CA90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DATA FLOW &amp; INTEGRATION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802560-7DD9-41EF-8839-B5D12394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OPD example: Ananya Rao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6EA48A-1D3B-4F15-87D2-647405B9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1A41DB-CA4F-4915-ADA9-A2E492859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24DCFB-6733-4C40-B4AB-BC35C40E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C81097-A86A-4E30-9F3C-F8DE3A7F5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552575"/>
            <a:ext cx="102108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invented OPD visit begins with ₹500 consultation and ₹350 CBC already captured.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C8F0B0-6C2D-4706-BA98-C045EC59F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47925"/>
            <a:ext cx="10734675" cy="657225"/>
          </a:xfrm>
          <a:prstGeom xmlns:a="http://schemas.openxmlformats.org/drawingml/2006/main" prst="roundRect">
            <a:avLst>
              <a:gd name="adj" fmla="val 1014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2F50E8-83AB-4BF2-A8E0-F77C50B7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590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ADBB4C-EB83-4026-92E8-CEF27D3C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6670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E5E0D7-036B-4A92-ADC6-D50757098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259080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Doctor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189D97-13DC-452A-87EA-2A247013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590800"/>
            <a:ext cx="701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Prescribes 2 training medicine units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A2A846-44C9-4631-B5A7-133D70C4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10734675" cy="657225"/>
          </a:xfrm>
          <a:prstGeom xmlns:a="http://schemas.openxmlformats.org/drawingml/2006/main" prst="roundRect">
            <a:avLst>
              <a:gd name="adj" fmla="val 10145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08DB00-00BA-4C69-9668-40E511EE1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4004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273166-4AE4-4337-96A5-EFD3553A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4766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832A41-B75E-40FE-9087-70F21877F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3400425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DFDAAB-70EA-4E72-A900-E64171BE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400425"/>
            <a:ext cx="701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Dispenses 2 × ₹100 from a batch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91CA3D-1AAB-40C8-A68A-7A461E3A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67175"/>
            <a:ext cx="10734675" cy="657225"/>
          </a:xfrm>
          <a:prstGeom xmlns:a="http://schemas.openxmlformats.org/drawingml/2006/main" prst="roundRect">
            <a:avLst>
              <a:gd name="adj" fmla="val 10145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4CF78A-AA02-45D6-8AB7-93AEC337A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2100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4F56F9-FCF1-4CAC-8F00-E9DEBE96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2862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05FA89-83D8-4A87-BDCC-11CF8818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210050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Billing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3B9885-7FFD-4EB6-9E19-6FDC43F4E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210050"/>
            <a:ext cx="701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Adds ₹10 GST on this separate OPD sale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E0741C-2CDC-4035-93B4-2D4DE1CB8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10734675" cy="657225"/>
          </a:xfrm>
          <a:prstGeom xmlns:a="http://schemas.openxmlformats.org/drawingml/2006/main" prst="roundRect">
            <a:avLst>
              <a:gd name="adj" fmla="val 10145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C56895-79E4-43D7-94DB-7A705116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0196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1FE017-5907-4C5B-B461-7FB719DE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0958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B41EA4-BD06-44B3-A824-68A52C0C5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5019675"/>
            <a:ext cx="2590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Invoice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344383-10E7-44C9-BDDA-04E4D093F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019675"/>
            <a:ext cx="701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₹500 + ₹350 + ₹200 + ₹10 = ₹1,060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DE1D31-590D-4E22-A473-B423F7A5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864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Same encounter ID links the note, prescription, dispense, charge and invoice.</a:t>
            </a:r>
          </a:p>
        </p:txBody>
      </p:sp>
    </p:spTree>
    <p:extLst>
      <p:ext uri="{BB962C8B-B14F-4D97-AF65-F5344CB8AC3E}">
        <p14:creationId xmlns:p14="http://schemas.microsoft.com/office/powerpoint/2010/main" val="65729441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25357A4-5A66-4157-B64A-D417A0A4F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9CE19-C698-451F-A547-01A94BAE2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DATA FLOW &amp; INTEGRATION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84E0C-A0F2-4B3C-BB2B-E386CDFD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IPD insurance and PM-JAY flows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31A8E4-B987-4020-93E5-3D0409A10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3A193A-E63E-461E-82A6-7FDE5F178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C6CCE9-5474-44B5-A03C-7F265BD4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8AA210-175C-4436-920E-841385933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057775" cy="4076700"/>
          </a:xfrm>
          <a:prstGeom xmlns:a="http://schemas.openxmlformats.org/drawingml/2006/main" prst="roundRect">
            <a:avLst>
              <a:gd name="adj" fmla="val 163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206F78-06A4-43A9-82C7-9D010FB8E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00200"/>
            <a:ext cx="5057775" cy="4076700"/>
          </a:xfrm>
          <a:prstGeom xmlns:a="http://schemas.openxmlformats.org/drawingml/2006/main" prst="roundRect">
            <a:avLst>
              <a:gd name="adj" fmla="val 1636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EDBA38-7E30-4E2A-8E4C-9B89E1A8E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80975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Private TPA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CE48AD-8D3D-480E-955D-D888419A4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180975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1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PM-JAY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289FB2-39EA-48E1-A109-7B602406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3907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6BF94-D970-431B-848F-C579D12D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4669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49B07D-D1A1-4B9E-97E9-0A388238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457450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Coverage and payer rate linked to encounter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7274E1-8720-40EB-8B10-BE8C8B16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099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F5B806-4BC6-45F0-9883-75ADDA364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861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5811AD-1FDE-4D79-AB07-AA55825C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076575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Preauthorisation and approved limit recorded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C1FB0D-7C16-48DE-A6E1-7EC39899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6290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0156DC-F2AB-4C4D-A073-97A40F864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7052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EB587A-BAF9-46A3-99D3-D21A9897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95700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Daily room, procedure and medicine charges accumulate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08009A-BDCD-4230-83C3-5EDB1AFD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248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DD64B8-F3D4-4F48-8D4A-F5A5CAA3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3243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E6B65C-3521-4E8F-8E69-E438AD70F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14825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ICD-10, procedure code and documents join the claim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C68EAF-282B-4E9F-8E1E-756931EF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8672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DBF440-92AB-415E-ADC4-D3F38E6F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9434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AD8F16-DD4C-4C37-BD40-0DD5D2F5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33950"/>
            <a:ext cx="3971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Insurer receipt reduces the outstanding balance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D9C272-8859-4A3A-B517-FC522410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3907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75C726-4297-4F65-9640-0497FAFF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4669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0C7D59-F377-4C63-A89F-4CCD71A2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57450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Beneficiary check is simulated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C95CD1-6D3E-4FCC-80EF-891F73313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099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10F3D5-BEAD-4697-B03C-39A3A3B98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861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7E5B77A-5F54-438E-86F5-D092B760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76575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Training HBP package linked to encounter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E951FD-6FAB-4636-8CD1-597B6969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6290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4B65A3-EEB5-4964-AF48-16BA291F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7052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6A373E-9836-4222-9DF7-4B82A4FF7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695700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Preauthorisation is recorded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356DB4-974B-47E5-860A-AE99CEB0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248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19FAF8-DB9E-4F6E-B2FF-C75A4118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3243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8F278B8-FDE8-4860-A64F-3E019428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314825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Package invoice and claim are prepared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B430712-0C23-4EF1-ACC1-E67AFFBAC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8672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D6A39AB-284C-49BC-A419-D5CFDC50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9434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3087A52-4E45-4689-B6A6-0DA85CE75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933950"/>
            <a:ext cx="395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Patient collection is blocked in the demo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1F8F216-8365-48F3-B801-46295436B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NHA HBP manual and IRDAI health insurance guidance informed the state sequence. Portal responses remain simulated.</a:t>
            </a:r>
          </a:p>
        </p:txBody>
      </p:sp>
    </p:spTree>
    <p:extLst>
      <p:ext uri="{BB962C8B-B14F-4D97-AF65-F5344CB8AC3E}">
        <p14:creationId xmlns:p14="http://schemas.microsoft.com/office/powerpoint/2010/main" val="210789536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9012A7-9272-4483-9B69-362C242E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3DC621-D0C7-42F2-ADF6-9AB461ED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DATA FLOW &amp; INTEGRATION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070657-545B-4375-86A2-385272514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Finance outputs after invoicing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657851-8785-4D79-B2CE-2ADB1AC2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0902AD-EF75-4995-BEA3-D139A4FAB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1F9AA4-AD27-44AF-A1F9-F0B64248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16B581-0550-4A77-BD51-25C8889BC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71625"/>
            <a:ext cx="10420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invoice records the amount due. Claims and receipts determine who still owes 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148ECC-9596-4704-9E61-61768673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3241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E1D6A7-E3AB-4C27-8A1D-8DF9C9C25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003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865A6D-5C61-445D-9377-4E002D0C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2574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8D479C-B582-4308-89BF-8B88007C5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622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GSTR-1 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DFBF05-CE2A-45DF-869E-472F757A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3526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Separates taxable B2B, taxable B2C and exempt or nil supplies. Includes HSN summary.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EBCE82-35D9-4F06-8159-BA7FDC751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1908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BCBA13-5A59-4143-9954-0B96E43BF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2670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56AF02-DC8D-4430-A789-82AE2F3E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124200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75C3F-2533-4115-81CB-63A21DBF2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289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Insurance receivable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315C3C-2E32-42B1-9D94-0F2CD7F1E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21945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Tracks submitted claims, partial settlement and remaining insurer balance.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9612FC-3996-46E1-90AB-EDF6ADC4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0576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CFCBA2-31EA-477E-8C07-C9CCFB86F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1338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F50A12-0FD0-4EB8-9A1A-D4A62A00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99097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AA1705-D284-4F0A-9F0F-46C1F9ABF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9575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Patient balance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83F2CF-1271-4EFD-912F-E340162FB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8622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Records advances and receipts separately from the total invoice.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5D1A75-152E-4FC5-BB5C-6BB477E2E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9244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3DE49D-252B-4EF1-B34B-E2ECBFB4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00062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A625BD-CDEC-4A34-A6CD-1262496A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857750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E54850-01B8-4AE0-BF8D-FF0B58A7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6252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Daily report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733F13-8DCD-42AF-BA25-4056A0B43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53000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Shows collections and payer mix from posted records.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688A6F-31F5-489E-8571-D26494AC1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The GSTR-1 screen is a review packet for this prototype. It does not file or upload a return to the GST portal.</a:t>
            </a:r>
          </a:p>
        </p:txBody>
      </p:sp>
    </p:spTree>
    <p:extLst>
      <p:ext uri="{BB962C8B-B14F-4D97-AF65-F5344CB8AC3E}">
        <p14:creationId xmlns:p14="http://schemas.microsoft.com/office/powerpoint/2010/main" val="168880268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9D3B08-0B9F-4857-AB7E-511A6AE7C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048253-769F-42FF-94FA-9769335FD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RESULTS &amp; PROTOTYPE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3CF8BF-C0DD-4C0A-A6F0-509175FC3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Prototype coverage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63DE39-8DC6-46D1-8899-18F047C9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13EE9-AD5F-4263-8F3E-2CA58226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C5EAD6-E427-4776-A706-D85D4C0A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3E1CFD-39AA-4D9A-8C78-016FC31CB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10287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live demo follows one encounter across doctor, pharmacy and billing roles.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A25BC6-861D-4A73-BE71-A57432566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24075"/>
            <a:ext cx="10734675" cy="523875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5F1C6D-6B98-43A9-A011-FB09F686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247900"/>
            <a:ext cx="504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857DCD-8C49-4CB4-AD49-07DCEE8DA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238375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OPD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CA8A8B-CE44-4774-A9A5-65335EA06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228850"/>
            <a:ext cx="72104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Service capture, medicine dispense and itemised invoice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30F3DA-DEC3-4C95-A3C8-15258EEA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43200"/>
            <a:ext cx="10734675" cy="523875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EEA805-E557-4720-AA7D-057AEF90F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867025"/>
            <a:ext cx="504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9FC6B0-0C34-40D3-832C-09D912039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8575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IPD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5F9C12-1E9E-452A-8B07-1DC34E01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847975"/>
            <a:ext cx="72104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Room stay, running account and discharge bill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EE4019-EF1F-4612-B009-92F6246F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62325"/>
            <a:ext cx="10734675" cy="523875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9F13FD-AB95-4298-8B9F-475C0325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486150"/>
            <a:ext cx="504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827E8E-3299-4886-8C8A-1127744E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476625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Pharmacy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CF6435-E9E4-4287-A93E-3E15FAC1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467100"/>
            <a:ext cx="72104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Prescription, batch and expiry check, tax on separate sale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90A6FF-8DA0-4B88-B0DC-8A0CE224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1450"/>
            <a:ext cx="10734675" cy="523875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6481E4-2B45-4D78-8AC1-3F5AFFEF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105275"/>
            <a:ext cx="504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4048EF-14BA-458D-9D56-0B17B71D9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09575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Insurance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7E01D2-CBD8-43E0-9522-1B00C2AAB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086225"/>
            <a:ext cx="72104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Preauthorisation, claim and settlement ledger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2B7DE3-5669-4A1A-A456-93BCB0EB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00575"/>
            <a:ext cx="10734675" cy="523875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8B4403-8B93-451A-8BF0-E231AF79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724400"/>
            <a:ext cx="504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B47B22-CB41-4FB6-99DE-47AA74E2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714875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PM-JAY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CF4999-51FC-40B4-8394-9EC6A699F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705350"/>
            <a:ext cx="72104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Simulated eligibility, package and zero patient collection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F3F5A2-EF53-4C4E-9C79-B408354F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0734675" cy="523875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EEF384-0D97-49DA-8466-E29944CD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343525"/>
            <a:ext cx="504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0B5B07-79C0-444A-9F62-84E8F8540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53340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Finance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E633FE-69BC-4AEC-9562-C0098BF02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324475"/>
            <a:ext cx="72104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GSTR-1 review and aged receivables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921AC6-A736-4A54-9D35-FEBBCF254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Local API and browser flows were exercised with synthetic cases. External HIS and government or insurer portals remain simulated.</a:t>
            </a:r>
          </a:p>
        </p:txBody>
      </p:sp>
    </p:spTree>
    <p:extLst>
      <p:ext uri="{BB962C8B-B14F-4D97-AF65-F5344CB8AC3E}">
        <p14:creationId xmlns:p14="http://schemas.microsoft.com/office/powerpoint/2010/main" val="196733768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257E6F-379E-462B-9EA2-469427CB7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ECF70E-68E4-46BC-BB36-A193532F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RESULTS &amp; PROTOTYPE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0922AA-5465-4DC9-80CA-0710B5A80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What is still a prototype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1825D5-50D2-47B7-B1D0-45F80B83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8AA8C3-A839-4739-80E0-D765B50E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2D6DAA-16D5-41F8-BA0C-7E99A63F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5C7C99-53CA-4F65-9E44-43EFB1D15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6764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82965D-5786-4F02-B972-F39D81FC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526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57C73C-61E7-418F-8B3B-FA17C257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6097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28E5CB-C377-4E2C-8D08-714FEA31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145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No real portal exchange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699A2B-3913-4648-8E5E-95708D23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049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Insurer, PM-JAY, CGHS and GST outputs use local simulation.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23BFA9-9E95-4DBD-9602-D53F0EEA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432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ACDE5F-6AC7-4635-90D4-E639755F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8194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46EC9F-F5BD-4901-95EE-C0DEE578C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765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4BD22E-3A3E-4C0E-8946-E05CE9E93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813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Training master data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4CABD3-4919-4297-94DB-5715F8CBF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717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items, HSN, tariff and package examples need hospital review before use.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E209A7-8492-4EE9-B953-7B8F166AE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47A8DC-1984-46F1-B72A-8276293E0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8862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55AECD-06C7-4D48-BD83-16851968E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7433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0F3E81-E1B5-4F71-A68D-E212F8F6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481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Classroom sign-in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C21F1D-2DD0-43DE-850D-FD6061F1A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385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Production needs staff identity, audit policy, security and backups.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528784-D803-4302-AE87-DEB6A23C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76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6507E1-2C95-4FA7-8D09-48653910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95300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67B539-9369-4932-90BA-EFDCD07F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810125"/>
            <a:ext cx="100774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D7AE68-611C-40FB-9D75-1FC8DD99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1490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Limited departments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D603F2-4367-49B6-AB2A-903794D2D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05375"/>
            <a:ext cx="676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The ER image includes LIS and RIS, but the website only demonstrates selected HIS events.</a:t>
            </a:r>
          </a:p>
        </p:txBody>
      </p:sp>
    </p:spTree>
    <p:extLst>
      <p:ext uri="{BB962C8B-B14F-4D97-AF65-F5344CB8AC3E}">
        <p14:creationId xmlns:p14="http://schemas.microsoft.com/office/powerpoint/2010/main" val="25615903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592318-52AB-45C5-9530-9E71611C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FF7264-2836-4DA8-8819-8261159B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CONCLUSION &amp; FUTURE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012D99-2837-496B-B396-035F9D08D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Conclusion and next build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E362D0-EE2C-4031-848D-F9E2E748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CC18B2-4926-4C6E-93B5-F8AC53C6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321A14-E6D3-412C-B9D1-544DB7C0A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B2E053-52D1-49AC-A866-136D3A63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10725150" cy="1019175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FDA488-C525-4C4B-BDD2-371DC377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1762125"/>
            <a:ext cx="10229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The prototype shows how clinical work can produce a clear, itemised bill without retyping every charge.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606A30-B49D-4AEC-8B9B-BF3015DF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813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Next for a mid-sized hospital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20A7DE-8195-425C-B160-4B11F3FB2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552825"/>
            <a:ext cx="3305175" cy="2114550"/>
          </a:xfrm>
          <a:prstGeom xmlns:a="http://schemas.openxmlformats.org/drawingml/2006/main" prst="roundRect">
            <a:avLst>
              <a:gd name="adj" fmla="val 315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B44727-A550-42E2-92DB-2C65F00AA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7623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718057-A754-4504-A482-E340DAAE3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385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8143E9-F495-4E4C-8F71-43B65DAB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76725"/>
            <a:ext cx="29241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More departments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D7B7CB-F230-4AF4-B172-F53A8A36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10125"/>
            <a:ext cx="28860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Connect lab, radiology and operation theatre results.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8799F6-E85C-4E5B-A962-31608D510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552825"/>
            <a:ext cx="3305175" cy="2114550"/>
          </a:xfrm>
          <a:prstGeom xmlns:a="http://schemas.openxmlformats.org/drawingml/2006/main" prst="roundRect">
            <a:avLst>
              <a:gd name="adj" fmla="val 3153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BDFF78-BE95-45A3-9460-8FD8DEAE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623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6EED5C-DF9A-4643-8DFF-A6D6F101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385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D4DB87-664B-468D-BE5D-D0CA4EC9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29241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More payer detail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227ADA-CF11-4ED0-9809-63C72C55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10125"/>
            <a:ext cx="28860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Add named TPA formats, CGHS and corporate review screens.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15A2EA-847E-4521-B065-EB5DC680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52825"/>
            <a:ext cx="3305175" cy="2114550"/>
          </a:xfrm>
          <a:prstGeom xmlns:a="http://schemas.openxmlformats.org/drawingml/2006/main" prst="roundRect">
            <a:avLst>
              <a:gd name="adj" fmla="val 3153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8E3992-2434-4945-8F7C-E1420B3A2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76237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7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AA189B-673D-4343-9F84-6CB874F0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838575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E0B6D0-B6CB-4FBC-A842-7DD017890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276725"/>
            <a:ext cx="29241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732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3E"/>
                </a:solidFill>
                <a:latin typeface="Arial"/>
                <a:ea typeface="Arial"/>
                <a:cs typeface="Arial"/>
              </a:rPr>
              <a:t>Production controls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74421A-F2FF-484B-93AE-8DFB0C4F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810125"/>
            <a:ext cx="28860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Use approved portal links, stronger login, backups and tested tax masters.</a:t>
            </a:r>
          </a:p>
        </p:txBody>
      </p:sp>
    </p:spTree>
    <p:extLst>
      <p:ext uri="{BB962C8B-B14F-4D97-AF65-F5344CB8AC3E}">
        <p14:creationId xmlns:p14="http://schemas.microsoft.com/office/powerpoint/2010/main" val="166042296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1B8A487-4A99-45CF-8142-424D2CE8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15B135-4734-43BC-B3A5-B06A0FF2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"/>
            <a:ext cx="762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216A7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216A75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8C00A4-5598-484B-8EE6-867919B5C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D303A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9A85EC-2464-4361-B6C3-0DA04E14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68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9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AD133A-C7A7-4B1D-B8BA-921AEA8B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67475"/>
            <a:ext cx="3810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DH 308  /  HIS billing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C99F20-A1E5-432B-95BD-22F7A2375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579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00" b="0">
                <a:solidFill>
                  <a:srgbClr val="6072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0727A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4ADD8C-0FDA-4631-8337-F2532E96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11ED2D-D237-4D4C-ABB1-F4AEAB9C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81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Supplied bills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D4F141-A9D6-4C5F-8780-124EC33F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28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95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19 KIMS and Apollo scanned pages; only de-identified crops appear in this deck.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6A742D-A1C5-4F28-A40F-8BA2D783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E72CA8-EE07-4295-9BCE-8CCB818D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43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DH 308 lectures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214D01-6B86-4370-A35A-709F60E2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ER modelling, ICD-10 and LOINC, HL7 and healthcare database standards.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14175-C4F7-418F-9CBE-21A08DCB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0020CD-F7C4-4C7C-8F96-803CEB874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MoHFW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D88236-42E4-4081-B27D-360951CC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Patients’ Rights Charter, clinicalestablishments.mohfw.gov.in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6CCB29-11F6-48DC-A460-E8519D6A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C2C094-F0AD-4D7F-A468-EE009DB1F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67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MoHFW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E04CA0-5A70-42DF-BE52-6EB49C34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EHR standards for India: ICD, LOINC and optional licensed CPT mapping.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AF607D-AF82-40D2-A696-F27CEA97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52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AEAE0F-32C9-4C67-A505-9D5929DE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29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WHO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B8D33B-173A-45C4-A032-3383C4BC8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76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International Classification of Diseases, who.int/standards/classifications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BE8878-F7B9-42A1-8E65-E20350312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14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17178B-197E-4D0F-9ED4-E6CF37B8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91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HL7 FHIR R4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90453C-CBCC-44CE-83E4-7620B935F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38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ChargeItem and Invoice resources, hl7.org/fhir/R4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DA2008-A507-4FB3-ACDB-8052E74A1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504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6CB1F6-A77E-4CD1-AB55-E3E711E3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GST Council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CCFCAA-5398-4371-B1D5-DD484095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1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2025 medicine rates FAQ, gstcouncil.gov.in/sites/default/files/2025-09/faq_0.pdf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EACD66-B3F1-482B-B61F-7DB252C15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66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1663C7-720C-4167-98D4-BDD756D7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43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CBIC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19EB1A-2197-4B65-BBA1-EEEFBEE0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90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GST service rate entry 31A and healthcare exemption, cbic-gst.gov.in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48CD54-F43B-4635-9BA6-F27E61C9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28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383E49-4AC0-4B6F-AE9A-58DA47520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05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GST Council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619FD7E-D7DE-44EA-BA14-4CF5C15CF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52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Hospital inpatient composite supply AAR, gstcouncil.gov.in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4B38E6-202C-45D5-89C0-F570C318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90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E098C4B-B54D-4EEC-A3C1-6357F604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67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GST portal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A6980AE-DC3D-4754-9D28-0383723CD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14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GSTR-1 tables and HSN summary, tutorial.gst.gov.in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897877-4162-4DD1-8D70-E27629A3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552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5EEB753-B551-405A-98C6-73C99031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29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IRDAI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5058365-A8FA-4A47-9A9E-774A8F607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76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FAQs on health insurance regulations, irdai.gov.in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3684DA4-51E9-4B35-9954-F5A067A4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314950"/>
            <a:ext cx="5200650" cy="676275"/>
          </a:xfrm>
          <a:prstGeom xmlns:a="http://schemas.openxmlformats.org/drawingml/2006/main" prst="roundRect">
            <a:avLst>
              <a:gd name="adj" fmla="val 7042"/>
            </a:avLst>
          </a:prstGeom>
          <a:solidFill xmlns:a="http://schemas.openxmlformats.org/drawingml/2006/main">
            <a:srgbClr val="F2F6F5"/>
          </a:solidFill>
          <a:ln xmlns:a="http://schemas.openxmlformats.org/drawingml/2006/main" w="9525">
            <a:solidFill>
              <a:srgbClr val="CED9D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44C51D2-C3FE-42D8-A37B-457B4C80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911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C5B6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C5B66"/>
                </a:solidFill>
                <a:latin typeface="Arial"/>
                <a:ea typeface="Arial"/>
                <a:cs typeface="Arial"/>
              </a:rPr>
              <a:t>NHA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63CC84A-186A-46B5-BD22-D9E2208E4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38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D303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D303A"/>
                </a:solidFill>
                <a:latin typeface="Arial"/>
                <a:ea typeface="Arial"/>
                <a:cs typeface="Arial"/>
              </a:rPr>
              <a:t>PM-JAY Health Benefit Package 2.2 manual, nha.gov.in</a:t>
            </a:r>
          </a:p>
        </p:txBody>
      </p:sp>
    </p:spTree>
    <p:extLst>
      <p:ext uri="{BB962C8B-B14F-4D97-AF65-F5344CB8AC3E}">
        <p14:creationId xmlns:p14="http://schemas.microsoft.com/office/powerpoint/2010/main" val="6031955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2026-10-08T03:23:28.6790000Z</dcterms:created>
  <dcterms:modified xsi:type="dcterms:W3CDTF">2026-10-08T03:23:28.6800000Z</dcterms:modified>
</coreProperties>
</file>