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580a49fc70074fff" /><ns0:Relationship Type="http://schemas.openxmlformats.org/officeDocument/2006/relationships/extended-properties" Target="/docProps/app.xml" Id="Re8da7a9bad1c4ece" /><ns0:Relationship Type="http://schemas.openxmlformats.org/officeDocument/2006/relationships/officeDocument" Target="/ppt/presentation.xml" Id="R02d8885c64814a0a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bea7eefa00924b30"/>
  </ns0:sldMasterIdLst>
  <ns0:sldIdLst>
    <ns0:sldId id="256" ns1:id="Rf438f94c86034ea3"/>
    <ns0:sldId id="257" ns1:id="Rd80b6d5dbaa74ba2"/>
    <ns0:sldId id="258" ns1:id="R34193af775404b91"/>
    <ns0:sldId id="259" ns1:id="R8a29ec95988f482d"/>
    <ns0:sldId id="260" ns1:id="Rcb6d74ce4e754d1d"/>
    <ns0:sldId id="261" ns1:id="R8db49d4bcd2a483e"/>
    <ns0:sldId id="262" ns1:id="R456243e114304f69"/>
    <ns0:sldId id="263" ns1:id="Rdef4af43e30f43c3"/>
    <ns0:sldId id="264" ns1:id="R27be9bdff3134bd8"/>
    <ns0:sldId id="265" ns1:id="Re02aad783d55425d"/>
    <ns0:sldId id="266" ns1:id="Rd0cd7f82430e4b72"/>
    <ns0:sldId id="267" ns1:id="Rb3487428f7bd4720"/>
    <ns0:sldId id="268" ns1:id="Refbfdc61bf964bb1"/>
    <ns0:sldId id="269" ns1:id="R4d42f0b5d7754a42"/>
    <ns0:sldId id="270" ns1:id="R976a86e95a9640eb"/>
    <ns0:sldId id="271" ns1:id="R433c335f9c854ec8"/>
    <ns0:sldId id="272" ns1:id="R07074d12593443d0"/>
    <ns0:sldId id="273" ns1:id="Ra930a09d84cd4df9"/>
    <ns0:sldId id="274" ns1:id="R10a4c8d7b0514b3e"/>
    <ns0:sldId id="275" ns1:id="R6661d53ace284037"/>
    <ns0:sldId id="276" ns1:id="Refb31bf28441409e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2a24be24b25442d2" /><ns0:Relationship Type="http://schemas.openxmlformats.org/officeDocument/2006/relationships/slideMaster" Target="/ppt/slideMasters/slideMaster1.xml" Id="Rbea7eefa00924b30" /><ns0:Relationship Type="http://schemas.openxmlformats.org/officeDocument/2006/relationships/presProps" Target="/ppt/presProps.xml" Id="Rab9aa0d5bd984a0b" /><ns0:Relationship Type="http://schemas.openxmlformats.org/officeDocument/2006/relationships/tableStyles" Target="/ppt/tableStyles.xml" Id="R3f5d9da7aa3b4b5e" /><ns0:Relationship Type="http://schemas.openxmlformats.org/officeDocument/2006/relationships/slide" Target="/ppt/slides/slide1.xml" Id="Rf438f94c86034ea3" /><ns0:Relationship Type="http://schemas.openxmlformats.org/officeDocument/2006/relationships/slide" Target="/ppt/slides/slide2.xml" Id="Rd80b6d5dbaa74ba2" /><ns0:Relationship Type="http://schemas.openxmlformats.org/officeDocument/2006/relationships/slide" Target="/ppt/slides/slide3.xml" Id="R34193af775404b91" /><ns0:Relationship Type="http://schemas.openxmlformats.org/officeDocument/2006/relationships/slide" Target="/ppt/slides/slide4.xml" Id="R8a29ec95988f482d" /><ns0:Relationship Type="http://schemas.openxmlformats.org/officeDocument/2006/relationships/slide" Target="/ppt/slides/slide5.xml" Id="Rcb6d74ce4e754d1d" /><ns0:Relationship Type="http://schemas.openxmlformats.org/officeDocument/2006/relationships/slide" Target="/ppt/slides/slide6.xml" Id="R8db49d4bcd2a483e" /><ns0:Relationship Type="http://schemas.openxmlformats.org/officeDocument/2006/relationships/slide" Target="/ppt/slides/slide7.xml" Id="R456243e114304f69" /><ns0:Relationship Type="http://schemas.openxmlformats.org/officeDocument/2006/relationships/slide" Target="/ppt/slides/slide8.xml" Id="Rdef4af43e30f43c3" /><ns0:Relationship Type="http://schemas.openxmlformats.org/officeDocument/2006/relationships/slide" Target="/ppt/slides/slide9.xml" Id="R27be9bdff3134bd8" /><ns0:Relationship Type="http://schemas.openxmlformats.org/officeDocument/2006/relationships/slide" Target="/ppt/slides/slide10.xml" Id="Re02aad783d55425d" /><ns0:Relationship Type="http://schemas.openxmlformats.org/officeDocument/2006/relationships/slide" Target="/ppt/slides/slide11.xml" Id="Rd0cd7f82430e4b72" /><ns0:Relationship Type="http://schemas.openxmlformats.org/officeDocument/2006/relationships/slide" Target="/ppt/slides/slide12.xml" Id="Rb3487428f7bd4720" /><ns0:Relationship Type="http://schemas.openxmlformats.org/officeDocument/2006/relationships/slide" Target="/ppt/slides/slide13.xml" Id="Refbfdc61bf964bb1" /><ns0:Relationship Type="http://schemas.openxmlformats.org/officeDocument/2006/relationships/slide" Target="/ppt/slides/slide14.xml" Id="R4d42f0b5d7754a42" /><ns0:Relationship Type="http://schemas.openxmlformats.org/officeDocument/2006/relationships/slide" Target="/ppt/slides/slide15.xml" Id="R976a86e95a9640eb" /><ns0:Relationship Type="http://schemas.openxmlformats.org/officeDocument/2006/relationships/slide" Target="/ppt/slides/slide16.xml" Id="R433c335f9c854ec8" /><ns0:Relationship Type="http://schemas.openxmlformats.org/officeDocument/2006/relationships/slide" Target="/ppt/slides/slide17.xml" Id="R07074d12593443d0" /><ns0:Relationship Type="http://schemas.openxmlformats.org/officeDocument/2006/relationships/slide" Target="/ppt/slides/slide18.xml" Id="Ra930a09d84cd4df9" /><ns0:Relationship Type="http://schemas.openxmlformats.org/officeDocument/2006/relationships/slide" Target="/ppt/slides/slide19.xml" Id="R10a4c8d7b0514b3e" /><ns0:Relationship Type="http://schemas.openxmlformats.org/officeDocument/2006/relationships/slide" Target="/ppt/slides/slide20.xml" Id="R6661d53ace284037" /><ns0:Relationship Type="http://schemas.openxmlformats.org/officeDocument/2006/relationships/slide" Target="/ppt/slides/slide21.xml" Id="Refb31bf28441409e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b9c732bbb9af4592" /></ns0:Relationships>
</file>

<file path=ppt/slideLayouts/_rels/slideLayout2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509d7d2548604e1c" /></ns0:Relationships>
</file>

<file path=ppt/slideLayouts/_rels/slideLayout3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0b4f47fd764c4125" /></ns0:Relationships>
</file>

<file path=ppt/slideLayouts/_rels/slideLayout4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68cfb84ffc214e90" /></ns0:Relationships>
</file>

<file path=ppt/slideLayouts/_rels/slideLayout5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9193ce154253462c" /></ns0:Relationships>
</file>

<file path=ppt/slideLayouts/_rels/slideLayout6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835bd5512d5a409f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6B7D6DD-C5AD-4560-89A0-DA69BC2A6F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45C4BCD-1830-47DF-9126-3E048C86E35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5477E11-2027-4C9B-9304-42D8343424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9A3AD2A-63E1-4D94-BD66-E0404F3B86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0E662CF-55DD-49A7-BAF7-1021FB83B6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9A1B4B8-5E86-4A36-879D-619A5A5447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011F8BB-66B8-49EF-9414-F217B2D906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848E79C-86C9-4D78-B3A3-6C147E509E6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BDE0E6A-81DA-4829-A5BB-DE2B55CFEB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AC5CA27-261F-4ED3-8E7C-EE5B5BF06B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b62436cadba34841" /><ns0:Relationship Type="http://schemas.openxmlformats.org/officeDocument/2006/relationships/slideLayout" Target="/ppt/slideLayouts/slideLayout1.xml" Id="Rc04f199850994e1c" /><ns0:Relationship Type="http://schemas.openxmlformats.org/officeDocument/2006/relationships/slideLayout" Target="/ppt/slideLayouts/slideLayout2.xml" Id="R865ceba777324f74" /><ns0:Relationship Type="http://schemas.openxmlformats.org/officeDocument/2006/relationships/slideLayout" Target="/ppt/slideLayouts/slideLayout3.xml" Id="R576b123eb2794ffc" /><ns0:Relationship Type="http://schemas.openxmlformats.org/officeDocument/2006/relationships/slideLayout" Target="/ppt/slideLayouts/slideLayout4.xml" Id="Ra8f28650551b47d9" /><ns0:Relationship Type="http://schemas.openxmlformats.org/officeDocument/2006/relationships/slideLayout" Target="/ppt/slideLayouts/slideLayout5.xml" Id="Raeebbfe05e0c4b48" /><ns0:Relationship Type="http://schemas.openxmlformats.org/officeDocument/2006/relationships/slideLayout" Target="/ppt/slideLayouts/slideLayout6.xml" Id="R5d05c61549134cc0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4f199850994e1c"/>
    <p:sldLayoutId xmlns:r="http://schemas.openxmlformats.org/officeDocument/2006/relationships" id="2147483650" r:id="R865ceba777324f74"/>
    <p:sldLayoutId xmlns:r="http://schemas.openxmlformats.org/officeDocument/2006/relationships" id="2147483651" r:id="R576b123eb2794ffc"/>
    <p:sldLayoutId xmlns:r="http://schemas.openxmlformats.org/officeDocument/2006/relationships" id="2147483652" r:id="Ra8f28650551b47d9"/>
    <p:sldLayoutId xmlns:r="http://schemas.openxmlformats.org/officeDocument/2006/relationships" id="2147483653" r:id="Raeebbfe05e0c4b48"/>
    <p:sldLayoutId xmlns:r="http://schemas.openxmlformats.org/officeDocument/2006/relationships" id="2147483654" r:id="R5d05c61549134c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4a59dfea311c420e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446c4a220dbd4195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0c2b65931ff421a" /><ns0:Relationship Type="http://schemas.openxmlformats.org/officeDocument/2006/relationships/image" Target="/ppt/media/image.png" Id="Rb028ddeacae64aa1" /><ns0:Relationship Type="http://schemas.openxmlformats.org/officeDocument/2006/relationships/image" Target="/ppt/media/image2.png" Id="R8a3a86f6039b473f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b1db6e6b9e784381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5bd39a287f84cc5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2c9585677bb4f24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6f12541c0a15401a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325d3518aae4695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fdc947b20f594466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6ff80e017e34bc4" /><ns0:Relationship Type="http://schemas.openxmlformats.org/officeDocument/2006/relationships/image" Target="/ppt/media/image3.png" Id="R27ba3e7cf83a4bb5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c09138b39774bb1" /><ns0:Relationship Type="http://schemas.openxmlformats.org/officeDocument/2006/relationships/image" Target="/ppt/media/image4.png" Id="R554c5a383be44988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f59d92f9f84b4925" /><ns0:Relationship Type="http://schemas.openxmlformats.org/officeDocument/2006/relationships/image" Target="/ppt/media/image5.png" Id="Rdb247285dea641be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8a9626a4cdc4488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e001b2a58cc4380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6890169c6bfc4f57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ffdaa1ac65d44a2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1627078f8044814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2a9ae64e130482c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0d8045ad7a844be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55d492b9bfad4b1b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674f2bb39c148dc" /></ns0: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D62F1-16BE-4C6A-9525-212CDC94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D7676F-1F1A-46F5-B18C-588DF0FC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447DC8-F6E4-4C20-BDDF-1137FD4D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600075" cy="600075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2B93E1-5899-481C-9C7E-A2E71DD9E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81025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476"/>
          </a:bodyPr>
          <a:lstStyle xmlns:a="http://schemas.openxmlformats.org/drawingml/2006/main">
            <a:defPPr algn="ctr">
              <a:defRPr sz="26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6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135AEB-ECB7-4AEA-8B55-7558DEB4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61912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DH 308  /  FINAL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3D9859-A05D-445F-AFA3-25CA2164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962150"/>
            <a:ext cx="9810750" cy="1724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4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Designing a hospital</a:t>
            </a:r>
          </a:p>
          <a:p xmlns:a="http://schemas.openxmlformats.org/drawingml/2006/main">
            <a:pPr algn="l">
              <a:defRPr sz="4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billing system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10BFB1-B573-4A74-B0E5-1D2D22DF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81450"/>
            <a:ext cx="93821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A prototype for Indian hospitals that connects clinical work, pharmacy and the final patient bill.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6D2B56-FFD9-4540-9512-983AE99B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53025"/>
            <a:ext cx="10820400" cy="885825"/>
          </a:xfrm>
          <a:prstGeom xmlns:a="http://schemas.openxmlformats.org/drawingml/2006/main" prst="roundRect">
            <a:avLst>
              <a:gd name="adj" fmla="val 7527"/>
            </a:avLst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BDEB54-365D-47FA-844E-2E4DC0C5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391150"/>
            <a:ext cx="2762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Doctor note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96776E-378A-4A9B-97C4-16AD29C45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5391150"/>
            <a:ext cx="33432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Pharmacy dispense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17DC3D-F286-426C-AD05-0575CF96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5391150"/>
            <a:ext cx="31623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Itemised invoice</a:t>
            </a:r>
          </a:p>
        </p:txBody>
      </p:sp>
    </p:spTree>
    <p:extLst>
      <p:ext uri="{BB962C8B-B14F-4D97-AF65-F5344CB8AC3E}">
        <p14:creationId xmlns:p14="http://schemas.microsoft.com/office/powerpoint/2010/main" val="7222025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B9B941-0EF8-47AD-B6C7-5E09C3D1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4FEBD2-35B8-4B2C-A75E-5FACBC8A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8CEBB2-FA29-4152-AEEC-055F4595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From treatment to one patient bill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47E0EA-D277-4A44-8CB5-15121236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DC2F90-DD92-4DD3-A7F7-7CB7CF10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D66898-D7C7-4B00-99AD-1CAE340B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A31A07-F671-4C02-A5C5-CB45FB01E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9725"/>
            <a:ext cx="102870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559"/>
          </a:bodyPr>
          <a:lstStyle xmlns:a="http://schemas.openxmlformats.org/drawingml/2006/main">
            <a:defPPr algn="l">
              <a:defRPr sz="21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A patient visit creates information in several places. The encounter ID brings it together.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39A5D4-47DF-4F4C-B327-FF50A2A5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67000"/>
            <a:ext cx="3295650" cy="2047875"/>
          </a:xfrm>
          <a:prstGeom xmlns:a="http://schemas.openxmlformats.org/drawingml/2006/main" prst="roundRect">
            <a:avLst>
              <a:gd name="adj" fmla="val 3256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675118-006C-40D8-9A0B-BC60B1DE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5BAA8-195B-4F97-9F1D-B35F05E1E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52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47371F-3502-4831-8A1F-B3641E23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67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B96485-E923-4E08-9550-AA365D59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Records a note, diagnosis and delivered service.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803BED-8AEF-4759-A334-4731B202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67000"/>
            <a:ext cx="3295650" cy="2047875"/>
          </a:xfrm>
          <a:prstGeom xmlns:a="http://schemas.openxmlformats.org/drawingml/2006/main" prst="roundRect">
            <a:avLst>
              <a:gd name="adj" fmla="val 325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C364BC-C72F-43C7-B86A-676D1F73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76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32082F-ADF4-49FF-858A-1D6D02AA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52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A99AC6-02E4-44CC-ABB5-724B1F0D1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467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C682B0-2CC2-4B39-B04F-DD840139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962400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Dispenses a prescribed item from a stock batch.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830003-3B72-467D-AEC6-5B3DE525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3295650" cy="2047875"/>
          </a:xfrm>
          <a:prstGeom xmlns:a="http://schemas.openxmlformats.org/drawingml/2006/main" prst="roundRect">
            <a:avLst>
              <a:gd name="adj" fmla="val 325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864079-63C9-4516-9662-FD02DEE8B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76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6C6903-0949-4640-9EB1-078E09E4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52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766AAD-59DD-4AFB-A4D4-34A16DFA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67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E7F51E-B9F8-48D0-B5BA-EDCCDFC7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62400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Applies tariff and tax rules, then issues one invoice.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5F8BD4-2DF9-4599-B07E-5C5C4E72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62550"/>
            <a:ext cx="10753725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6102DD-58A4-4783-9301-C3B201DD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14950"/>
            <a:ext cx="1019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key: one patient encounter</a:t>
            </a:r>
          </a:p>
        </p:txBody>
      </p:sp>
    </p:spTree>
    <p:extLst>
      <p:ext uri="{BB962C8B-B14F-4D97-AF65-F5344CB8AC3E}">
        <p14:creationId xmlns:p14="http://schemas.microsoft.com/office/powerpoint/2010/main" val="1566142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CFC3E0-1DBB-4AA9-961D-299462AD6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B17965-407D-4BE1-A1BA-8DBBF80D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F9FAD7-8BC9-4745-BC41-19826A2E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What the uploaded bills showed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11C076-2D97-4AD7-A1DD-FC8E43E6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09AAB-604A-44FC-BCAD-2B4D55C48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69918F-73C0-4F63-8EBE-DB7A93B14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D90FD5-8D44-4098-9A53-8F691822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81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two real formats list services differently. We retained only service rows in these crops.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5E23EB-9C1C-4B72-8B44-3A717495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5105400" cy="2276475"/>
          </a:xfrm>
          <a:prstGeom xmlns:a="http://schemas.openxmlformats.org/drawingml/2006/main" prst="roundRect">
            <a:avLst>
              <a:gd name="adj" fmla="val 2929"/>
            </a:avLst>
          </a:prstGeom>
          <a:solidFill xmlns:a="http://schemas.openxmlformats.org/drawingml/2006/main">
            <a:srgbClr val="F6F8F8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437DE5-8539-4DD0-B1E7-6D8C0375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38375"/>
            <a:ext cx="5105400" cy="2276475"/>
          </a:xfrm>
          <a:prstGeom xmlns:a="http://schemas.openxmlformats.org/drawingml/2006/main" prst="roundRect">
            <a:avLst>
              <a:gd name="adj" fmla="val 2929"/>
            </a:avLst>
          </a:prstGeom>
          <a:solidFill xmlns:a="http://schemas.openxmlformats.org/drawingml/2006/main">
            <a:srgbClr val="F6F8F8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A51F7A-5E16-4FA0-904B-C1317713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371725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Bill sample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041E88-3E75-4FFF-AB66-C3CE0A42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71725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Bill sample B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BE47C1-1CF7-47EF-ABF6-11E9246704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8ddeacae64aa1"/>
          <a:stretch xmlns:a="http://schemas.openxmlformats.org/drawingml/2006/main"/>
        </p:blipFill>
        <p:spPr>
          <a:xfrm xmlns:a="http://schemas.openxmlformats.org/drawingml/2006/main">
            <a:off x="904875" y="3117632"/>
            <a:ext cx="4733925" cy="765610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34A788-F3E7-4BBF-9BD8-A0323F407D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3a86f6039b473f"/>
          <a:stretch xmlns:a="http://schemas.openxmlformats.org/drawingml/2006/main"/>
        </p:blipFill>
        <p:spPr>
          <a:xfrm xmlns:a="http://schemas.openxmlformats.org/drawingml/2006/main">
            <a:off x="6966799" y="2762250"/>
            <a:ext cx="3906727" cy="1514475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DCDE73-9D1F-495B-8FBC-A03A1D1C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43475"/>
            <a:ext cx="2857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Our design response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163B58-DCE0-4B39-A852-D2D67FBC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372100"/>
            <a:ext cx="10248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Capture each completed service by encounter ID, then show the source, quantity, tariff and tax on the invoice.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E7D1B5-F679-4A3E-AF3D-BFB8F04D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Bill crops supplied for this project. Patient names, IDs, dates and contact details were excluded.</a:t>
            </a:r>
          </a:p>
        </p:txBody>
      </p:sp>
    </p:spTree>
    <p:extLst>
      <p:ext uri="{BB962C8B-B14F-4D97-AF65-F5344CB8AC3E}">
        <p14:creationId xmlns:p14="http://schemas.microsoft.com/office/powerpoint/2010/main" val="2430733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D56836-766F-47BC-8F98-39D966FE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AB8F45-AFED-4A44-A337-536147F9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44D947-8F38-4C39-845D-03EE2AA9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Problem statement and objectives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E15FD2-9C23-4C2A-A8B0-AA487B213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0B40A8-A0A0-43B3-8BD8-20112F13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EE55D2-D776-43EC-AC0C-4995F0E5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2A4A5B-1083-464A-80CC-691890546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734675" cy="895350"/>
          </a:xfrm>
          <a:prstGeom xmlns:a="http://schemas.openxmlformats.org/drawingml/2006/main" prst="roundRect">
            <a:avLst>
              <a:gd name="adj" fmla="val 7447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C4EB68-E299-4482-88A9-914CDDB3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4307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4DF882-6EC8-4182-B56E-B1105177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704975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service can be missed, repeated, charged at the wrong tariff, or confused with a payer approval.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5EDFCC-544B-4D1C-B028-5F81C376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182D69-840C-42E5-81FD-32C1DF1F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658A72-2B56-4D62-BD39-2173EBE8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62654D-CA8A-4B1E-8B81-8DCCA0C08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Capture once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9C0EE1-263D-4D1C-BF93-3573B20A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Reject a repeated HIS event ID.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4EF3C1-D7EA-46F5-90BA-767EDFFC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3AAC7C-F0FD-4C71-BA9B-9C5D225A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E178B9-0305-42EA-9478-B6C4C3561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6A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3EF9B9-7C28-4B85-A4BC-0B7D9E46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Use the right rate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B24FEC-FBB3-405E-94CB-D982EDC2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Snapshot the payer tariff on the charge.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AEA7BE-E71C-480F-B78E-18D4B404A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F6C3E3-2694-4211-9B68-25EADE143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5B521C-9C9F-4D31-92B1-57A171F8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5B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DC5CFA-BEE8-42D8-B5DB-6D41AD5D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Explain the bill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1955E9-615A-4E0D-A205-6BB481C5E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Show item, quantity, GST and total.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D97B1E-2616-4F54-B3E1-12D2149B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6580C8-D969-4EE6-82CF-7AF95371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D6402B-FDFB-4C67-8083-4B7AAD2D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796564-3F4D-4208-87AF-0130DC51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Track money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6B5B53-58D0-4709-817D-3EFD867F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Keep claims and actual receipts separate.</a:t>
            </a:r>
          </a:p>
        </p:txBody>
      </p:sp>
    </p:spTree>
    <p:extLst>
      <p:ext uri="{BB962C8B-B14F-4D97-AF65-F5344CB8AC3E}">
        <p14:creationId xmlns:p14="http://schemas.microsoft.com/office/powerpoint/2010/main" val="13258725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27A89F7-60D3-491A-B8BD-D8068FB0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8ADA67-5DE2-40BF-8A39-03614D09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A8052F-80A1-4E00-A520-5FBACFB2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Existing gaps and why they occur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AE961A-6EA1-4168-A89E-95A6A6E0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0B48AE-7A00-46A6-84E2-469333B06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51CB1-5EB2-4FDD-BE79-DF0927DD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2B258D-AD46-4959-8142-C6B64931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972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Gap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724249-2793-438C-8F1E-26B1979E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09725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Reason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77A62A-FA92-490E-B83B-502F7029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609725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Design response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E2E11E-6A35-40EC-B2C3-C4798B42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28825"/>
            <a:ext cx="10734675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6F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268FC5-A5FB-44B4-9F69-AA8ABF23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FD58D0-5AFB-49EC-A147-1687DACB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2860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3D607D-AF25-488C-BE42-0F5025B7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3837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Missing service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AB4FCF-7759-49E6-88EE-86459A8E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71700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Manual handoff between care and billing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060D8E-542F-4F66-8805-337EF0E8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171700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Doctor event posts a charge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CD78F5-6BEB-4AFC-B7A3-18B387DD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71800"/>
            <a:ext cx="10734675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B4F4B3-EA49-4EE1-B175-C9149E26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1527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290D8D-982E-4DA6-9A47-A44C0AF5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2289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CF563C-3FE0-48AF-93B1-031F9C20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1813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Wrong amount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60C989-0447-4335-85B0-FDF0AFEA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14675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Different payer rate cards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FDBB8A-5C37-4E69-A144-EAC948B21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114675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Rate chosen at capture time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C53C62-05C2-41A8-9A65-8E9846BC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14775"/>
            <a:ext cx="10734675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6F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D48A75-8935-4C61-9C79-9660BD6F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0957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8243B3-FCC4-43ED-BE78-314DD04E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171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DE7B10-BBA3-4AF4-A458-EB3F3388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243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Payment confusion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81211A-05F9-4AB5-8FF9-AD8673C8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57650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Approval treated as collection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EAAF04-60B5-4076-B955-9AFF088C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4057650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Claim and receipt stored separately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C4DF7C-E3B7-48A4-80D6-C9560501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734675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F7C579-7B6B-4EB3-A6F8-C1617B63F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0387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C489D6-8173-497A-8585-D8CEDC3C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149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D95441-236D-4C7D-B79C-2BBC9589E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Discharge delay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B87B0D-2110-4283-ADC4-C93C3C88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000625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Charges assembled at the end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D02AFE-D9FA-4C87-ACA6-C6F9E732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5000625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Running bill stays current</a:t>
            </a:r>
          </a:p>
        </p:txBody>
      </p:sp>
    </p:spTree>
    <p:extLst>
      <p:ext uri="{BB962C8B-B14F-4D97-AF65-F5344CB8AC3E}">
        <p14:creationId xmlns:p14="http://schemas.microsoft.com/office/powerpoint/2010/main" val="335061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C45EB4-AE9B-4299-AC0A-E63FCA5D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B8D3AA-35C1-44B7-B087-142745EF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BC64F2-8D6D-4F6D-A939-84C59298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Indian sources used in the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240307-157B-47E2-AAC8-2C04565B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38632-4DE4-41BB-846C-FD3075B1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2EDB95-87B2-4994-82C9-EE70C141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B429B8-CFC8-485B-A600-46005ABF7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145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66ED67-5B1C-4EEA-93EE-C2DD3FA67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907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8AEC1F-987D-4518-8296-72CF6960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6478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F07F2-DF09-4B67-960E-F2644C00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526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Patients’ Rights Charter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E51642-DFC9-4782-BCD4-3B72A86DC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430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patient receives an itemised bill and payment receipts.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CA620D-EA90-49D1-8A98-89732CFE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6765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F3DF2A-A6CB-4339-BB40-DFC42456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527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29A4AF-A4B3-4938-A711-1C10885C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0985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7EB03A-ED10-446D-9F2E-A2933ECE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1462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GST Council and CBIC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F6DE14-0AC1-4296-8F27-E6E43A2D6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0510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Goods and room charges need different GST rules.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79994C-45FA-4313-A499-B80DAEC1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638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5B2B88-AF3A-4416-8CD4-5D791DDB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714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4BC200-817C-43D6-8A52-2B7A22FA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57187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29BA8E-5FD6-4AAC-8D67-B89A83FEF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7665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NHA PM-JAY manuals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67970A-A5CC-45D9-AFAC-B6B4142A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6712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package claim needs the scheme pathway and documents.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5C56A6-2D11-4AB0-9E46-E92B5046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005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02D51A-24CD-4447-9E29-54D471DE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767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0B3B8F-B0AE-4429-8821-C290A8372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53390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CE33B7-1604-44DD-8036-287AC053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386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IRDAI health insurance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FA22F3-0BFF-4791-AAA3-D1DFAB75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62915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Cashless approval and final settlement are separate steps.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2280AF-AC9B-4480-8DD1-86ACC2C3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Official sources and access links are listed on the final slide. Course lectures informed the HIS and ER design.</a:t>
            </a:r>
          </a:p>
        </p:txBody>
      </p:sp>
    </p:spTree>
    <p:extLst>
      <p:ext uri="{BB962C8B-B14F-4D97-AF65-F5344CB8AC3E}">
        <p14:creationId xmlns:p14="http://schemas.microsoft.com/office/powerpoint/2010/main" val="21268143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DED24A-5C2B-4754-ACA1-7573F9416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7669E6-6E12-423A-9002-1D96944AF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81A8B0-94A2-4BC6-862F-E2EFFD62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GST decisions used in the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4783B4-86D5-4013-AE1E-D34C0FEF1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527141-6368-4BA0-ADF7-295541AE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69F109-097A-431B-93D5-834DC38B3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C64B4-1284-4DC9-9547-51B54EC7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tax follows the type of supply, not the department name.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A96AA8-A14C-4540-8C54-E497D343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62175"/>
            <a:ext cx="10744200" cy="733425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ACE86E-E417-4262-B455-FF263D3D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24100"/>
            <a:ext cx="24479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OPD medicine sale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542376-DEBD-471B-9298-C5F959C0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305050"/>
            <a:ext cx="38004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Training medicine ₹100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9AA8A2-0FA0-45DF-B87B-914E7836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305050"/>
            <a:ext cx="2362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5% GST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59F67D-20F7-43C6-88A8-CF9A0FE6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305050"/>
            <a:ext cx="1162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₹105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B6D859-D911-44C2-90A5-C97798589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10744200" cy="733425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40B540-F5E1-4C60-9CFA-92F69B35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09925"/>
            <a:ext cx="24479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Nil rated item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A52540-4F0E-48F9-8042-0F8254A0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190875"/>
            <a:ext cx="38004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Contraceptive SKU, HSN 3006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BAF96C-3050-4858-B5E5-ADA81819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190875"/>
            <a:ext cx="2362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Nil GST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F05904-98C8-41CD-BFDB-366A371F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190875"/>
            <a:ext cx="1162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₹180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EF8251-5288-4801-9139-79B0CC7D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33825"/>
            <a:ext cx="10744200" cy="733425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568D9A-BDBD-4D80-8431-A3E806A22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5750"/>
            <a:ext cx="24479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IPD treatment supply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D548E1-06CD-4E9F-B947-8038A2D9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076700"/>
            <a:ext cx="38004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Medicine within qualifying care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93C73F-2171-48A5-8312-74D7C8FA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4076700"/>
            <a:ext cx="2362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Exempt example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57D114-2940-40A8-982A-18EA3D9B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076700"/>
            <a:ext cx="1162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₹100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5A0773-6F1D-40B3-8603-7614A236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0744200" cy="733425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B0576C-6D63-4B94-8F12-4E761B59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981575"/>
            <a:ext cx="24479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Private room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48B29A-2E8F-4A46-9EA2-259EB0A23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962525"/>
            <a:ext cx="38004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Non-ICU room above ₹5,000/day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D74FA2-512F-4DE1-8A39-8F667647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4962525"/>
            <a:ext cx="2362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5% GST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76FF90-6790-4B00-A51E-8CE61892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962525"/>
            <a:ext cx="1162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₹6,300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921ABC-D72E-4CD9-B13E-C43ECCB8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GST Council 2025 medicine FAQ; CBIC goods rates; GST Council service rates, entry 31A; GST Council inpatient AAR discussion.</a:t>
            </a:r>
          </a:p>
        </p:txBody>
      </p:sp>
    </p:spTree>
    <p:extLst>
      <p:ext uri="{BB962C8B-B14F-4D97-AF65-F5344CB8AC3E}">
        <p14:creationId xmlns:p14="http://schemas.microsoft.com/office/powerpoint/2010/main" val="4645728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8F20A0-092E-469F-AEB5-312F0CC4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C47C78-36A0-4870-9E6F-B7242F47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1F2E80-E2D9-4A75-83EF-8447E656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System modules and integration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21D4A7-7870-4BA0-BBC7-57D11E84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A67FB0-AA91-47D9-89CE-BCBABCEE9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4B2D87-D178-48B5-9765-78F7C765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2B8C57-A262-4D86-B375-6168E540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81150"/>
            <a:ext cx="10363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Three desks work on the same encounter. FastAPI checks each write before PostgreSQL stores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ADA04B-5780-4C93-AE0C-65015B4C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3276600" cy="1057275"/>
          </a:xfrm>
          <a:prstGeom xmlns:a="http://schemas.openxmlformats.org/drawingml/2006/main" prst="roundRect">
            <a:avLst>
              <a:gd name="adj" fmla="val 6306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494DDD-CB5C-458A-8475-C0514430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70D28C-101D-4FA7-9C34-1B2FB4F7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76575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Note, ICD-10, service, prescription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2F38C3-4DC8-43D1-B7E0-03032456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495550"/>
            <a:ext cx="3276600" cy="1057275"/>
          </a:xfrm>
          <a:prstGeom xmlns:a="http://schemas.openxmlformats.org/drawingml/2006/main" prst="roundRect">
            <a:avLst>
              <a:gd name="adj" fmla="val 630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0CB703-8017-41B4-86B4-7362577B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86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D6DECA-2AE1-4EFD-8799-ED21BE95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76575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Prescription, batch, dispense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86613E-E9EF-4CFF-A97F-49169B97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95550"/>
            <a:ext cx="3276600" cy="1057275"/>
          </a:xfrm>
          <a:prstGeom xmlns:a="http://schemas.openxmlformats.org/drawingml/2006/main" prst="roundRect">
            <a:avLst>
              <a:gd name="adj" fmla="val 630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0EDF57-9F35-415B-98D2-637FE4522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3C419D-F815-434A-A58C-A223A2DFF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76575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Room, payer, invoice, receipt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FED2DE-1A6E-4A0B-92D6-DF070A9F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100965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320AD5-419F-44C1-AF7F-80C2B9BC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1719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FastAPI: access checks, charge capture, tax rules, claim state and invoice lock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05E4AF-5F99-4E38-BC4D-32EF71B8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153025"/>
            <a:ext cx="6315075" cy="666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EF273C-828B-41C4-B5E9-0C297037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334000"/>
            <a:ext cx="5962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PostgreSQL: linked records and audit events</a:t>
            </a:r>
          </a:p>
        </p:txBody>
      </p:sp>
    </p:spTree>
    <p:extLst>
      <p:ext uri="{BB962C8B-B14F-4D97-AF65-F5344CB8AC3E}">
        <p14:creationId xmlns:p14="http://schemas.microsoft.com/office/powerpoint/2010/main" val="3877347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9FF08A1-B04B-4C29-8C0F-61D59600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05F60-56FA-4C99-AC26-62CBA121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4D09EE-1EF2-4651-A9C4-097BDEB6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Database schema: the useful links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8DE5A1-2DE0-4C42-BE5E-AC5BE9A0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EE1550-A414-4E6E-B728-EA1B12AF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A7D51-46F6-409D-B521-DA3028A10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5B9248-C34C-49E8-9DA2-7CE6F490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CARE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4BD5A4-9C18-4047-AE68-83785327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6692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F8D5C-9D26-4994-8C45-01459572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6217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patients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46906D-4379-48D3-8615-E56AED27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patient_id (PK)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DC56E0-0894-4122-BF50-0F6D76EC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826674-63CD-4C51-B5DA-D4C5ECA4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encounters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A79044-DF0F-4563-96C7-CDE743D8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8612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(PK), patient_id (FK)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DA9A86-1072-463C-BD3F-20A81D62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37633A-7830-41DB-9632-F830A63FF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5762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clinical_notes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8EEC6F-2AB1-4BBB-AB73-E348693D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(FK), doctor, ICD-10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582E30-0603-466E-B829-DF22D534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CA1263-6D76-4CC9-9C29-8724FA68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prescriptions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A0867C-644F-416B-8DEB-CDA7D8F0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8157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(FK), item_code (FK)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4D6D32-3585-402E-8653-50C47FC7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638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F9F6AA-93BE-4C1F-B2EB-27BD8E49B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06692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67CD64-12BB-45FF-9458-262B3100C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6217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services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647FC7-3324-4EB5-9176-A02CC189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43840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service_code (PK), tax rule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90F429-E227-4B3B-8778-5B09A1A7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91465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FF2B75-BD6D-4891-B4AE-24339ED1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00990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charges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A7BD4A-80C7-46BC-84C7-4D75CB60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28612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charge_id (PK), encounter_id (FK)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2CBEED-7DDD-488D-9BE5-8DE48EB6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76237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E100C5-C0A5-4848-8A36-D7849D3A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85762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invoices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274A61-84E5-4BAF-B5A5-CBE83FF3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13385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invoice_id (PK), encounter_id (FK)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A8D0A9-B6BE-421D-AE34-D9879AE8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61010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60A80B-6C32-4CB7-B821-E944905C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70535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invoice_lines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4FCAD5-5042-408A-8886-B86EFFB3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8157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invoice_id (FK), charge_id (FK)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66C904-72E7-4219-B1F6-3BA56F47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38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PAYER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050739F-1C10-43A9-854B-BF0A3371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6692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7F8E24-6B1A-4F44-836A-9E7616C1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6217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coverages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C5FCAE9-6AA1-4106-B9FF-B5B2A61F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3840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(FK), payer route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E1C9A3-310F-417D-B54A-283603B6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1465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A190776-4376-49D6-9B04-A9F00261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0990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preauths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03D237-AE54-437D-B697-65616957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8612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(FK), decision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513DD65-DCEA-4191-AABA-82B487C2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6237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CE14FD-55E8-4BD1-8509-919D1744D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5762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claims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B8ECBA-0200-45A8-8645-96F7EF75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13385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invoice_id (FK), approval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6C638C-E3DB-4CDD-A471-AC1ED49C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1010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B5FEC2B-A391-463B-882C-FFAFDD80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70535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receipts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2F25EDF-5B29-4D37-963E-E2CFF3D5E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98157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invoice_id (FK), payer, amount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6ED65E7-420E-4343-9FF5-92E68C79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43575"/>
            <a:ext cx="10744200" cy="390525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658F59C-2527-46BA-A96E-10824D89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819775"/>
            <a:ext cx="103536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One encounter has many charges and at most one final invoice.</a:t>
            </a:r>
          </a:p>
        </p:txBody>
      </p:sp>
    </p:spTree>
    <p:extLst>
      <p:ext uri="{BB962C8B-B14F-4D97-AF65-F5344CB8AC3E}">
        <p14:creationId xmlns:p14="http://schemas.microsoft.com/office/powerpoint/2010/main" val="4188029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47C3EA-61A3-4F73-BE9A-D30E97E0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6ECA3F-13B5-497F-B0B6-07216AA42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73DED6-D2E8-44B8-AB30-399AB3FE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Chen notation ER diagram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7E68CE-1005-48B9-A558-E3735BEED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1ABE14-9836-4CA4-A459-3968AFC13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237D65-ABDB-4280-92B3-E058B3AE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AF17F9-3D84-4767-97F0-6CAEBE02C3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ba3e7cf83a4bb5"/>
          <a:stretch xmlns:a="http://schemas.openxmlformats.org/drawingml/2006/main"/>
        </p:blipFill>
        <p:spPr>
          <a:xfrm xmlns:a="http://schemas.openxmlformats.org/drawingml/2006/main">
            <a:off x="2036296" y="1514475"/>
            <a:ext cx="8109883" cy="4286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191509-C16B-4B0F-A893-88A269D8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0072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This conceptual diagram was supplied for the project. It links HIS, pharmacy, billing and external payer entities.</a:t>
            </a:r>
          </a:p>
        </p:txBody>
      </p:sp>
    </p:spTree>
    <p:extLst>
      <p:ext uri="{BB962C8B-B14F-4D97-AF65-F5344CB8AC3E}">
        <p14:creationId xmlns:p14="http://schemas.microsoft.com/office/powerpoint/2010/main" val="203736318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8EE75F-03E4-406E-8BB3-89733620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B58D27-4798-4CA2-B06C-08912DD1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F24C8B-22FC-42FC-91E3-D7638112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ER detail: patient and HIS relationships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422C3-DCB4-46E9-AEF3-0D653A22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E1D023-D246-4CEB-961C-E9795869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7A14EB-FA38-4D9C-827E-71B076A6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BDF25C-CCE9-497C-981A-ADF247C322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4c5a383be44988"/>
          <a:stretch xmlns:a="http://schemas.openxmlformats.org/drawingml/2006/main"/>
        </p:blipFill>
        <p:spPr>
          <a:xfrm xmlns:a="http://schemas.openxmlformats.org/drawingml/2006/main">
            <a:off x="571500" y="1498575"/>
            <a:ext cx="10925175" cy="4146601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B923EE-46A9-4954-A1FC-E1CD3288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53100"/>
            <a:ext cx="1052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Patient and registration anchor the visit. Doctor and ward connect to clinical orders in the full diagram.</a:t>
            </a:r>
          </a:p>
        </p:txBody>
      </p:sp>
    </p:spTree>
    <p:extLst>
      <p:ext uri="{BB962C8B-B14F-4D97-AF65-F5344CB8AC3E}">
        <p14:creationId xmlns:p14="http://schemas.microsoft.com/office/powerpoint/2010/main" val="142560420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39036D-B0D1-4423-85BE-812973090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A5894-D36B-4004-B4DB-64486BEA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21E67C-4C99-4275-BA45-351DA64A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ER detail: bill, payer and payment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D8A68D-E1E7-41F5-A560-738EE8CA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0A97C4-26B8-43BB-912E-8FAA66D05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FA2E9-76CB-4A0D-ABD5-71D7AAC9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834315-452D-4817-B69D-472853354B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247285dea641be"/>
          <a:stretch xmlns:a="http://schemas.openxmlformats.org/drawingml/2006/main"/>
        </p:blipFill>
        <p:spPr>
          <a:xfrm xmlns:a="http://schemas.openxmlformats.org/drawingml/2006/main">
            <a:off x="666750" y="1467507"/>
            <a:ext cx="10810875" cy="420873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741403-7090-4306-9BFA-790286E6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54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bill links to insurance claim and payment. The full diagram also shows its itemised bill lines.</a:t>
            </a:r>
          </a:p>
        </p:txBody>
      </p:sp>
    </p:spTree>
    <p:extLst>
      <p:ext uri="{BB962C8B-B14F-4D97-AF65-F5344CB8AC3E}">
        <p14:creationId xmlns:p14="http://schemas.microsoft.com/office/powerpoint/2010/main" val="45594353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D6739C-FB1B-4D12-80F6-D0B5154F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005A82-2A19-41E2-8408-01548668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PROTOTYPE ASSUMPTIONS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E1BA81-2E70-4A48-9464-4E9097BD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What our demo assumes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68D7F0-77D0-49BB-B0B8-84A02CBA6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B0FAF9-BFD5-48CE-88ED-69606E27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F2171A-7336-48C0-BF12-95B5792F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7FB827-B158-457F-A8C1-ECF458FF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D3CDC3-D105-4833-AFD4-D5C9EBE5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B1ECCB-A786-4D89-8BAE-D9CE78BF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5811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8CB64A-EA91-492A-B51B-16E06148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430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Hospital size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124594-6A97-4BC2-9CD8-0AB2E1B8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17049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working scope represents a 20 to 50 bed hospital.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3358FC-D1BA-47E9-B8AC-958B1D4C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52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2A9A57-1EE0-4DAC-BBBB-1A5C81C7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28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C64526-6BAB-4238-8DC9-D719300F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4193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1C888A-DFB4-477D-8BEB-F17BB2FA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812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Patient records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1A77EF-B6E9-4A2F-AA53-2A8F82ED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25431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All patients, prices, identifiers and clinical notes are invented.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714129-C4CA-4E80-8043-27AFFB3F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90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B7470E-8209-4B62-979B-3ACD7578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9821CE-37AB-4FDE-9848-27866D0A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2575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6225A4-C4E5-4DC5-805E-98B8A5DA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194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External systems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AF932F-80E1-4BD5-9171-BEDD31751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3813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HIS events are local API calls. TPA and PM-JAY replies are simulated.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86AD62-9FBB-4431-B987-37985FF9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573FF2-78CA-4822-BCAC-BF506658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8E0493-D10F-444A-A217-FBBAD409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0957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8F4DA3-8317-4911-97E2-CCC206C8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576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GST master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1BAA05-0C66-4A5A-A731-8722AAC9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42195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Training rates illustrate rules. A real hospital must verify product HSN and current tariff.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D06D0C-151B-4BB0-A2DA-0312EE1A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61CE44-90A7-40F9-B743-F1544506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435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E46CEA-9F16-48D7-B7BF-55BC8251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9339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AE3D93-FBD2-4907-ABDB-38715BB4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958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Diagram scope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AFB704-17E2-4B05-875F-3BA4B0C9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50577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supplied Chen diagram also shows LIS and RIS as conceptual modules.</a:t>
            </a:r>
          </a:p>
        </p:txBody>
      </p:sp>
    </p:spTree>
    <p:extLst>
      <p:ext uri="{BB962C8B-B14F-4D97-AF65-F5344CB8AC3E}">
        <p14:creationId xmlns:p14="http://schemas.microsoft.com/office/powerpoint/2010/main" val="94374628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CC3CEC-950E-43BE-ADD7-D124FC31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D5AB7F-F9B8-46C3-993C-5D98D0F0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60161D-2359-463B-ACE3-49BB15B5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What runs behind the screens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83DC5D-1D10-443A-BB69-9A3DE6D6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91C823-6DC3-49BC-ADC4-FA21A4A1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826DF7-E261-4DB1-A0E0-FB340D92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FE3D63-52DF-485D-A0EC-FF5B10CD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24025"/>
            <a:ext cx="3333750" cy="1695450"/>
          </a:xfrm>
          <a:prstGeom xmlns:a="http://schemas.openxmlformats.org/drawingml/2006/main" prst="roundRect">
            <a:avLst>
              <a:gd name="adj" fmla="val 3933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384407-74C3-44FC-8575-FCF9F3B3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24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F03037-F5BC-49B4-868E-BB1F10B52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40FA99-6C86-4CD5-A21B-8E1F271F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28875"/>
            <a:ext cx="28860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Next.js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1AE6F8-DD57-4309-A7B9-A23103D7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9146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Three role based pages in one patient workspace.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822B34-AF1C-411C-A3D3-80F9BE91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724025"/>
            <a:ext cx="3333750" cy="1695450"/>
          </a:xfrm>
          <a:prstGeom xmlns:a="http://schemas.openxmlformats.org/drawingml/2006/main" prst="roundRect">
            <a:avLst>
              <a:gd name="adj" fmla="val 393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90FF9-266F-4527-B8CB-4BF4146E2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924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D63FF0-5F52-4A28-A8FB-B5558DA49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00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A3E073-D78E-4139-82DF-A574EFF39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28875"/>
            <a:ext cx="28860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FastAPI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E13194-0CBD-483C-B9EF-79B36035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146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Validates doctor events, dispensing, payer steps and invoices.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5EC56F-21F8-4020-A88E-76C8B20C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24025"/>
            <a:ext cx="3333750" cy="1695450"/>
          </a:xfrm>
          <a:prstGeom xmlns:a="http://schemas.openxmlformats.org/drawingml/2006/main" prst="roundRect">
            <a:avLst>
              <a:gd name="adj" fmla="val 393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5FD0F0-16CA-4466-84AC-F36211AD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924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36611E-1A0D-486F-A602-DD265E8F5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00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91528F-B2B9-4E77-BF09-B9F099B5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428875"/>
            <a:ext cx="28860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9A0DFB-223D-4508-8784-FCAA717F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9146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Stores patients, care, stock, charges, invoices and receipts.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475360-44D8-4386-8057-B6169BAD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33825"/>
            <a:ext cx="333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Core API calls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0E4BF3-F179-44B4-8CBE-0361FBD5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40055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/his/events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859C1C-F6C2-4851-86CD-2B4BA5B3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40055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delivered care item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7F021C-DDDA-46B6-837C-EB5E9773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72440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/pharmacy/dispense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F60693-9A02-480B-A179-158E5BF9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72440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stock plus charge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BDB86E-3481-43D8-BD22-F51AC526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04825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/invoices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72DD81-3141-49C4-BB8E-B83A51A40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504825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one final bill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E695D9-4AB1-42B0-B89C-6BA8A211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37210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/claims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3AEACC-734D-4983-9D6C-A0FF91EC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537210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payer submission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EEF3EB-C3E0-4ABF-A087-68FE209B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69595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/receipts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F2E781-D641-4994-812F-6BD0C34E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569595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money received</a:t>
            </a:r>
          </a:p>
        </p:txBody>
      </p:sp>
    </p:spTree>
    <p:extLst>
      <p:ext uri="{BB962C8B-B14F-4D97-AF65-F5344CB8AC3E}">
        <p14:creationId xmlns:p14="http://schemas.microsoft.com/office/powerpoint/2010/main" val="88644587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D5F1BF-1F4F-4085-B579-BEBDCF3FD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AEF436-A156-4FE6-9144-DD02CE74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AD3D96-408B-4DE4-B477-C073B14D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Backend rules that prevent common errors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00DD44-A0ED-4F6E-8E6B-EA4E2DEF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DA78A7-D418-4CAD-BF60-1BF9C7FF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831264-4509-4EBF-B373-6DD4AC56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56A347-5F0D-486B-9799-E5720D94B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676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FA8227-6C0E-4809-9D84-D067D948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526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24E0DC-10FF-41DD-8483-DDFF983D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6097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433E03-4874-45E6-A462-603EA1BC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145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Service event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5E66D1-1290-4DE3-B2D3-30E0D436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049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source event ID can create one charge. The same retry returns it; a changed retry fails.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EEB67B-ED52-449B-860A-FDE43691F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336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AFFAAB-73DB-43C2-900D-1D8AD68DC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098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A96EA0-7346-4434-9F9D-50A50A5D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6700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A6D28C-24F2-4572-A40E-B4DA3154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717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D56669-CF0E-4916-8A01-D16C5E73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6225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prescribed item needs an open order and available unexpired batch stock.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70400C-88F3-4622-8537-8229A5F9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7909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499C2D-409F-4C95-B2D8-0FD87D78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671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8837A6-E1D0-42AF-B0C7-0712316FB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2427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2CF138-31B3-4EEF-BF67-20161ED2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2905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Final invoice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97AD2C-4542-441A-93CC-EB6E68B1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952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system copies charge details into invoice lines and locks the encounter.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66DB9C-1B5B-41C9-8FC1-0DC41FB1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48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01B83C-4F54-4164-BACE-8987ED9C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9244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51FE61-03A7-4E6E-8DC1-C0E957AB6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78155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A9E581-19A1-41AD-BF7A-59C3B645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8632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Payer receipt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FEDC65-79FD-4409-892B-B191A85E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7680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An approved claim does not settle the bill. Only a posted receipt reduces the balance.</a:t>
            </a:r>
          </a:p>
        </p:txBody>
      </p:sp>
    </p:spTree>
    <p:extLst>
      <p:ext uri="{BB962C8B-B14F-4D97-AF65-F5344CB8AC3E}">
        <p14:creationId xmlns:p14="http://schemas.microsoft.com/office/powerpoint/2010/main" val="213146877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840A84-DEDC-4BC2-AE4C-B21D775D3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8F886E-96DB-41DC-8461-0F96D46E6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4A8923-7160-43C1-9400-D41D1123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OPD example: Ananya Rao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27C9C4-9517-4134-957C-54B93B1D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54D0F4-D570-4E15-B783-E4CCA8AF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9FB730-EF4F-4F9D-B2D2-CF968452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610041-86F5-4180-985C-210B23B8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552575"/>
            <a:ext cx="10210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invented OPD visit begins with ₹500 consultation and ₹350 CBC already captured.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0F64A1-2CC6-41CD-9FA0-BB5F3666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47925"/>
            <a:ext cx="10734675" cy="657225"/>
          </a:xfrm>
          <a:prstGeom xmlns:a="http://schemas.openxmlformats.org/drawingml/2006/main" prst="roundRect">
            <a:avLst>
              <a:gd name="adj" fmla="val 1014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493130-3539-4193-BCCF-B88D64D6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590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78A744-7783-4B25-9340-9C9FFC04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6670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038374-29C7-439F-9995-EAB115A2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59080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124FD3-FCDC-4258-A8DA-390FCDE5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590800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Prescribes 2 training medicine units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B0D640-CE88-43BE-BA6F-B4A36921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10734675" cy="657225"/>
          </a:xfrm>
          <a:prstGeom xmlns:a="http://schemas.openxmlformats.org/drawingml/2006/main" prst="roundRect">
            <a:avLst>
              <a:gd name="adj" fmla="val 1014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CB6820-8F49-44E1-BAD4-212D49B3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4004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8AADFA-9D58-413A-A46A-57BF7E2C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4766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0E47E2-2517-4AEB-BC70-F9CF8FF4A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3400425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D5198-B1F6-4499-AFC8-A484CFB2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400425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Dispenses 2 × ₹100 from a batch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341D5F-2F35-446D-90C5-05D71A37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67175"/>
            <a:ext cx="10734675" cy="657225"/>
          </a:xfrm>
          <a:prstGeom xmlns:a="http://schemas.openxmlformats.org/drawingml/2006/main" prst="roundRect">
            <a:avLst>
              <a:gd name="adj" fmla="val 1014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DF42DE-5097-46AF-985C-91BADB11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10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E20C89-6F69-472A-ADCA-28E4C66D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86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64EE3C-6084-4812-B22B-BAB3965A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2100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E5F734-CB0F-4A2C-AF93-BDD0F9D72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210050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Adds ₹10 GST on this separate OPD sale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EB04FB-F034-4DF2-AB24-5788E9CA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10734675" cy="657225"/>
          </a:xfrm>
          <a:prstGeom xmlns:a="http://schemas.openxmlformats.org/drawingml/2006/main" prst="roundRect">
            <a:avLst>
              <a:gd name="adj" fmla="val 1014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8FF114-1CBD-47CE-9626-F7BC7D961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0196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DDDDB6-490B-4EDA-B6EE-A793C51F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0958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5EF234-D7E0-4878-8631-6439DE5A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019675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Invoice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6ECAD8-0DE5-4662-83DB-A680419C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019675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₹500 + ₹350 + ₹200 + ₹10 = ₹1,060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74754A-1A38-4CA9-9533-D85DBE40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864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Same encounter ID links the note, prescription, dispense, charge and invoice.</a:t>
            </a:r>
          </a:p>
        </p:txBody>
      </p:sp>
    </p:spTree>
    <p:extLst>
      <p:ext uri="{BB962C8B-B14F-4D97-AF65-F5344CB8AC3E}">
        <p14:creationId xmlns:p14="http://schemas.microsoft.com/office/powerpoint/2010/main" val="179184908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6F8E142-F586-4092-9AA4-276690F9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ECB803-35DF-4024-83D4-56E39606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7917F5-0B32-41E1-8469-F176AE68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IPD payer examples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54E49E-BFEC-4586-89B2-7F3A1815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141770-4AC6-4EBE-82DC-F0E38513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8E253A-9B45-4304-AEDA-4B88434A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8456CA-4082-4F8D-8B13-932CAE89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057775" cy="4076700"/>
          </a:xfrm>
          <a:prstGeom xmlns:a="http://schemas.openxmlformats.org/drawingml/2006/main" prst="roundRect">
            <a:avLst>
              <a:gd name="adj" fmla="val 163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A2B098-DA79-472A-8F92-33A5F0357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00200"/>
            <a:ext cx="5057775" cy="4076700"/>
          </a:xfrm>
          <a:prstGeom xmlns:a="http://schemas.openxmlformats.org/drawingml/2006/main" prst="roundRect">
            <a:avLst>
              <a:gd name="adj" fmla="val 1636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9C0DF0-EE89-48F0-B677-8C31CEDC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8097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Private TPA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A4E9AA-C4CE-48F5-832E-B598ECA1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18097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PM-JAY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D1ECCB-F81F-4B96-ADE8-024096E3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3907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15DF74-4DF6-4BDD-AC21-C36368ED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4669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D23F51-69E4-46B1-AF44-FA9E1F4D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457450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Coverage linked to encounter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C28BF5-DD5D-448D-BCDD-2BCE694F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09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9D67D8-9791-4687-A82A-C8D71E7F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86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3128AA-117F-4469-8FA9-9F28F6E1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76575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Preauthorisation requested and recorded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C86913-3517-4517-A02C-13F9ECF2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6290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02D9E3-4D89-4943-AC6D-A65A196C5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7052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26AA48-E1D0-4FD3-9F7A-3C505884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95700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Room and treatment charges accumulated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585578-0396-441A-B64A-C01C6923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248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C08FE7-D074-4B46-A797-F9D26A92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3243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8BD0D1-EE66-4837-968D-DAF220791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14825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Invoice and document checklist prepared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EA1AB6-1859-4404-8EC2-A32AE8E2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8672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118470-0253-4E90-9861-C551F598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9434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DE2755-2CD1-45BD-B1FA-53CD305B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33950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Claim decision recorded, then insurer receipt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10D184-B8D5-4AB8-814D-FC716652A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3907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C71BD0-56B7-46F8-AF5E-4B386DE4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4669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4FA832-26F0-4744-8C5E-019D58EB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57450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Beneficiary check simulated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DB025B-82B1-4602-87D3-2C1AF9FD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9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8DF812-8B65-4103-9604-88A94CACF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86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779C04-01BF-4C60-A35C-ACFCDB89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76575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Training package linked to encounter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744540-6CAE-4ADA-A30D-10591BB9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6290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EED7DC-9641-4C16-B8F5-1978B2B63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7052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ABCE28-7F25-4D84-96BD-DA1014B4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95700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Preauthorisation recorded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5D1DF2-A685-44FC-8A96-344A6954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248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22ADB3-1EB7-4B6D-9C2F-A11C1347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243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4AE8EA3-616E-4337-BDAD-B186E918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314825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Package invoice and claim prepared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6362D4-58DB-459E-97AA-EDFE523D0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8672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47A7D80-7F92-40DF-9116-E84A6935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9434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72E97B6-5A5E-4A7E-B1CE-DEF01526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933950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Patient collection blocked in this demo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C969A79-DA32-4122-A522-1F539DE3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NHA HBP manual and IRDAI health insurance guidance informed the state sequence. Portal responses remain simulated.</a:t>
            </a:r>
          </a:p>
        </p:txBody>
      </p:sp>
    </p:spTree>
    <p:extLst>
      <p:ext uri="{BB962C8B-B14F-4D97-AF65-F5344CB8AC3E}">
        <p14:creationId xmlns:p14="http://schemas.microsoft.com/office/powerpoint/2010/main" val="113497841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4EB7C7-36DB-47FB-AE0B-3BB94018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0C8913-8897-4725-86A5-B251840BE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RESULTS &amp; PROTOTYPE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78CFB2-9146-4B52-884E-D118F58F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Working prototype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F1A585-C152-469E-B46D-5DA844D2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C07810-AC6F-401E-8505-049DA8343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259688-614E-4AB6-89FE-F07F6743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C18B2A-6573-496E-9F84-EF80ADC8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52575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live demo uses one patient record across three staff desks.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95CC5C-C26B-497F-8B98-0A2AE935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10725150" cy="819150"/>
          </a:xfrm>
          <a:prstGeom xmlns:a="http://schemas.openxmlformats.org/drawingml/2006/main" prst="roundRect">
            <a:avLst>
              <a:gd name="adj" fmla="val 8140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2DFD86-5512-4D8D-BEB2-929E11AE7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5241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B1673D-A269-4C5E-9926-0A1AB3FC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6003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CEB1CF-B4D3-483C-A47C-5C4B13F9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466975"/>
            <a:ext cx="204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5D8835-2F73-4560-8642-9FEC24C6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447925"/>
            <a:ext cx="7477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Saves a note and ICD-10, records a service, sends a prescription.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5CB6C1-FEE7-4FA9-A4D7-BD227DF2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24225"/>
            <a:ext cx="10725150" cy="819150"/>
          </a:xfrm>
          <a:prstGeom xmlns:a="http://schemas.openxmlformats.org/drawingml/2006/main" prst="roundRect">
            <a:avLst>
              <a:gd name="adj" fmla="val 8140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737298-872B-45AA-A9FC-59253D745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543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148642-62F0-4290-B165-FDD5C4F6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6195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E5EAF2-AFDA-4C08-99CB-50DEE8AE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486150"/>
            <a:ext cx="204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5F854C-7F30-4704-B1A0-EA25C232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467100"/>
            <a:ext cx="7477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Checks order and batch, dispenses, updates stock and the bill.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F33012-7603-4D9E-9CB8-60EBA6F7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10725150" cy="819150"/>
          </a:xfrm>
          <a:prstGeom xmlns:a="http://schemas.openxmlformats.org/drawingml/2006/main" prst="roundRect">
            <a:avLst>
              <a:gd name="adj" fmla="val 8140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0F33B0-5F99-4646-9B5E-018EB1A0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5624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6DEE1D-9DAF-4AF7-8EA5-4239BFEA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6386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2EC730-03F6-4D99-A550-2D91200EB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505325"/>
            <a:ext cx="204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2A614F-6258-45A2-9214-41608A3A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486275"/>
            <a:ext cx="7477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Reviews charges, generates invoice in place, records payer or patient receipt.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2A0F95-68D1-48A4-9B7C-13EB643A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505450"/>
            <a:ext cx="10715625" cy="581025"/>
          </a:xfrm>
          <a:prstGeom xmlns:a="http://schemas.openxmlformats.org/drawingml/2006/main" prst="roundRect">
            <a:avLst>
              <a:gd name="adj" fmla="val 11475"/>
            </a:avLst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11A051-CFE9-43C4-B737-6EE55624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57850"/>
            <a:ext cx="10267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API scenarios passed locally: OPD, room GST, pharmacy, TPA, PM-JAY, tax review and receipts.</a:t>
            </a:r>
          </a:p>
        </p:txBody>
      </p:sp>
    </p:spTree>
    <p:extLst>
      <p:ext uri="{BB962C8B-B14F-4D97-AF65-F5344CB8AC3E}">
        <p14:creationId xmlns:p14="http://schemas.microsoft.com/office/powerpoint/2010/main" val="122420038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8E5EDC-84D0-4DB1-B917-2A3032F6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1DC3A2-356B-4364-AE3C-A13FB2908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RESULTS &amp; PROTOTYPE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F127DF-A6E4-4AE7-B938-A838676B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What is still a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879684-C98E-459B-8BD9-40B200CF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204614-65C9-4368-8CE1-1D3229A5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85E6F8-86D7-492E-8040-8FFC076D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C94389-098D-4712-B851-0E2E82EB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676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87358C-F16E-40F8-BD8C-5AD7CB8A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526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D0C1B5-4FFE-4DA4-A28A-90B6CFEC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6097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9B198C-80C2-4248-A7B9-92BD58719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145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No real portal exchange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9D5B11-EC30-48BF-8FAF-20E40E76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049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Insurer, PM-JAY, CGHS and GST outputs use local simulation.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40E3CD-B22B-4EBD-B4E2-D445F503B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432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36953A-121E-4818-AAC3-544C91E0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194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5C9FC0-FCAC-4706-B148-26B96077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765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3E8834-7BC7-4EAA-8F34-4BF953F0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813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Training master data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7ABC82-74B6-48D8-80F3-B65B113D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717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items, HSN, tariff and package examples need hospital review before use.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598409-388B-494F-9CF0-7C7E1212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11C6A2-FCC5-4B3A-A94E-A53090930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862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6B2003-B503-4B3B-A18F-0A8B8900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433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222217-1A12-46F3-8753-A5CCC474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481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Classroom sign-in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D8A2ED-DA51-4D99-997F-31FF5827E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385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Production needs staff identity, audit policy, security and backups.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C7DD15-B58D-47BF-82A6-8D510933A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76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3EDEDA-D8E0-4694-9D57-3162C7EF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9530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464619-BE61-413D-A7C5-90928F831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8101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099F21-016C-4FAC-8D66-8F62030BB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149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Limited departments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F8DDDE-FC18-4A1D-9FF7-05B0F8F61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053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ER image includes LIS and RIS, but the website only demonstrates selected HIS events.</a:t>
            </a:r>
          </a:p>
        </p:txBody>
      </p:sp>
    </p:spTree>
    <p:extLst>
      <p:ext uri="{BB962C8B-B14F-4D97-AF65-F5344CB8AC3E}">
        <p14:creationId xmlns:p14="http://schemas.microsoft.com/office/powerpoint/2010/main" val="90365836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CAB321-CF42-49F0-AEFC-18C8868D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E16E7F-7F29-4986-BCC2-FEE2ED4E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CONCLUSION &amp; FUTURE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F43F9F-F448-4C0E-B558-B2FAB459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Conclusion and next build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63777E-D2DA-45C1-AF98-C7C88C31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B08044-9AA5-4FAD-8057-E9709E212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7F5374-F261-4184-80EC-4B55D128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46AA86-4D20-4F05-83F0-847E805B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725150" cy="1019175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DF4395-5B03-4D2C-9F15-2CC5F4DFD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1762125"/>
            <a:ext cx="1022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prototype shows how clinical work can produce a clear, itemised bill without retyping every charge.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106599-D7C5-4789-A77C-833E44CB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813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Next for a mid-sized hospital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5A9952-4CDE-4275-A7DE-CEE94635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552825"/>
            <a:ext cx="3305175" cy="2114550"/>
          </a:xfrm>
          <a:prstGeom xmlns:a="http://schemas.openxmlformats.org/drawingml/2006/main" prst="roundRect">
            <a:avLst>
              <a:gd name="adj" fmla="val 315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9FBFC1-D51C-4305-BD65-073C8C0F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7623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54758E-EE1C-48D2-B40F-6268E6B5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385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D802A1-D6C6-4D67-98B6-779DBCC58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76725"/>
            <a:ext cx="292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More departments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209450-DB3E-4E98-947C-D97D8092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10125"/>
            <a:ext cx="2886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Connect lab, radiology and operation theatre results.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2D0829-C9D5-4F9F-A74C-DFEF2C10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52825"/>
            <a:ext cx="3305175" cy="2114550"/>
          </a:xfrm>
          <a:prstGeom xmlns:a="http://schemas.openxmlformats.org/drawingml/2006/main" prst="roundRect">
            <a:avLst>
              <a:gd name="adj" fmla="val 3153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40A08C-AE87-4884-B0EB-C5E1C883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623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19DF2C-4CF1-4F93-9985-DF08B680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385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2D97AB-0CDA-4F0B-9269-5803BD70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292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More payer detail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8730D4-59A6-420B-9D04-0E303E516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2886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Add named TPA formats, CGHS and corporate review screens.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8EB6FF-6215-4B56-B310-F73CC48E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52825"/>
            <a:ext cx="3305175" cy="2114550"/>
          </a:xfrm>
          <a:prstGeom xmlns:a="http://schemas.openxmlformats.org/drawingml/2006/main" prst="roundRect">
            <a:avLst>
              <a:gd name="adj" fmla="val 315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35C42B-6BF2-453A-A9C8-D5A324952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7623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CB754D-9C90-40CB-AB57-92F33E8B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8385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123E0F-85D2-46E7-A11F-D2C506E0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76725"/>
            <a:ext cx="292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Production controls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97F579-ECF6-4EC4-AE76-68D4E8D0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810125"/>
            <a:ext cx="2886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Use approved portal links, stronger login, backups and tested tax masters.</a:t>
            </a:r>
          </a:p>
        </p:txBody>
      </p:sp>
    </p:spTree>
    <p:extLst>
      <p:ext uri="{BB962C8B-B14F-4D97-AF65-F5344CB8AC3E}">
        <p14:creationId xmlns:p14="http://schemas.microsoft.com/office/powerpoint/2010/main" val="15221245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EA6AF8-0C18-474B-B2C1-0CE1BC63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BDDA3A-165A-456A-A631-D4846533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5FF1E6-061D-43B1-96AE-4FAA9F15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2AFA44-A0BA-4F65-A1B7-0E022C25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BB284E-CF13-48B6-AF3E-26E3F45F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F50F24-2187-4CC1-BD32-C5F9A7FF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0CC436-27C5-4EB5-BF32-B953471F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95425"/>
            <a:ext cx="1072515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AC4BD8-8918-48B4-920D-6B2FD633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590675"/>
            <a:ext cx="1743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DH 308 lectures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47E033-8E95-4676-A657-FAA50339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590675"/>
            <a:ext cx="859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Course material on HIS, databases and ER modelling.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36688B-0B4C-4F33-9F6C-ABB3D1975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47875"/>
            <a:ext cx="1072515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84F372-3EF6-49DE-84F5-6544FA71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143125"/>
            <a:ext cx="1743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MoHFW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110134-3E2C-4ACC-8D96-703FA691B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143125"/>
            <a:ext cx="859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Patients’ Rights Charter: clinicalestablishments.mohfw.gov.in/sites/default/files/2023-07/8431.pdf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FAD6F7-BED2-41AB-8BC8-D82F4958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0325"/>
            <a:ext cx="1072515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6987FD-1B03-495C-A6B5-C54ADE1A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695575"/>
            <a:ext cx="1743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GST Council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0AF37F-DB42-4434-B0B4-610B4CDB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695575"/>
            <a:ext cx="859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2025 medicines FAQ: gstcouncil.gov.in/sites/default/files/2025-09/faq_0.pdf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901B22-8EBB-404D-879C-983E2666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52775"/>
            <a:ext cx="1072515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DDE40E-53AE-4202-827D-4A85D753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248025"/>
            <a:ext cx="1743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GST Council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C1DD3A-C2CC-4069-80EC-0836840A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248025"/>
            <a:ext cx="859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Service rates and room entry 31A: gstcouncil.gov.in/sites/default/files/2024-02/gstservicerates.pdf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98FE70-7691-4FCE-A2C6-772E1E3C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05225"/>
            <a:ext cx="1072515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D81DD3-C7A9-490B-8D80-E021F7B1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800475"/>
            <a:ext cx="1743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CBIC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F57E07-148F-4F23-B90D-02E62D40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800475"/>
            <a:ext cx="859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Goods rates and HSN 3006 contraceptives: cbic-gst.gov.in/hindi/gst-goods-services-rates.html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173602-62CE-4A2B-9EBC-07DF5180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57675"/>
            <a:ext cx="1072515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AA6A8B-0DB2-4FD0-B3E4-FC59283E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352925"/>
            <a:ext cx="1743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GST Council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642C4B-E934-4A54-BCF8-6C73083C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352925"/>
            <a:ext cx="859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Inpatient composite supply AAR: gstcouncil.gov.in, Laxmi Health Care Center order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A3A489-01C2-473B-A413-983EEA38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1072515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1FC624-CBD8-4D61-B0A9-D94EE683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905375"/>
            <a:ext cx="1743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NHA / IRDAI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AEA776-9EAC-49B1-BB17-C0F33588F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905375"/>
            <a:ext cx="859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HBP 2.2 manual at nha.gov.in; health insurance guidance at irdai.gov.in/health-dept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12AC0B-47AE-43FF-98D8-AD0A6785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62575"/>
            <a:ext cx="10725150" cy="485775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6DFDEE-4C6B-4A1C-91F6-692AC3F1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457825"/>
            <a:ext cx="1743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GST portal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3AA84E-6EA3-4845-B8FD-147AFB675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457825"/>
            <a:ext cx="859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GSTR-1 guide: tutorial.gst.gov.in/userguide/returns/GSTR_1.htm</a:t>
            </a:r>
          </a:p>
        </p:txBody>
      </p:sp>
    </p:spTree>
    <p:extLst>
      <p:ext uri="{BB962C8B-B14F-4D97-AF65-F5344CB8AC3E}">
        <p14:creationId xmlns:p14="http://schemas.microsoft.com/office/powerpoint/2010/main" val="7766233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2026-10-08T02:49:00.0000000Z</dcterms:created>
  <dcterms:modified xsi:type="dcterms:W3CDTF">2026-10-08T02:49:00.0010000Z</dcterms:modified>
</coreProperties>
</file>