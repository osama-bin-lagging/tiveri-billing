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8bc88b5390304995" /><ns0:Relationship Type="http://schemas.openxmlformats.org/officeDocument/2006/relationships/extended-properties" Target="/docProps/app.xml" Id="R7d806a29109f4089" /><ns0:Relationship Type="http://schemas.openxmlformats.org/officeDocument/2006/relationships/officeDocument" Target="/ppt/presentation.xml" Id="R33f40a5aa4ed46e8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d17a46e42b964914"/>
  </ns0:sldMasterIdLst>
  <ns0:sldIdLst>
    <ns0:sldId id="256" ns1:id="Rcddb558461ca4610"/>
    <ns0:sldId id="257" ns1:id="R2fddb351ec674562"/>
    <ns0:sldId id="258" ns1:id="R237b46b016d74095"/>
    <ns0:sldId id="259" ns1:id="R3f5203fe68a64f15"/>
    <ns0:sldId id="260" ns1:id="Rf79e2c62202c48c9"/>
    <ns0:sldId id="261" ns1:id="R44fe7e7f107840e6"/>
    <ns0:sldId id="262" ns1:id="R273b0233aee34d56"/>
    <ns0:sldId id="263" ns1:id="Rcb99576a4dca447c"/>
    <ns0:sldId id="264" ns1:id="R8d8b364957b945da"/>
    <ns0:sldId id="265" ns1:id="Ra1bf487993a64a4d"/>
    <ns0:sldId id="266" ns1:id="R860129ac1ac842fe"/>
    <ns0:sldId id="267" ns1:id="Rdb0f0868acd24be7"/>
    <ns0:sldId id="268" ns1:id="R4d750e2ec7714070"/>
    <ns0:sldId id="269" ns1:id="Rcb95b0a0f87a4f90"/>
    <ns0:sldId id="270" ns1:id="R82ad169395274945"/>
    <ns0:sldId id="271" ns1:id="R5e750fb595de4ad3"/>
    <ns0:sldId id="272" ns1:id="R73eeb793a85848b9"/>
    <ns0:sldId id="273" ns1:id="Rda9946198bc94dee"/>
    <ns0:sldId id="274" ns1:id="Rb0882bbf00824ebc"/>
    <ns0:sldId id="275" ns1:id="R54904b22134949a0"/>
    <ns0:sldId id="276" ns1:id="R9fa9ff506bf24e2b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347eb449b6e4c82" /><ns0:Relationship Type="http://schemas.openxmlformats.org/officeDocument/2006/relationships/slideMaster" Target="/ppt/slideMasters/slideMaster1.xml" Id="Rd17a46e42b964914" /><ns0:Relationship Type="http://schemas.openxmlformats.org/officeDocument/2006/relationships/presProps" Target="/ppt/presProps.xml" Id="Rc18b22ad433f415c" /><ns0:Relationship Type="http://schemas.openxmlformats.org/officeDocument/2006/relationships/tableStyles" Target="/ppt/tableStyles.xml" Id="R4121ba0893914038" /><ns0:Relationship Type="http://schemas.openxmlformats.org/officeDocument/2006/relationships/slide" Target="/ppt/slides/slide1.xml" Id="Rcddb558461ca4610" /><ns0:Relationship Type="http://schemas.openxmlformats.org/officeDocument/2006/relationships/slide" Target="/ppt/slides/slide2.xml" Id="R2fddb351ec674562" /><ns0:Relationship Type="http://schemas.openxmlformats.org/officeDocument/2006/relationships/slide" Target="/ppt/slides/slide3.xml" Id="R237b46b016d74095" /><ns0:Relationship Type="http://schemas.openxmlformats.org/officeDocument/2006/relationships/slide" Target="/ppt/slides/slide4.xml" Id="R3f5203fe68a64f15" /><ns0:Relationship Type="http://schemas.openxmlformats.org/officeDocument/2006/relationships/slide" Target="/ppt/slides/slide5.xml" Id="Rf79e2c62202c48c9" /><ns0:Relationship Type="http://schemas.openxmlformats.org/officeDocument/2006/relationships/slide" Target="/ppt/slides/slide6.xml" Id="R44fe7e7f107840e6" /><ns0:Relationship Type="http://schemas.openxmlformats.org/officeDocument/2006/relationships/slide" Target="/ppt/slides/slide7.xml" Id="R273b0233aee34d56" /><ns0:Relationship Type="http://schemas.openxmlformats.org/officeDocument/2006/relationships/slide" Target="/ppt/slides/slide8.xml" Id="Rcb99576a4dca447c" /><ns0:Relationship Type="http://schemas.openxmlformats.org/officeDocument/2006/relationships/slide" Target="/ppt/slides/slide9.xml" Id="R8d8b364957b945da" /><ns0:Relationship Type="http://schemas.openxmlformats.org/officeDocument/2006/relationships/slide" Target="/ppt/slides/slide10.xml" Id="Ra1bf487993a64a4d" /><ns0:Relationship Type="http://schemas.openxmlformats.org/officeDocument/2006/relationships/slide" Target="/ppt/slides/slide11.xml" Id="R860129ac1ac842fe" /><ns0:Relationship Type="http://schemas.openxmlformats.org/officeDocument/2006/relationships/slide" Target="/ppt/slides/slide12.xml" Id="Rdb0f0868acd24be7" /><ns0:Relationship Type="http://schemas.openxmlformats.org/officeDocument/2006/relationships/slide" Target="/ppt/slides/slide13.xml" Id="R4d750e2ec7714070" /><ns0:Relationship Type="http://schemas.openxmlformats.org/officeDocument/2006/relationships/slide" Target="/ppt/slides/slide14.xml" Id="Rcb95b0a0f87a4f90" /><ns0:Relationship Type="http://schemas.openxmlformats.org/officeDocument/2006/relationships/slide" Target="/ppt/slides/slide15.xml" Id="R82ad169395274945" /><ns0:Relationship Type="http://schemas.openxmlformats.org/officeDocument/2006/relationships/slide" Target="/ppt/slides/slide16.xml" Id="R5e750fb595de4ad3" /><ns0:Relationship Type="http://schemas.openxmlformats.org/officeDocument/2006/relationships/slide" Target="/ppt/slides/slide17.xml" Id="R73eeb793a85848b9" /><ns0:Relationship Type="http://schemas.openxmlformats.org/officeDocument/2006/relationships/slide" Target="/ppt/slides/slide18.xml" Id="Rda9946198bc94dee" /><ns0:Relationship Type="http://schemas.openxmlformats.org/officeDocument/2006/relationships/slide" Target="/ppt/slides/slide19.xml" Id="Rb0882bbf00824ebc" /><ns0:Relationship Type="http://schemas.openxmlformats.org/officeDocument/2006/relationships/slide" Target="/ppt/slides/slide20.xml" Id="R54904b22134949a0" /><ns0:Relationship Type="http://schemas.openxmlformats.org/officeDocument/2006/relationships/slide" Target="/ppt/slides/slide21.xml" Id="R9fa9ff506bf24e2b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26ec69fc86134885" /></ns0:Relationships>
</file>

<file path=ppt/slideLayouts/_rels/slideLayout2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f6479b5ea5e243b0" /></ns0:Relationships>
</file>

<file path=ppt/slideLayouts/_rels/slideLayout3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8330420361740ab" /></ns0:Relationships>
</file>

<file path=ppt/slideLayouts/_rels/slideLayout4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72b66b12e31c44fa" /></ns0:Relationships>
</file>

<file path=ppt/slideLayouts/_rels/slideLayout5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2fb8223799b442f9" /></ns0:Relationships>
</file>

<file path=ppt/slideLayouts/_rels/slideLayout6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43065da88d1a48fc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6929E4-A323-4CB2-88CB-11EA6EBF2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6EB4CAA-445E-4318-B0E4-8B5BD4FE5F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AC01D08-7C89-4FB1-B660-3101C125F6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50B9AD9-E5E7-4887-A3A2-74216B3CE4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15F7F3B-FC9F-475D-A3BD-31BE79CF36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D61562D-315D-4D04-A421-D0AA40C164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A7A673-927C-468E-8E3A-C20A5F5902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21650A4-D479-42FA-9067-3933B5BC28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6C2823-5724-492D-BF56-B797337E2E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09FC14-991C-46A2-AF3A-45BFD44613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d628fdf1b1a849ad" /><ns0:Relationship Type="http://schemas.openxmlformats.org/officeDocument/2006/relationships/slideLayout" Target="/ppt/slideLayouts/slideLayout1.xml" Id="R33e992e23c464ed4" /><ns0:Relationship Type="http://schemas.openxmlformats.org/officeDocument/2006/relationships/slideLayout" Target="/ppt/slideLayouts/slideLayout2.xml" Id="R807b66e14f5d4bee" /><ns0:Relationship Type="http://schemas.openxmlformats.org/officeDocument/2006/relationships/slideLayout" Target="/ppt/slideLayouts/slideLayout3.xml" Id="Re2ec3901cf3f49f7" /><ns0:Relationship Type="http://schemas.openxmlformats.org/officeDocument/2006/relationships/slideLayout" Target="/ppt/slideLayouts/slideLayout4.xml" Id="R7977a8010ddf494a" /><ns0:Relationship Type="http://schemas.openxmlformats.org/officeDocument/2006/relationships/slideLayout" Target="/ppt/slideLayouts/slideLayout5.xml" Id="Re4ebf76e0112464a" /><ns0:Relationship Type="http://schemas.openxmlformats.org/officeDocument/2006/relationships/slideLayout" Target="/ppt/slideLayouts/slideLayout6.xml" Id="Re4bda83aacc14307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e992e23c464ed4"/>
    <p:sldLayoutId xmlns:r="http://schemas.openxmlformats.org/officeDocument/2006/relationships" id="2147483650" r:id="R807b66e14f5d4bee"/>
    <p:sldLayoutId xmlns:r="http://schemas.openxmlformats.org/officeDocument/2006/relationships" id="2147483651" r:id="Re2ec3901cf3f49f7"/>
    <p:sldLayoutId xmlns:r="http://schemas.openxmlformats.org/officeDocument/2006/relationships" id="2147483652" r:id="R7977a8010ddf494a"/>
    <p:sldLayoutId xmlns:r="http://schemas.openxmlformats.org/officeDocument/2006/relationships" id="2147483653" r:id="Re4ebf76e0112464a"/>
    <p:sldLayoutId xmlns:r="http://schemas.openxmlformats.org/officeDocument/2006/relationships" id="2147483654" r:id="Re4bda83aacc143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68b4bf985a54da0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54f66eedb3f42e9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09a45a2862f4806" /><ns0:Relationship Type="http://schemas.openxmlformats.org/officeDocument/2006/relationships/image" Target="/ppt/media/image.png" Id="Rc34baf0b190845f6" /><ns0:Relationship Type="http://schemas.openxmlformats.org/officeDocument/2006/relationships/image" Target="/ppt/media/image2.png" Id="R684e9e55d5814af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fe271efc3c0466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fb832eb16bc43fb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db7be3c00c7406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0186b6a059a4b56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7e5a8c2fe4643cb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fd7a531ce4e48c0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1549db3aa844495" /><ns0:Relationship Type="http://schemas.openxmlformats.org/officeDocument/2006/relationships/image" Target="/ppt/media/image3.png" Id="R0de0f76b53ad45f3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a60979bb985452a" /><ns0:Relationship Type="http://schemas.openxmlformats.org/officeDocument/2006/relationships/image" Target="/ppt/media/image4.png" Id="R0cfb163dfae84182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fbe794cce4443e8" /><ns0:Relationship Type="http://schemas.openxmlformats.org/officeDocument/2006/relationships/image" Target="/ppt/media/image5.png" Id="R9465d087c1fa431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2c363139d6a443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09e356a32db4e2b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52d237b8c1142dc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dc3129d52424a0a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b070412bd73465c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b8982b873144d9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bcbb241aff54789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e349374f213468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086b5223bd74b48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26EE6-C97C-42BF-87DD-5D1509C6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BAFB66-4A9A-430B-B48C-5036F2C3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"/>
            <a:ext cx="12192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90239-1F8E-4ADA-9AF7-DDB73320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00075" cy="60007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F0EF7-4A20-4F59-B10B-13BF1548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810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76"/>
          </a:bodyPr>
          <a:lstStyle xmlns:a="http://schemas.openxmlformats.org/drawingml/2006/main">
            <a:def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1FC59-A014-4735-B885-149A45A1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6191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DH 308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2066B-8350-4196-BB5A-156A9D06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62150"/>
            <a:ext cx="98107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Designing a hospital</a:t>
            </a:r>
          </a:p>
          <a:p xmlns:a="http://schemas.openxmlformats.org/drawingml/2006/main">
            <a:pPr algn="l">
              <a:defRPr sz="43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billing system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EF6FD-52B2-45A5-9FBA-BA193F17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81450"/>
            <a:ext cx="9382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An India focused prototype that connects clinical work, pharmacy and the final patient bill.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B4A93-0A8F-4D96-BB50-3939B273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10820400" cy="885825"/>
          </a:xfrm>
          <a:prstGeom xmlns:a="http://schemas.openxmlformats.org/drawingml/2006/main" prst="roundRect">
            <a:avLst>
              <a:gd name="adj" fmla="val 15054"/>
            </a:avLst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AE580-0DC4-4135-A77D-C07A97EA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391150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 note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19175-C459-47A3-A36A-FE31C98C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391150"/>
            <a:ext cx="33432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 dispense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F6273-6113-40E2-B0FC-B819E233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391150"/>
            <a:ext cx="3162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Itemised invoice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D92E3-2651-4757-AFEF-BA64F716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72225"/>
            <a:ext cx="190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087E9B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5F39A5-769C-4C51-9259-4801418B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6372225"/>
            <a:ext cx="190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087E9B"/>
                </a:solidFill>
                <a:latin typeface="Arial"/>
                <a:ea typeface="Arial"/>
                <a:cs typeface="Arial"/>
              </a:rPr>
              <a:t>Tax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28115-453F-4519-B9EC-B5975E73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6372225"/>
            <a:ext cx="190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087E9B"/>
                </a:solidFill>
                <a:latin typeface="Arial"/>
                <a:ea typeface="Arial"/>
                <a:cs typeface="Arial"/>
              </a:rPr>
              <a:t>Payers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8939D7-A603-4284-8262-B795E5BA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372225"/>
            <a:ext cx="190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087E9B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</p:spTree>
    <p:extLst>
      <p:ext uri="{BB962C8B-B14F-4D97-AF65-F5344CB8AC3E}">
        <p14:creationId xmlns:p14="http://schemas.microsoft.com/office/powerpoint/2010/main" val="7920757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9193B4-DF2F-4E04-868F-11C5E263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5C5CDE-812F-46C3-A608-241230E4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46E15-B2EF-40A5-BCE8-E5D84232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From treatment to one patient bill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6ECDA-0A96-4DFB-8419-4AB6C316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0A97E-9A17-446C-9655-43E88983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0D8B30-227D-4EF9-A2D6-A0EE594E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CA0BD-DC5B-4B6D-BCD0-B3993B2A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9725"/>
            <a:ext cx="10287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559"/>
          </a:bodyPr>
          <a:lstStyle xmlns:a="http://schemas.openxmlformats.org/drawingml/2006/main">
            <a:defPPr algn="l">
              <a:defRPr sz="210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3847"/>
                </a:solidFill>
                <a:latin typeface="Arial"/>
                <a:ea typeface="Arial"/>
                <a:cs typeface="Arial"/>
              </a:rPr>
              <a:t>A patient visit creates information in several places. The encounter ID brings it together.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BDA2A6-D970-4109-BD59-2B72BA1C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3295650" cy="2047875"/>
          </a:xfrm>
          <a:prstGeom xmlns:a="http://schemas.openxmlformats.org/drawingml/2006/main" prst="roundRect">
            <a:avLst>
              <a:gd name="adj" fmla="val 8372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F49C6D-CF85-4C79-86EB-441C8D33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DB8750-257F-4130-ACAC-0771C1E2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196EE-1311-446F-9396-20D5922B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0A1AE-FA91-4442-B4F6-D1DCA192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Records a note, diagnosis and delivered service.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F7205-F8F6-4E1A-8CF3-736FA345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3295650" cy="2047875"/>
          </a:xfrm>
          <a:prstGeom xmlns:a="http://schemas.openxmlformats.org/drawingml/2006/main" prst="roundRect">
            <a:avLst>
              <a:gd name="adj" fmla="val 837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F1EFE-70E0-4483-AD5A-2CAEB0D5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AD1C8-2829-4836-8C53-F83E4294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37F79C-E29C-42FF-82C7-A2E5D4D8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71868-C9DF-451F-A32A-7BF1BB48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Dispenses a prescribed item from a stock batch.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332EB3-015A-41DE-97E6-F01DB2A2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3295650" cy="2047875"/>
          </a:xfrm>
          <a:prstGeom xmlns:a="http://schemas.openxmlformats.org/drawingml/2006/main" prst="roundRect">
            <a:avLst>
              <a:gd name="adj" fmla="val 8372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21FABE-427E-45BD-AF7D-806DF656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90654C-55A4-4456-9804-D26C6693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0622D1-E614-4E86-A963-64F90582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8801A3-E0C8-4779-AB8C-BE9B2A60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Applies tariff and tax rules, then issues one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2BDF16-BB92-4C3D-867C-FA14828A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107537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13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A1B50-0658-4E71-BF89-888E7B40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149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key: one patient encounter</a:t>
            </a:r>
          </a:p>
        </p:txBody>
      </p:sp>
    </p:spTree>
    <p:extLst>
      <p:ext uri="{BB962C8B-B14F-4D97-AF65-F5344CB8AC3E}">
        <p14:creationId xmlns:p14="http://schemas.microsoft.com/office/powerpoint/2010/main" val="2273108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A8288-8D5A-4668-8925-C6814776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97234B-A73F-4F35-A55E-AF15A8F7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2376B-CD6E-408B-85C0-7AC5345D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What the uploaded bills showed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E5653-1985-4BD2-BE53-A89F1E1F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C28AC-5433-4565-BD69-843B1EC0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BA793-C869-4A77-B341-7C9A50AA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523E4-DA66-4366-844E-59C21BDC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two real formats list services differently. We retained only service rows in these crops.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8C5F5-783F-4936-9D21-9EA6F185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5105400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22F84-47CD-4839-A93E-E6B7C39B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105400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7210-6E1F-433E-ADC0-70CD48B0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3717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Bill sample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40A40-77E2-475C-991D-1CA2F4BC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717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Bill sample B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575F4-7F52-4B00-9E3F-4A93879666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baf0b190845f6"/>
          <a:stretch xmlns:a="http://schemas.openxmlformats.org/drawingml/2006/main"/>
        </p:blipFill>
        <p:spPr>
          <a:xfrm xmlns:a="http://schemas.openxmlformats.org/drawingml/2006/main">
            <a:off x="904875" y="3117632"/>
            <a:ext cx="4733925" cy="76561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B3EAE1-405F-4438-998B-08EFB5F796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e9e55d5814af4"/>
          <a:stretch xmlns:a="http://schemas.openxmlformats.org/drawingml/2006/main"/>
        </p:blipFill>
        <p:spPr>
          <a:xfrm xmlns:a="http://schemas.openxmlformats.org/drawingml/2006/main">
            <a:off x="6966799" y="2762250"/>
            <a:ext cx="3906727" cy="15144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2213A-E5D7-4435-B1D7-CB7951E3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434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Our design 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93CEFF-3065-4D6D-94D5-E2CA3E36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372100"/>
            <a:ext cx="10248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Capture each completed service by encounter ID, then show the source, quantity, tariff and tax on the invoice.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227E91-0666-4E54-AE49-0CBE130B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Bill crops supplied for this project. Patient names, IDs, dates and contact details were excluded.</a:t>
            </a:r>
          </a:p>
        </p:txBody>
      </p:sp>
    </p:spTree>
    <p:extLst>
      <p:ext uri="{BB962C8B-B14F-4D97-AF65-F5344CB8AC3E}">
        <p14:creationId xmlns:p14="http://schemas.microsoft.com/office/powerpoint/2010/main" val="2060976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4C22FC-10F6-4380-9BF6-BA6BAE96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B5FBA-6D0D-4DAC-B7B4-54FB8964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6D4E7-4057-4EA3-ACAD-F4EAE11B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CCA8D-4018-4B3E-B59E-69650B5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A8D59-B40D-4083-99CB-FE9ADA71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A3BB7-863F-45AF-8327-2949B8C1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26B22-760C-4CAC-AF67-1FA90A7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34675" cy="895350"/>
          </a:xfrm>
          <a:prstGeom xmlns:a="http://schemas.openxmlformats.org/drawingml/2006/main" prst="roundRect">
            <a:avLst>
              <a:gd name="adj" fmla="val 13830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90846-14F0-422C-93FD-8528B01E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430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A3923-FC7B-4947-9D4F-73F43045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04975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 service can be missed, repeated, charged at the wrong tariff, or confused with a payer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0B611-A424-4B9B-9F94-9CA725E1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E0ECB-D70C-4CD8-B291-F0460F12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B769C-8B81-47FC-82C9-98D9A4B1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A2F148-3C42-4946-9D91-6BEDD26F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17E78C-4986-4F55-9204-5C56012A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Reject a repeated HIS event ID.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1BE92C-7B05-4C82-B0CD-5FC9AA1C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8E6DA-4D0B-46AE-B46B-1A31106C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16B59A-1041-4428-9C05-B01D6EE8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C023F-E039-4866-B6A8-0E3E0506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Use the right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74FA5-ED1E-4EBB-9ADC-4046E5CC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Snapshot the payer tariff on the charge.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D08D64-12A5-4C54-80DA-417FD03B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FDC201-BF87-4A1C-9D03-32015C65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F832DE-CF55-45FD-A997-9F70365C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A9DA22-787B-44E7-96C2-EEDD3B7F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Explain the bill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C225CF-E19F-47AC-8945-A5D68440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Show item, quantity, GST and total.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6DD0F6-53AD-4E2E-92BC-5B9815E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1338B8-C13C-403C-AFAA-DD73EDD7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41CC7B-42A5-4D5E-B6DF-5994519E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E5A467-E022-4CAB-98C1-31EC3559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Track money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C33ED-4BBF-4804-A2F6-0C60C3AF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Keep claims and actual receipts separate.</a:t>
            </a:r>
          </a:p>
        </p:txBody>
      </p:sp>
    </p:spTree>
    <p:extLst>
      <p:ext uri="{BB962C8B-B14F-4D97-AF65-F5344CB8AC3E}">
        <p14:creationId xmlns:p14="http://schemas.microsoft.com/office/powerpoint/2010/main" val="16860613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A624D2-ED11-4DE8-A2EA-FCDFE6D6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43990-3DE1-470B-BF44-66ADD594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7F6AB-55AF-44F7-8061-3BF0C9AB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Existing gaps and why they occur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E823E-2674-4CE6-B6F2-C953F983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23B9D-8319-4FA6-A98B-0641DF81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53D40-835C-4A15-91DC-2F4CE0DA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1166B-A943-4DA2-8C12-1ECAD063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57032-F576-4C24-A88A-C697125C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09725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5A408-1CAE-40DA-A84E-2B0515E3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60972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Design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9FB546-EEFD-4E70-BF80-1000ABA9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10734675" cy="752475"/>
          </a:xfrm>
          <a:prstGeom xmlns:a="http://schemas.openxmlformats.org/drawingml/2006/main" prst="roundRect">
            <a:avLst>
              <a:gd name="adj" fmla="val 12658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4E132-8664-4AE3-92E9-B1228F12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31C89E-737B-4EA4-95E5-CED3FFC9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86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488822-9BD3-4080-AF35-7BBF47E9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38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Missing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10E2B-512D-4501-BD59-3C4187DE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Manual handoff between care and billing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1C64CC-87B4-4697-B438-DC52884E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17170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Doctor event posts a 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5DD02A-E192-4A44-82D4-8E0CB2B6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34675" cy="752475"/>
          </a:xfrm>
          <a:prstGeom xmlns:a="http://schemas.openxmlformats.org/drawingml/2006/main" prst="roundRect">
            <a:avLst>
              <a:gd name="adj" fmla="val 12658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64FB51-30A6-4AF0-8D08-45638A04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A974D5-E275-4EE8-82E8-85A57C50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28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63928B-AD5B-4D79-AEB9-3429B5FB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81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Wrong amount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444B82-E76F-4DB7-B122-A1E64142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Different payer rate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7B3E6-C3AB-4732-A9A8-95ACB50D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11467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Rate chosen at capture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31CAB4-FB29-4016-B1F1-A608F7BC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4775"/>
            <a:ext cx="10734675" cy="752475"/>
          </a:xfrm>
          <a:prstGeom xmlns:a="http://schemas.openxmlformats.org/drawingml/2006/main" prst="roundRect">
            <a:avLst>
              <a:gd name="adj" fmla="val 12658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CAE567-EBF5-4FC5-8EE1-99071CC3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95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0B64BD-812D-4227-B714-CF2A1F8F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71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747EC0-0A6E-4B43-A90D-43436652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243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Payment confusion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1D892F-73B8-4EEE-8329-3CB6A25E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5765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Approval treated as collection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B0DD43-24BA-4A1D-87A0-DFB3D7EA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05765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Claim and receipt stored separately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98BB1-5A89-4038-BE4C-60E9D5B6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34675" cy="752475"/>
          </a:xfrm>
          <a:prstGeom xmlns:a="http://schemas.openxmlformats.org/drawingml/2006/main" prst="roundRect">
            <a:avLst>
              <a:gd name="adj" fmla="val 12658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92C3A7-3699-4CEB-BE4D-A04113C9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387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201BC4-5805-4948-B621-BC488433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45488B-2107-41DC-BEFC-91FADF78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Discharge delay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2ABD2B-94A5-4C4A-B452-685C95DE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0062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Charges assembled at the 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C3093A-C699-4D86-B9DA-DBE4CA29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00062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Running bill stays current</a:t>
            </a:r>
          </a:p>
        </p:txBody>
      </p:sp>
    </p:spTree>
    <p:extLst>
      <p:ext uri="{BB962C8B-B14F-4D97-AF65-F5344CB8AC3E}">
        <p14:creationId xmlns:p14="http://schemas.microsoft.com/office/powerpoint/2010/main" val="17647636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541EEF-5EF3-4536-B68B-2F8210C6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D817C-E32C-4407-AB4A-1A0ED800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018A6-430F-4A6A-9DBB-E42E91AC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Indian sources used in the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AD50D2-8060-473C-95E0-F79AC2E8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8162F-CBB3-4121-AF3A-77EE3555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D43BA-FA9D-496A-BD7F-42B14701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93D11-938A-4538-80CD-736CEEE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45B2C-98BC-4CC3-BF65-ACD3DF4F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C0DC7-5B5C-4580-8787-27A5B0DE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4782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8BC91-16EE-46EF-A93D-DFA82FCA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526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Patients’ Rights Charter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133F13-8D41-40A4-A96B-3ECFF06F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430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patient receives an itemised bill and payment receipts.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E1A8D-32EF-4E55-A19B-2C6FF2F4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765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F5D83-6BA6-4E8A-99E4-4AD0AEE0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5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4EC18-3D6B-4306-9D63-1E9DDA09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09850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90F01-7C19-4825-AB64-B1B8B400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46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GST Council and CBIC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E85D6-5625-4C59-8682-6A1D5E64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051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Goods and room charges need different GST rules.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97BADF-B9B9-4DAE-BCAD-476942E2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38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18C2D4-F1C3-44B8-8AD4-CCC66A34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14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C66C2D-A0FD-4B92-9A8F-27A69DC4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57187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B5271-3523-488B-AC32-150ED981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NHA PM-JAY manuals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1DDA2-4456-4B46-AFE5-75EAE79E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671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 package claim needs the scheme pathway and documents.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A34339-BCD0-4E35-9DBB-8CF26209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005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BE38F4-D3E6-4DCD-B451-313C6956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67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2D753F-DAEF-4A8B-9B83-E0B9BC9F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33900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601587-5ED5-40D9-A422-FD239941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386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IRDAI health insurance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783AFA-08CD-4F07-935E-0A6B00B0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291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Cashless approval and final settlement are separate steps.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ABC215-B21F-4A66-8F54-1E100822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Official sources and access links are listed on the final slide. Course lectures informed the HIS and ER design.</a:t>
            </a:r>
          </a:p>
        </p:txBody>
      </p:sp>
    </p:spTree>
    <p:extLst>
      <p:ext uri="{BB962C8B-B14F-4D97-AF65-F5344CB8AC3E}">
        <p14:creationId xmlns:p14="http://schemas.microsoft.com/office/powerpoint/2010/main" val="7201070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A67C49-108E-40C2-9510-C2490D37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95F86-B1A2-4388-9431-352D2FA4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31625-A5C4-4B89-B18A-E5355C5D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GST decisions used in the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04B7B-B33C-40F6-B887-7E36EF59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176DC-97F3-4376-A9AB-70945CBB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86C96-47B2-4E7E-978A-D6FAD626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7D13B2-C968-469B-9824-E7DA9A4D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3847"/>
                </a:solidFill>
                <a:latin typeface="Arial"/>
                <a:ea typeface="Arial"/>
                <a:cs typeface="Arial"/>
              </a:rPr>
              <a:t>The tax follows the type of supply, not the department name.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588E76-326C-41D7-93B3-607B31DA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10744200" cy="73342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24580B-152F-4893-BB57-248FE379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OPD medicine sale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BADB4F-59AB-4E8C-9194-A77A87E0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05050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Training medicine ₹100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3C271-46D7-4633-AB10-5E56D7FA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05050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B5FB58-1240-4B24-A177-2D33EA04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30505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₹105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ADD8C3-3102-4EBF-866A-E1FC2EA7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0744200" cy="73342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244A8-5CF9-4D45-B454-98262729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09925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Nil rated item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97ED4-C5B5-43E7-8D31-445AF416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190875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Contraceptive SKU, HSN 3006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B9604B-8023-4885-8376-5001A82B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190875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Nil GST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78AD96-DA53-4275-8256-BD82AB1F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90875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₹180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9D8FEB-AB20-493E-996F-3798782A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744200" cy="73342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2D2E1-1411-46C6-9D77-F88EF8D5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IPD treatment supply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5A4B59-9C51-4B17-BDB9-47D00164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076700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Medicine within qualifying care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FBB867-25DE-4B39-880F-561853F3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076700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Exempt 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302124-791B-49C8-920E-F4001EF8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07670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₹100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DAAED9-A21B-491F-98F8-CB6FCCD3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0744200" cy="73342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B6C92D-B353-4846-BBC8-9F3CEB0C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81575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Private room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45784E-B904-44DB-8B20-658B4865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962525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Non-ICU room above ₹5,000/day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0675D-4DCA-4AF3-9882-315B02FE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962525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4D24D7-FABF-41BD-8331-72CFF939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962525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₹6,300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992BD4-E2FE-4BBB-926A-65112955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GST Council 2025 medicine FAQ; CBIC goods rates; GST Council service rates, entry 31A; GST Council inpatient AAR discussion.</a:t>
            </a:r>
          </a:p>
        </p:txBody>
      </p:sp>
    </p:spTree>
    <p:extLst>
      <p:ext uri="{BB962C8B-B14F-4D97-AF65-F5344CB8AC3E}">
        <p14:creationId xmlns:p14="http://schemas.microsoft.com/office/powerpoint/2010/main" val="16859300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55ED1C-C272-412B-934A-712F02A4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16897-F26D-4161-BD55-09169C5E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23BEC-3192-49F0-906D-3F69F62B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System modules and integration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93E9C-B92E-4883-AE9F-FEB1B4B6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8109C4-FF67-413C-8275-BDC00D38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3601C-FF6F-498E-B62E-8E5567BA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F0045-842C-4ED8-8026-E1068E9B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363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3847"/>
                </a:solidFill>
                <a:latin typeface="Arial"/>
                <a:ea typeface="Arial"/>
                <a:cs typeface="Arial"/>
              </a:rPr>
              <a:t>Three desks work on the same encounter. FastAPI checks each write before PostgreSQL stores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0CE19-0468-4E11-B39F-8353AD65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276600" cy="1057275"/>
          </a:xfrm>
          <a:prstGeom xmlns:a="http://schemas.openxmlformats.org/drawingml/2006/main" prst="roundRect">
            <a:avLst>
              <a:gd name="adj" fmla="val 12613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B89D7-8E51-4B25-8E05-886777D6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2A1AE-FDA8-4CF5-B2CC-20399EED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Note, ICD-10, service, prescription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C682F-452C-4B91-9974-8D0FAA9A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95550"/>
            <a:ext cx="3276600" cy="1057275"/>
          </a:xfrm>
          <a:prstGeom xmlns:a="http://schemas.openxmlformats.org/drawingml/2006/main" prst="roundRect">
            <a:avLst>
              <a:gd name="adj" fmla="val 12613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E88D4-DF22-4D85-B08C-3DD461D9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DD7B6-E340-4420-9C46-D959D945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Prescription, batch, dispense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E96C0-2D39-41A1-8036-A54F6F94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95550"/>
            <a:ext cx="3276600" cy="1057275"/>
          </a:xfrm>
          <a:prstGeom xmlns:a="http://schemas.openxmlformats.org/drawingml/2006/main" prst="roundRect">
            <a:avLst>
              <a:gd name="adj" fmla="val 12613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37085-6DC8-4254-9E36-8186B54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E8CBBC-3D56-4810-8ABB-3A512F62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Room, payer, invoice,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3C9579-CA1B-4E65-BD53-4651C297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10096500" cy="781050"/>
          </a:xfrm>
          <a:prstGeom xmlns:a="http://schemas.openxmlformats.org/drawingml/2006/main" prst="roundRect">
            <a:avLst>
              <a:gd name="adj" fmla="val 15854"/>
            </a:avLst>
          </a:prstGeom>
          <a:solidFill xmlns:a="http://schemas.openxmlformats.org/drawingml/2006/main">
            <a:srgbClr val="113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18FD3C-DE88-48FB-94A7-051D12E8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719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FastAPI: access checks, charge capture, tax rules, claim state and invoice 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E9BB96-EE09-454F-ACD3-BA9599CF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53025"/>
            <a:ext cx="6315075" cy="66675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B60EF3-53CD-4F62-966C-187A2991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34000"/>
            <a:ext cx="596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PostgreSQL: linked records and audit events</a:t>
            </a:r>
          </a:p>
        </p:txBody>
      </p:sp>
    </p:spTree>
    <p:extLst>
      <p:ext uri="{BB962C8B-B14F-4D97-AF65-F5344CB8AC3E}">
        <p14:creationId xmlns:p14="http://schemas.microsoft.com/office/powerpoint/2010/main" val="8210298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2A4731-431D-404C-B673-732136F6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8A137-1778-4106-83D9-A118313B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9BAD8-DE37-4AFC-AC4D-57F4F1E1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Database schema: the useful links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E1442-5744-4C6E-8A3C-A701AE7A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FFA84-F149-4ECB-B942-363D6E33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22F5C-1BDB-42F0-A35B-2C4C39BE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36EE8-331B-4D41-AA6E-989E32B1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9F724-8F54-43B9-9B07-C007AE01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4B7E10-4B0E-4332-B663-1BD207C9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EE522-BEAF-4240-B501-4DC84BE2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patient_id (PK)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A7BB8-AD6D-487F-9794-1ACBA0D0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48065A-B08B-4D22-85A1-6B56C25E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4F11B-F382-41D5-B8F5-1734B573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encounter_id (PK), patient_id (FK)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4AB32-E483-41A4-A63A-F03E4BCA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D5048E-4691-4D43-BC65-B0C232B4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clinical_notes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1F4F13-7FBB-42A9-B077-6E18F223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encounter_id (FK), doctor, ICD-10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1875A-3359-44A2-9378-BFDE88FD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30A7F-FE63-4285-8D34-C6BFCC12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prescriptions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AC45A5-8480-40E7-B74F-0909DEEE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encounter_id (FK), item_code (FK)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5190C-119F-479C-9158-E7DE2763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C4FD9B-F9CB-4155-BF04-7641C047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66925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2461C-685A-4FA4-B3FF-B53BF67E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21931-709A-4D88-9185-77749F79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service_code (PK), tax rule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D9BE61-85FF-4D72-AE6B-C5815377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9CE20E-305A-414C-9475-2D29AB60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D2F07D-B31F-49A5-951B-0739870A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charge_id (PK), encounter_id (FK)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32B593-201B-4D44-B10F-FED9240B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762375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B2F1B4-FAC2-4186-8BA3-9B7577DB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3825E5-958B-430F-908C-88E0DD5F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invoice_id (PK), encounter_id (FK)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2E104C-0038-4EEE-ADD1-B43482D0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10100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37188C-54FA-459D-AF5A-6AF2D704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invoice_lines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7D6016-E961-41D6-A791-FA3A6B1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invoice_id (FK), charge_id (FK)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A521EC-0214-4D53-AF73-D1F91B07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PAYER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727A5A-7B2D-4673-A8AC-1756395C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66925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261D97-FDAD-4167-A485-0F0FD0B0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coverages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546010-469E-499D-8A22-668C9B9E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encounter_id (FK), payer route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ADF67C-9A21-4BAB-8E0A-48780BB1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52D40D-8FCE-4526-ADC1-00433021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preauths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3E8AC5-7E28-448F-9BE7-A208B454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encounter_id (FK), decision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E5F005-CE28-44B6-9B53-791FBDCA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6C05FD-2B43-4DD5-B295-3D17AD5B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15E3EB-277C-487F-868F-B4A546A2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invoice_id (FK), approval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7D61C1-B6A0-4592-9EB0-7BC3C91C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3305175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9E55B9-CA84-4D89-B531-1570D57A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4E2EFC-DF66-4E5D-BD2E-684FE697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invoice_id (FK), payer, amount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78B0C1-89DD-4FCF-82BC-A75D4F5E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744200" cy="390525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9134D5-E25A-43ED-8657-211D07CE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9775"/>
            <a:ext cx="10353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3847"/>
                </a:solidFill>
                <a:latin typeface="Arial"/>
                <a:ea typeface="Arial"/>
                <a:cs typeface="Arial"/>
              </a:rPr>
              <a:t>One encounter has many charges and at most one final invoice.</a:t>
            </a:r>
          </a:p>
        </p:txBody>
      </p:sp>
    </p:spTree>
    <p:extLst>
      <p:ext uri="{BB962C8B-B14F-4D97-AF65-F5344CB8AC3E}">
        <p14:creationId xmlns:p14="http://schemas.microsoft.com/office/powerpoint/2010/main" val="4662178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21BD7-7F26-4A5B-90DB-5C53BE90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EABCE7-FF77-47BB-B300-B1E0DBD9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2FF5F-4EB6-49D7-AB91-53168AA5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Chen notation ER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4D5766-FDC1-4325-A919-25112951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D7D07-6C55-43B7-9AB2-1E57AEF5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59D0A-C0FA-4070-87D8-D62D7C36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D7706-A3FB-460E-BE81-6681546CE3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0f76b53ad45f3"/>
          <a:stretch xmlns:a="http://schemas.openxmlformats.org/drawingml/2006/main"/>
        </p:blipFill>
        <p:spPr>
          <a:xfrm xmlns:a="http://schemas.openxmlformats.org/drawingml/2006/main">
            <a:off x="2036296" y="1514475"/>
            <a:ext cx="8109883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10751-1E88-433E-A783-8C0FDE5A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This conceptual diagram was supplied for the project. Blue = HIS, green = pharmacy, yellow = billing, orange = external payer.</a:t>
            </a:r>
          </a:p>
        </p:txBody>
      </p:sp>
    </p:spTree>
    <p:extLst>
      <p:ext uri="{BB962C8B-B14F-4D97-AF65-F5344CB8AC3E}">
        <p14:creationId xmlns:p14="http://schemas.microsoft.com/office/powerpoint/2010/main" val="21127919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6C82B-25C4-4B75-936A-91F28403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BD16E-B8DE-44AB-BDD8-FFD2ED63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A742E7-1ADC-4EFA-9845-FA428390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ER detail: patient and HIS relationships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17959-C34E-4737-B0A9-9DBEEF3E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B383C-5040-4530-8714-E6DF2598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E7993-31F6-4E0C-A31D-018633AE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9889D-740B-49EC-A8DA-704BD363C4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b163dfae84182"/>
          <a:stretch xmlns:a="http://schemas.openxmlformats.org/drawingml/2006/main"/>
        </p:blipFill>
        <p:spPr>
          <a:xfrm xmlns:a="http://schemas.openxmlformats.org/drawingml/2006/main">
            <a:off x="571500" y="1498575"/>
            <a:ext cx="10925175" cy="4146601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867C4-F0E8-4304-9EBC-1F50ED5E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52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Patient and registration anchor the visit. Doctor and ward connect to clinical orders in the full diagram.</a:t>
            </a:r>
          </a:p>
        </p:txBody>
      </p:sp>
    </p:spTree>
    <p:extLst>
      <p:ext uri="{BB962C8B-B14F-4D97-AF65-F5344CB8AC3E}">
        <p14:creationId xmlns:p14="http://schemas.microsoft.com/office/powerpoint/2010/main" val="11817933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B80DC-413E-47BB-8D5D-EE043BC5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07ABE-94EF-41AB-8CBD-8892CA6C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9315A3-B041-48E5-B629-B23EBE4B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ER detail: bill, payer and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40C85-7E77-474E-9F75-30A9C82D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4C089-C7D9-4A41-84D0-7FA17DF8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F93ED-1ED9-43DF-AE54-83B354E5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6CA1F-0278-47D1-8775-ACC5133C33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5d087c1fa4316"/>
          <a:stretch xmlns:a="http://schemas.openxmlformats.org/drawingml/2006/main"/>
        </p:blipFill>
        <p:spPr>
          <a:xfrm xmlns:a="http://schemas.openxmlformats.org/drawingml/2006/main">
            <a:off x="666750" y="1467507"/>
            <a:ext cx="10810875" cy="420873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5BCF11-2D5F-401E-8A46-83EF5FC0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54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bill links to insurance claim and payment. The full diagram also shows its itemised bill lines.</a:t>
            </a:r>
          </a:p>
        </p:txBody>
      </p:sp>
    </p:spTree>
    <p:extLst>
      <p:ext uri="{BB962C8B-B14F-4D97-AF65-F5344CB8AC3E}">
        <p14:creationId xmlns:p14="http://schemas.microsoft.com/office/powerpoint/2010/main" val="156258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35B28F-99BD-4F2F-A83E-95F70DFD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D7BAF-1DEA-4DC5-9DA7-BEBFCA71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217BF-BC57-475C-895C-779384F9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What our demo assumes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BA965-0D99-431B-AD62-26965176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7187D-31DC-4CF0-9BAF-5CC80234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39208-9740-401B-B679-001473DD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F8C49-C2EF-44C4-9A71-3E34992D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38FBE-8A41-47DA-BC57-7848FC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BC938E-73ED-4FC9-BEB6-569445D1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581150"/>
            <a:ext cx="10067925" cy="638175"/>
          </a:xfrm>
          <a:prstGeom xmlns:a="http://schemas.openxmlformats.org/drawingml/2006/main" prst="roundRect">
            <a:avLst>
              <a:gd name="adj" fmla="val 16418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5F896-B29D-48D5-BE97-105E92E6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430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Hospital size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EE4F6C-F76C-4AA1-ADF5-3ABA4815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7049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working scope represents a 20 to 50 bed hospital.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BC20A7-E58F-4D99-A891-6B044340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9BFF5-F9D8-4C24-A183-9E10635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2E1E6-EFBD-45A9-9EA9-9F5C0B35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419350"/>
            <a:ext cx="10067925" cy="638175"/>
          </a:xfrm>
          <a:prstGeom xmlns:a="http://schemas.openxmlformats.org/drawingml/2006/main" prst="roundRect">
            <a:avLst>
              <a:gd name="adj" fmla="val 16418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BE5EE-BA04-4D60-9F6A-F2743372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Patient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960F14-654E-46FF-A524-6E1C5D16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5431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All patients, prices, identifiers and clinical notes are invented.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E6B76-8B46-45AC-B3C1-833D6F96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FD503-BF8D-4248-A3AA-C9860020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9F5591-9256-45B5-8DB8-C5EF9229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257550"/>
            <a:ext cx="10067925" cy="638175"/>
          </a:xfrm>
          <a:prstGeom xmlns:a="http://schemas.openxmlformats.org/drawingml/2006/main" prst="roundRect">
            <a:avLst>
              <a:gd name="adj" fmla="val 16418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FFD791-0AEB-46BC-9127-841B2BAB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194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External systems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80E01D-3C8E-493E-B0BA-7DC98F93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813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HIS events are local API calls. TPA and PM-JAY replies are simulated.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BB15F4-11D9-4781-BA09-7AB1CEB3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44B4F9-A527-4688-8B2D-F616A8CA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FDEF13-0C10-4643-96BB-11FBD3A6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10067925" cy="638175"/>
          </a:xfrm>
          <a:prstGeom xmlns:a="http://schemas.openxmlformats.org/drawingml/2006/main" prst="roundRect">
            <a:avLst>
              <a:gd name="adj" fmla="val 16418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0A47E8-ED81-429A-964F-A4CABF5F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576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GST master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C734D4-C087-4ADF-B227-BB0F393B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2195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Training rates illustrate rules. A real hospital must verify product HSN and current tariff.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7880C4-1F37-46D6-A220-A4AE546A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994516-0910-4A12-88F3-B785A0C9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FD2BC7-8904-49D3-83AD-FA9B81A3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33950"/>
            <a:ext cx="10067925" cy="638175"/>
          </a:xfrm>
          <a:prstGeom xmlns:a="http://schemas.openxmlformats.org/drawingml/2006/main" prst="roundRect">
            <a:avLst>
              <a:gd name="adj" fmla="val 16418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BEF8D3-04C5-44E6-88AD-FAB453E6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Diagram scope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A24F39-88CC-4F2D-A49C-6A1642F4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0577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supplied Chen diagram also shows LIS and RIS as conceptual modules.</a:t>
            </a:r>
          </a:p>
        </p:txBody>
      </p:sp>
    </p:spTree>
    <p:extLst>
      <p:ext uri="{BB962C8B-B14F-4D97-AF65-F5344CB8AC3E}">
        <p14:creationId xmlns:p14="http://schemas.microsoft.com/office/powerpoint/2010/main" val="5703213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BA7703-4AB1-47C2-B4BC-3A7C62B6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83F11-F311-4FAA-8F5E-C9506103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AB062-A2DB-4701-BD50-AE675321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What runs behind the screens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2F429-88E3-49D6-BB0F-1F84DC58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5F25C-1F35-4A5C-843A-6075E73C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5B766E-C299-45CD-8ADA-22A3100A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E52ED-0018-4DA5-A8C3-E358EAF0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24025"/>
            <a:ext cx="333375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D9C80-C9D0-4BD4-A879-98795097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5915E-8CDF-480F-90B5-C8B67624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70ADD-E346-4549-AA0A-ED8A4F98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5C144-8795-4247-8726-D0FCE2B4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Three role based pages in one patient workspace.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FFAFA-C327-4AAA-A2FA-E1D63C86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24025"/>
            <a:ext cx="333375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D5B72-E178-4390-BE6B-FB1F6D6F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E3992-847D-4F71-A43C-6434104F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C31ED-84E7-44B3-882E-5F81EFA0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5E054-8E86-41AD-A165-62FC5D48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Validates doctor events, dispensing, payer steps and invoices.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96F6A-FFDA-4D30-8EA4-63078C4C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24025"/>
            <a:ext cx="333375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0F9A0C-484B-47DC-B770-25D44F87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EBDB2-38CD-4AC7-962B-EA7666BF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A85790-74B2-4A84-8958-486AB77C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B6A39-BDEF-4A68-93AD-C682557C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Stores patients, care, stock, charges, invoices and receipts.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5E603B-853F-4D34-9A7B-A87F7745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Core API 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DC8460-8FC0-45CD-A77B-88B64E17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005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POST /his/events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26DEB4-59FD-4E88-B596-CF7B846B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4005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delivered care item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E9F0BE-2D89-4A5F-A8DE-53512C00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POST /pharmacy/dispense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BBE6AF-766A-4FC4-8C86-404CDAF3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7244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stock plus charge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611743-7DE8-4EB8-8988-ED24755A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482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POST /invoices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89CE2-4218-4DE9-A7B2-57AC5DD1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0482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one final bill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2CB3F-8CAD-4C8F-8066-A044B71C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721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POST /claims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B9D29D-DDBD-4F47-9788-46C66079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3721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payer submission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180032-1DEE-411C-AEF5-0F28FF65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959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POST /receipts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98110B-8450-4988-8042-B117B103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6959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money received</a:t>
            </a:r>
          </a:p>
        </p:txBody>
      </p:sp>
    </p:spTree>
    <p:extLst>
      <p:ext uri="{BB962C8B-B14F-4D97-AF65-F5344CB8AC3E}">
        <p14:creationId xmlns:p14="http://schemas.microsoft.com/office/powerpoint/2010/main" val="13786252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F5C9AE-C0A3-4AD6-8D30-42E9681D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F5E99-A7D1-4C10-84AA-2E84733F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8E8EB-0D63-41AA-A6A7-B833DC8E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Backend rules that prevent common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6673D-84B3-47B1-8286-59F3B6B0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484EA-FD1A-4306-8BBE-EC64CBE8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D5A27-FEFA-4221-B6E6-E6BED8F9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AC3D3-E1EC-4EDD-A515-DE18ED16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931FE-5A98-4728-82DF-A8861EEC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E6CB0-C76A-4345-9070-2BE0C2BA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36FD8-EACD-4A83-8475-DCE1A8B3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Service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F739DA-44E3-49FD-A021-8F9DFAF4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 source event ID can create one charge. The same retry returns it; a changed retry fails.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EF7F9-1DE7-459C-A291-0DA8B7FF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33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AC780-0A58-4E32-ABA1-D319144F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9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7768CD-EA5E-4A90-98DF-53576C3B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67000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C1DDC-F76D-4808-9280-BF6C2F0D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717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33429-9DAA-4A7A-BC1D-A5C262C8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622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 prescribed item needs an open order and available unexpired batch stock.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846EB2-9F58-4255-82F6-4E3AFED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909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C8567D-FD2C-4B4D-9E59-7C6E5C62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671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0C9696-1808-4F37-AA3E-A2365E17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2427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5BFEF8-4F4E-4C6A-ACF8-C6FDE941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Final invoice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9AA792-D37B-4C78-AC98-8790C5C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system copies charge details into invoice lines and locks the encounter.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C21679-5EB6-4E7C-AE62-4EAC1873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48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FD1042-67A6-4FB5-AFB8-B68F7A4E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111B64-AEF5-491D-8A7F-6C41DB10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81550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6D127B-F061-4108-A8AB-8E8957CE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863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Payer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E69246-0F2E-4DDE-AABA-69E877EB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768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An approved claim does not settle the bill. Only a posted receipt reduces the balance.</a:t>
            </a:r>
          </a:p>
        </p:txBody>
      </p:sp>
    </p:spTree>
    <p:extLst>
      <p:ext uri="{BB962C8B-B14F-4D97-AF65-F5344CB8AC3E}">
        <p14:creationId xmlns:p14="http://schemas.microsoft.com/office/powerpoint/2010/main" val="16593177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6753D0-EB6E-47D0-B641-CDEEFD28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72A45-A121-4080-BD60-5D795400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0CF6D-628F-4703-8B7F-C724B34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OPD example: Ananya Rao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BF505-8E97-4116-861B-C7DD9D9B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FA7FD-187F-43AC-8925-DC373869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0409A7-DB29-4BE1-BBA9-4AFBCA2A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FA8F8-6B76-49BF-B180-9D26F2BC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52575"/>
            <a:ext cx="10210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3847"/>
                </a:solidFill>
                <a:latin typeface="Arial"/>
                <a:ea typeface="Arial"/>
                <a:cs typeface="Arial"/>
              </a:rPr>
              <a:t>The invented OPD visit begins with ₹500 consultation and ₹350 CBC already captured.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AC579-7D15-4BC3-9344-22B86A69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47925"/>
            <a:ext cx="10734675" cy="657225"/>
          </a:xfrm>
          <a:prstGeom xmlns:a="http://schemas.openxmlformats.org/drawingml/2006/main" prst="roundRect">
            <a:avLst>
              <a:gd name="adj" fmla="val 15942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84D41-1576-454F-8517-9DD95471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C7BB1-180F-4208-A160-56DE6D61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67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0A3FC-DA11-471B-8CA8-DA5A9DA0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5908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0C905-7114-4029-A782-F9E8EDB8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Prescribes 2 training medicine units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0951F-3CC8-4A93-BFF8-74AB8309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10734675" cy="657225"/>
          </a:xfrm>
          <a:prstGeom xmlns:a="http://schemas.openxmlformats.org/drawingml/2006/main" prst="roundRect">
            <a:avLst>
              <a:gd name="adj" fmla="val 1594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864DF-5919-4436-91E7-005A128C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00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133A5E-916A-4C35-B38B-B3522BC2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76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9AB74-1045-4792-95FB-4F8CC85C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4004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6ACDE-6254-4DCB-BB60-E6C3585F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0042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Dispenses 2 × ₹100 from a batch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EB68E8-A1B5-409F-BCB8-B619148C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10734675" cy="657225"/>
          </a:xfrm>
          <a:prstGeom xmlns:a="http://schemas.openxmlformats.org/drawingml/2006/main" prst="roundRect">
            <a:avLst>
              <a:gd name="adj" fmla="val 15942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AA5BD2-2A82-49DF-85B4-EFB5BFE3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10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484D89-3BC1-49BA-A35D-00AECD88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86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8ADF98-66B8-4834-A9F0-541972AB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210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99F60B-7514-4F75-AB03-9980A327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Adds ₹10 GST on this separate OPD sale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4C2923-6D11-4B27-8F9E-C54188CC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0734675" cy="657225"/>
          </a:xfrm>
          <a:prstGeom xmlns:a="http://schemas.openxmlformats.org/drawingml/2006/main" prst="roundRect">
            <a:avLst>
              <a:gd name="adj" fmla="val 15942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E12B4C-4842-408D-8F39-1B5B23C0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19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E9F558-6AA7-4680-AD47-6C178079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95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4038D-962F-4E35-82A3-E834D392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0196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214D71-FCDA-4DDB-B2EE-F4A48B1C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1967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₹500 + ₹350 + ₹200 + ₹10 = ₹1,060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686646-CCBF-423A-A64C-0014F10A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864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Same encounter ID links the note, prescription, dispense, charge and invoice.</a:t>
            </a:r>
          </a:p>
        </p:txBody>
      </p:sp>
    </p:spTree>
    <p:extLst>
      <p:ext uri="{BB962C8B-B14F-4D97-AF65-F5344CB8AC3E}">
        <p14:creationId xmlns:p14="http://schemas.microsoft.com/office/powerpoint/2010/main" val="8092447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E0253E-926C-40A6-96F4-EAD84760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DE6979-F896-4AFC-A90B-F5062A54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7DD6F-F406-4275-BF08-1660D84E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IPD payer examples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6E94C-E12A-4168-B61E-1D5116AA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65DF3-E689-4C8E-8548-F7AEE949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32379-7E67-4EA1-96B8-1739E7CB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4AF08-FB69-4CCE-84B3-D3CBA1EB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057775" cy="4076700"/>
          </a:xfrm>
          <a:prstGeom xmlns:a="http://schemas.openxmlformats.org/drawingml/2006/main" prst="roundRect">
            <a:avLst>
              <a:gd name="adj" fmla="val 3271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43717-75B4-4477-86F8-086D649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0200"/>
            <a:ext cx="5057775" cy="4076700"/>
          </a:xfrm>
          <a:prstGeom xmlns:a="http://schemas.openxmlformats.org/drawingml/2006/main" prst="roundRect">
            <a:avLst>
              <a:gd name="adj" fmla="val 3271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63E83-CFD4-47B7-9D1B-89FF3402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Private TPA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96EA5-591E-40F6-BAD8-DE8D06AD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E4E2D-D561-4011-978D-045A69AB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9880E-A3AF-49F2-B78F-2CCEF1A4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CB652-85C7-41E1-A098-C97E807F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574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Coverage linked to encounter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E49E8-6F13-415A-B038-97B20EDC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A916B-E050-4564-B74D-AC1831D6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2E7D1-73E1-427B-8245-6D53E2D8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Preauthorisation requested and recorded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7AC8DB-E63C-417F-AEDA-F9F95B1B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C8F95-86E2-4088-A7EA-B2E08CDE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94BA9-0C21-4614-A5C7-A25E0854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9570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Room and treatment charges accumulated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F4C580-85DC-4393-AF88-96750B4E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19DD75-4C0A-4AB2-ACFD-85C11349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E1F8B3-D9B7-4856-A767-F58F1CA6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1482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Invoice and document checklist prepared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C9FF85-001F-42BD-9FCB-0567A0D8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5258C1-8977-4362-97A1-41B9DADA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2D2A-7D8D-4822-9D56-05832304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Claim decision recorded, then insurer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87CB97-C302-452D-A7E7-C4A3EAF0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953C94-5BE4-408F-A32F-4469953F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A11D2C-DC08-41E0-9BB9-61257CB8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574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Beneficiary check simulated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A51894-8EFE-4A80-ACFF-C3E309FB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160A7B-B33B-4143-98EA-EADCCD04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AA7E3B-26BB-4E48-9D0B-FE659398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7657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Training package linked to encounter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E0A1CD-02A0-4F42-B58E-A9221192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534C36-7EDC-4305-AD13-3C5625F7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F8457B-AF69-4566-8D01-00412DFC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Preauthorisation recorded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826E4C-3F8F-4E8D-A4A1-87D99E5B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477F03-AD43-46A5-AFE2-D8696893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4A5E2C-48B0-4979-8502-16B3433B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1482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Package invoice and claim prepared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1F7FAF-33CA-41A4-BF68-870D438C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FBEA83-2EED-4A4D-B8FA-ED32EC58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AA443B-C62C-4092-9E6A-43882A37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339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Patient collection blocked in this 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191898-8EEE-4875-BE09-D6DFCC1F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NHA HBP manual and IRDAI health insurance guidance informed the state sequence. Portal responses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6171125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98D7E1-E23B-4E96-A007-E1E03681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3AA6E-E8D5-4C30-8681-3902D88D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52D17-B2A3-4840-B796-5085FD27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Working prototype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81BA6-825B-4289-8099-2CFBAFF4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86FC6-57A3-47CB-8157-E4EC2487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3BB28-448D-4C96-9B12-5952F9A8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206EA-631F-439B-B029-5D49C45A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5257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3847"/>
                </a:solidFill>
                <a:latin typeface="Arial"/>
                <a:ea typeface="Arial"/>
                <a:cs typeface="Arial"/>
              </a:rPr>
              <a:t>The live demo uses one patient record across three staff desks.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A4C0C-6B96-49C6-AD1C-17B08A66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725150" cy="819150"/>
          </a:xfrm>
          <a:prstGeom xmlns:a="http://schemas.openxmlformats.org/drawingml/2006/main" prst="roundRect">
            <a:avLst>
              <a:gd name="adj" fmla="val 1511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E9E9F-3BD2-4DFB-9819-6472B419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24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FBC33-08F5-4414-9ACB-1867E6C6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003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D2571-6123-4DC1-8F84-4D81B08D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66975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F3908-5C68-4CCB-BDA6-4EC41DD3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447925"/>
            <a:ext cx="7477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Saves a note and ICD-10, records a service, sends a prescription.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43922E-5CE7-4AE5-A846-6596380F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10725150" cy="819150"/>
          </a:xfrm>
          <a:prstGeom xmlns:a="http://schemas.openxmlformats.org/drawingml/2006/main" prst="roundRect">
            <a:avLst>
              <a:gd name="adj" fmla="val 1511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CDEC7-D7BE-40FA-80DC-7840B63E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543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A05476-C08F-4F4C-A486-358E8652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619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D53679-6B11-44D4-8F14-BA49F768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861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37140-0397-4CB3-A50C-BBA0B8B2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67100"/>
            <a:ext cx="7477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Checks order and batch, dispenses, updates stock and the bill.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8F2FB2-648D-4885-9BF7-26083FFD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725150" cy="819150"/>
          </a:xfrm>
          <a:prstGeom xmlns:a="http://schemas.openxmlformats.org/drawingml/2006/main" prst="roundRect">
            <a:avLst>
              <a:gd name="adj" fmla="val 1511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B3F384-77DB-45CD-A902-372A13B3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5624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FD8249-A001-4D86-99B0-357B00B5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386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38A88B-1292-4CEE-B933-976908D9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05325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70DA44-418F-4656-A22E-1769A165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486275"/>
            <a:ext cx="7477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Reviews charges, generates invoice in place, records payer or patient receipt.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26F2F3-1B31-4C57-B63E-D0E3A3B4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505450"/>
            <a:ext cx="10715625" cy="581025"/>
          </a:xfrm>
          <a:prstGeom xmlns:a="http://schemas.openxmlformats.org/drawingml/2006/main" prst="roundRect">
            <a:avLst>
              <a:gd name="adj" fmla="val 18033"/>
            </a:avLst>
          </a:prstGeom>
          <a:solidFill xmlns:a="http://schemas.openxmlformats.org/drawingml/2006/main">
            <a:srgbClr val="113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232809-7B4E-4EC0-A231-BEFEE604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57850"/>
            <a:ext cx="10267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scenarios passed locally: OPD, room GST, pharmacy, TPA, PM-JAY, tax review and receipts.</a:t>
            </a:r>
          </a:p>
        </p:txBody>
      </p:sp>
    </p:spTree>
    <p:extLst>
      <p:ext uri="{BB962C8B-B14F-4D97-AF65-F5344CB8AC3E}">
        <p14:creationId xmlns:p14="http://schemas.microsoft.com/office/powerpoint/2010/main" val="18616202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AB8AC5-0322-4EB2-8BD4-CF1663EB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41BD2-34D7-488A-813F-ABFFE022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FDDEA-9587-4416-9892-56214E15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What is still a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1B24D-F446-47E9-A6CC-854D092C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10C07-31EA-495D-98B8-D32942A7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D7701A-85C0-4CAD-ACF4-BF071151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6C083-6CE1-4347-BCB5-2A1C2F3A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4533F-5D7F-4A13-AEA4-37C55EC0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24296-00D7-44A1-887D-1D643E01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DA23D-48D3-4800-8985-4257367B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No real portal exchange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7185B-5EFD-43B3-ABC2-97A8EF9C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Insurer, PM-JAY, CGHS and GST outputs use local simulation.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ACBD7-DA27-4FD0-81D4-D5C682F4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43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648EB-74CC-4133-8DE7-8FC888A0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194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EB1777-125B-4F63-80AB-61AEF927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A4483C-2A3D-45BF-820E-A32A34AA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Training master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35DA60-8ACD-45B3-8CBC-25BBEE6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717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items, HSN, tariff and package examples need hospital review before use.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EF7E71-36D7-4843-9E9B-71802D14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9C3385-BAA4-4A42-9EAC-E45402DF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862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AE4AE2-D256-4F0C-936B-2EA55101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4332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6DBB8A-E41B-4705-9354-13954E26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481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Classroom sign-in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CB6E82-EC40-4B13-9609-E9624E17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385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Production needs staff identity, audit policy, security and backups.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C02CC1-3FF0-4F1F-AFB1-04B92D37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78F2B2-92A9-4C4D-A35E-A2E7DFC5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53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C4D340-5A77-40A9-ACBB-E28125C6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10125"/>
            <a:ext cx="100774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517F2D-78E6-42D3-9BD5-65DF626D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149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Limited departments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77FA40-4CED-47E7-B67D-549F6EE9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053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The ER image includes LIS and RIS, but the website only demonstrates selected HIS events.</a:t>
            </a:r>
          </a:p>
        </p:txBody>
      </p:sp>
    </p:spTree>
    <p:extLst>
      <p:ext uri="{BB962C8B-B14F-4D97-AF65-F5344CB8AC3E}">
        <p14:creationId xmlns:p14="http://schemas.microsoft.com/office/powerpoint/2010/main" val="18594460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03B8D2-F2E1-4C7C-AF0F-D329FF87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E7B4A-260E-4C93-BC35-E3998401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4143F9-283D-4E39-9268-506C9E2F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Conclusion and next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9E1F9-1FE0-4D2D-8D61-4DC33D54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9611B-06FB-4CF9-8DDF-D1FFB1E8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E4F55F-433C-4023-8DCE-219F14E0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1AFA4-891C-490E-AAFD-E16FC92A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1019175"/>
          </a:xfrm>
          <a:prstGeom xmlns:a="http://schemas.openxmlformats.org/drawingml/2006/main" prst="roundRect">
            <a:avLst>
              <a:gd name="adj" fmla="val 13084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7A83B-C5C3-4932-8A37-57DF1074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62125"/>
            <a:ext cx="1022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The prototype shows how clinical work can produce a clear, itemised bill without retyping every charge.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6C67D-6B59-4F07-8FE5-B818892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Next for a mid-sized hospital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AF959-FFD9-49EC-8D9D-86DE448B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52825"/>
            <a:ext cx="3305175" cy="2114550"/>
          </a:xfrm>
          <a:prstGeom xmlns:a="http://schemas.openxmlformats.org/drawingml/2006/main" prst="roundRect">
            <a:avLst>
              <a:gd name="adj" fmla="val 5856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B39C3-7685-45CC-A132-E9ADC643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38E29-EF84-43F3-A2F6-7302B518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C1017-19A5-4982-B74F-1346D397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More departments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EC3CD9-FDD0-43CD-AAB2-ED1BAEA0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Connect lab, radiology and operation theatre results.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85A4C9-A6A3-4090-A4E1-116D2F34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2825"/>
            <a:ext cx="3305175" cy="2114550"/>
          </a:xfrm>
          <a:prstGeom xmlns:a="http://schemas.openxmlformats.org/drawingml/2006/main" prst="roundRect">
            <a:avLst>
              <a:gd name="adj" fmla="val 585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04811-333F-43DC-8D2B-69C6DC51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92B85A-B25F-48D8-A04B-257FCB1F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42EB51-ADBF-460E-AEBF-88D52FE2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More payer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476EBE-40C7-408E-82F5-A84B28C5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Add named TPA formats, CGHS and corporate review screens.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1F249F-7D6E-4A34-B1CE-4005BEDE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52825"/>
            <a:ext cx="3305175" cy="2114550"/>
          </a:xfrm>
          <a:prstGeom xmlns:a="http://schemas.openxmlformats.org/drawingml/2006/main" prst="roundRect">
            <a:avLst>
              <a:gd name="adj" fmla="val 5856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8923D9-8618-47E2-BDDC-D8E00C72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3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80F691-F55F-4A6E-8220-C4AF62D2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DD2B22-11F1-42FF-8155-8B576B4E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138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847"/>
                </a:solidFill>
                <a:latin typeface="Arial"/>
                <a:ea typeface="Arial"/>
                <a:cs typeface="Arial"/>
              </a:rPr>
              <a:t>Production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BE044A-C649-4465-B9AE-98E521BC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Use approved portal links, stronger login, backups and tested tax masters.</a:t>
            </a:r>
          </a:p>
        </p:txBody>
      </p:sp>
    </p:spTree>
    <p:extLst>
      <p:ext uri="{BB962C8B-B14F-4D97-AF65-F5344CB8AC3E}">
        <p14:creationId xmlns:p14="http://schemas.microsoft.com/office/powerpoint/2010/main" val="139960925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0AE8C0-59D8-4FCE-A6B8-27132529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AC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58B5A-5776-4D53-9813-6ED59AB9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E9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E9B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E2285-0D1C-43D3-85D3-6E59585D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92F3B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55140-4978-4AC9-9C88-C83D3FDE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E1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66193-BD3B-4637-804D-48D10977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E165B-39F9-44FA-8BDC-6DA8F494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526D7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D77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BA534-82DE-4282-851A-E4AE13AE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9542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A6B7E-3898-44FC-9B75-0F18F852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5906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24F03-C37F-4782-A21A-FCF15FD4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5906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Course material on HIS, databases and ER modelling.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89903-8F28-4BD8-8275-F65F954E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923D5-E1C9-4087-83D3-A832394B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1431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642C46-F4B6-4C65-8ACA-9D102C0D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431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Patients’ Rights Charter: clinicalestablishments.mohfw.gov.in/sites/default/files/2023-07/8431.pdf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D2380-CE15-4172-877B-34A01A98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032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10F0B-DCCF-447E-A9F4-4FE2A5B0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955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E3ADD-4C63-4497-B287-ED61EF25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6955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2025 medicines FAQ: gstcouncil.gov.in/sites/default/files/2025-09/faq_0.pdf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350660-C453-4A62-B7C8-F65AE570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293373-5499-459E-B0B6-3AD7DBC1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480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B2EBF-8FBA-46D7-AD72-DD0001EB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2480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Service rates and room entry 31A: gstcouncil.gov.in/sites/default/files/2024-02/gstservicerates.pdf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45F4AF-605C-4027-9FF7-DE498B55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545C1F-0EC2-44A0-98A7-95B7C46F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8004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FF930-B0AA-4667-8F20-57C911CA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004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Goods rates and HSN 3006 contraceptives: cbic-gst.gov.in/hindi/gst-goods-services-rates.html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7ACDF3-072E-4AA5-B8F7-5C059566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A80276-7B01-4F2E-B330-3523477A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3529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6C8CB7-2107-4531-9EC2-5BC0B087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3529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Inpatient composite supply AAR: gstcouncil.gov.in, Laxmi Health Care Center order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665C67-4D2C-4DF7-96B6-4286D598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086C18-FD3E-43C7-A6B3-2362E586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9053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NHA / IRDAI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075D8-C922-466A-AF5D-CB4F1D4C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9053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HBP 2.2 manual at nha.gov.in; health insurance guidance at irdai.gov.in/health-dept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C1BC1B-81DB-4179-A488-05F06A61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62575"/>
            <a:ext cx="1072515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E9F8F6"/>
          </a:solidFill>
          <a:ln xmlns:a="http://schemas.openxmlformats.org/drawingml/2006/main" w="9525">
            <a:solidFill>
              <a:srgbClr val="CBE1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0EE514-2B98-45C5-8CFC-99007869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4578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5C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5C75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6B7963-0DF2-4968-9C28-861E5BAE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4578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92F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92F3B"/>
                </a:solidFill>
                <a:latin typeface="Arial"/>
                <a:ea typeface="Arial"/>
                <a:cs typeface="Arial"/>
              </a:rPr>
              <a:t>GSTR-1 guide: tutorial.gst.gov.in/userguide/returns/GSTR_1.htm</a:t>
            </a:r>
          </a:p>
        </p:txBody>
      </p:sp>
    </p:spTree>
    <p:extLst>
      <p:ext uri="{BB962C8B-B14F-4D97-AF65-F5344CB8AC3E}">
        <p14:creationId xmlns:p14="http://schemas.microsoft.com/office/powerpoint/2010/main" val="528154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2026-10-07T14:39:39.2790000Z</dcterms:created>
  <dcterms:modified xsi:type="dcterms:W3CDTF">2026-10-07T14:39:39.2790000Z</dcterms:modified>
</coreProperties>
</file>