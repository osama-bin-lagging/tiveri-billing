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Type="http://schemas.openxmlformats.org/package/2006/relationships/metadata/core-properties" Target="/docProps/core.xml" Id="R759d753908e942db" /><Relationship Type="http://schemas.openxmlformats.org/officeDocument/2006/relationships/extended-properties" Target="/docProps/app.xml" Id="Rd9e23e511ccd4354" /><Relationship Type="http://schemas.openxmlformats.org/officeDocument/2006/relationships/officeDocument" Target="/ppt/presentation.xml" Id="R2a258de39023440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d0b5ffc1e244ad9"/>
  </p:sldMasterIdLst>
  <p:sldIdLst>
    <p:sldId xmlns:r="http://schemas.openxmlformats.org/officeDocument/2006/relationships" id="256" r:id="R3b668233dc964bad"/>
    <p:sldId xmlns:r="http://schemas.openxmlformats.org/officeDocument/2006/relationships" id="257" r:id="R1fa262c5dbd9400b"/>
    <p:sldId xmlns:r="http://schemas.openxmlformats.org/officeDocument/2006/relationships" id="258" r:id="R99b0cf6236e548c4"/>
    <p:sldId xmlns:r="http://schemas.openxmlformats.org/officeDocument/2006/relationships" id="259" r:id="R084805ba336b4400"/>
    <p:sldId xmlns:r="http://schemas.openxmlformats.org/officeDocument/2006/relationships" id="260" r:id="Rb6481f77cba748f1"/>
    <p:sldId xmlns:r="http://schemas.openxmlformats.org/officeDocument/2006/relationships" id="261" r:id="R836b0f9b02194afc"/>
    <p:sldId xmlns:r="http://schemas.openxmlformats.org/officeDocument/2006/relationships" id="262" r:id="Re09a68d5bdcd45fa"/>
    <p:sldId xmlns:r="http://schemas.openxmlformats.org/officeDocument/2006/relationships" id="263" r:id="Rb12669211d6d4c36"/>
    <p:sldId xmlns:r="http://schemas.openxmlformats.org/officeDocument/2006/relationships" id="264" r:id="R0898de98f8e84ecc"/>
    <p:sldId xmlns:r="http://schemas.openxmlformats.org/officeDocument/2006/relationships" id="265" r:id="Rc29f56171f7840fe"/>
    <p:sldId xmlns:r="http://schemas.openxmlformats.org/officeDocument/2006/relationships" id="266" r:id="R9b4242c271624bf4"/>
    <p:sldId xmlns:r="http://schemas.openxmlformats.org/officeDocument/2006/relationships" id="267" r:id="R9789521132e44738"/>
    <p:sldId xmlns:r="http://schemas.openxmlformats.org/officeDocument/2006/relationships" id="268" r:id="Racda1b3df7fd4f52"/>
    <p:sldId xmlns:r="http://schemas.openxmlformats.org/officeDocument/2006/relationships" id="269" r:id="R70131cf29241491c"/>
    <p:sldId xmlns:r="http://schemas.openxmlformats.org/officeDocument/2006/relationships" id="270" r:id="R382d68a65a404a08"/>
    <p:sldId xmlns:r="http://schemas.openxmlformats.org/officeDocument/2006/relationships" id="271" r:id="Rfd817926b42f43b6"/>
    <p:sldId xmlns:r="http://schemas.openxmlformats.org/officeDocument/2006/relationships" id="272" r:id="R0926ec90d7944f79"/>
    <p:sldId xmlns:r="http://schemas.openxmlformats.org/officeDocument/2006/relationships" id="273" r:id="R22c66452cbea4db9"/>
    <p:sldId xmlns:r="http://schemas.openxmlformats.org/officeDocument/2006/relationships" id="274" r:id="R8e154ced15a045f0"/>
    <p:sldId xmlns:r="http://schemas.openxmlformats.org/officeDocument/2006/relationships" id="275" r:id="R1c550accaa1442e1"/>
    <p:sldId xmlns:r="http://schemas.openxmlformats.org/officeDocument/2006/relationships" id="276" r:id="Ra95878d1f4c6458b"/>
    <p:sldId xmlns:r="http://schemas.openxmlformats.org/officeDocument/2006/relationships" id="277" r:id="R2c3e18e9708a4d15"/>
    <p:sldId xmlns:r="http://schemas.openxmlformats.org/officeDocument/2006/relationships" id="278" r:id="R951a6bc522ef4383"/>
    <p:sldId xmlns:r="http://schemas.openxmlformats.org/officeDocument/2006/relationships" id="279" r:id="Rd00bbb5f4e9b4f2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?><Relationships xmlns="http://schemas.openxmlformats.org/package/2006/relationships"><Relationship Type="http://schemas.openxmlformats.org/officeDocument/2006/relationships/theme" Target="/ppt/theme/theme1.xml" Id="R2981c64e159c49d1" /><Relationship Type="http://schemas.openxmlformats.org/officeDocument/2006/relationships/slideMaster" Target="/ppt/slideMasters/slideMaster1.xml" Id="Rad0b5ffc1e244ad9" /><Relationship Type="http://schemas.openxmlformats.org/officeDocument/2006/relationships/presProps" Target="/ppt/presProps.xml" Id="R2ae3a7c035724aae" /><Relationship Type="http://schemas.openxmlformats.org/officeDocument/2006/relationships/tableStyles" Target="/ppt/tableStyles.xml" Id="R253b4a303a554bc2" /><Relationship Type="http://schemas.openxmlformats.org/officeDocument/2006/relationships/slide" Target="/ppt/slides/slide1.xml" Id="R3b668233dc964bad" /><Relationship Type="http://schemas.openxmlformats.org/officeDocument/2006/relationships/slide" Target="/ppt/slides/slide2.xml" Id="R1fa262c5dbd9400b" /><Relationship Type="http://schemas.openxmlformats.org/officeDocument/2006/relationships/slide" Target="/ppt/slides/slide3.xml" Id="R99b0cf6236e548c4" /><Relationship Type="http://schemas.openxmlformats.org/officeDocument/2006/relationships/slide" Target="/ppt/slides/slide4.xml" Id="R084805ba336b4400" /><Relationship Type="http://schemas.openxmlformats.org/officeDocument/2006/relationships/slide" Target="/ppt/slides/slide5.xml" Id="Rb6481f77cba748f1" /><Relationship Type="http://schemas.openxmlformats.org/officeDocument/2006/relationships/slide" Target="/ppt/slides/slide6.xml" Id="R836b0f9b02194afc" /><Relationship Type="http://schemas.openxmlformats.org/officeDocument/2006/relationships/slide" Target="/ppt/slides/slide7.xml" Id="Re09a68d5bdcd45fa" /><Relationship Type="http://schemas.openxmlformats.org/officeDocument/2006/relationships/slide" Target="/ppt/slides/slide8.xml" Id="Rb12669211d6d4c36" /><Relationship Type="http://schemas.openxmlformats.org/officeDocument/2006/relationships/slide" Target="/ppt/slides/slide9.xml" Id="R0898de98f8e84ecc" /><Relationship Type="http://schemas.openxmlformats.org/officeDocument/2006/relationships/slide" Target="/ppt/slides/slide10.xml" Id="Rc29f56171f7840fe" /><Relationship Type="http://schemas.openxmlformats.org/officeDocument/2006/relationships/slide" Target="/ppt/slides/slide11.xml" Id="R9b4242c271624bf4" /><Relationship Type="http://schemas.openxmlformats.org/officeDocument/2006/relationships/slide" Target="/ppt/slides/slide12.xml" Id="R9789521132e44738" /><Relationship Type="http://schemas.openxmlformats.org/officeDocument/2006/relationships/slide" Target="/ppt/slides/slide13.xml" Id="Racda1b3df7fd4f52" /><Relationship Type="http://schemas.openxmlformats.org/officeDocument/2006/relationships/slide" Target="/ppt/slides/slide14.xml" Id="R70131cf29241491c" /><Relationship Type="http://schemas.openxmlformats.org/officeDocument/2006/relationships/slide" Target="/ppt/slides/slide15.xml" Id="R382d68a65a404a08" /><Relationship Type="http://schemas.openxmlformats.org/officeDocument/2006/relationships/slide" Target="/ppt/slides/slide16.xml" Id="Rfd817926b42f43b6" /><Relationship Type="http://schemas.openxmlformats.org/officeDocument/2006/relationships/slide" Target="/ppt/slides/slide17.xml" Id="R0926ec90d7944f79" /><Relationship Type="http://schemas.openxmlformats.org/officeDocument/2006/relationships/slide" Target="/ppt/slides/slide18.xml" Id="R22c66452cbea4db9" /><Relationship Type="http://schemas.openxmlformats.org/officeDocument/2006/relationships/slide" Target="/ppt/slides/slide19.xml" Id="R8e154ced15a045f0" /><Relationship Type="http://schemas.openxmlformats.org/officeDocument/2006/relationships/slide" Target="/ppt/slides/slide20.xml" Id="R1c550accaa1442e1" /><Relationship Type="http://schemas.openxmlformats.org/officeDocument/2006/relationships/slide" Target="/ppt/slides/slide21.xml" Id="Ra95878d1f4c6458b" /><Relationship Type="http://schemas.openxmlformats.org/officeDocument/2006/relationships/slide" Target="/ppt/slides/slide22.xml" Id="R2c3e18e9708a4d15" /><Relationship Type="http://schemas.openxmlformats.org/officeDocument/2006/relationships/slide" Target="/ppt/slides/slide23.xml" Id="R951a6bc522ef4383" /><Relationship Type="http://schemas.openxmlformats.org/officeDocument/2006/relationships/slide" Target="/ppt/slides/slide24.xml" Id="Rd00bbb5f4e9b4f25" /></Relationships>
</file>

<file path=ppt/slideLayouts/_rels/slideLayout1.xml.rels><?xml version="1.0" encoding="utf-8"?><Relationships xmlns="http://schemas.openxmlformats.org/package/2006/relationships"><Relationship Type="http://schemas.openxmlformats.org/officeDocument/2006/relationships/slideMaster" Target="/ppt/slideMasters/slideMaster1.xml" Id="Red4c447fa79c4431" /></Relationships>
</file>

<file path=ppt/slideLayouts/_rels/slideLayout2.xml.rels><?xml version="1.0" encoding="utf-8"?><Relationships xmlns="http://schemas.openxmlformats.org/package/2006/relationships"><Relationship Type="http://schemas.openxmlformats.org/officeDocument/2006/relationships/slideMaster" Target="/ppt/slideMasters/slideMaster1.xml" Id="Reb0ba367cd634615" /></Relationships>
</file>

<file path=ppt/slideLayouts/_rels/slideLayout3.xml.rels><?xml version="1.0" encoding="utf-8"?><Relationships xmlns="http://schemas.openxmlformats.org/package/2006/relationships"><Relationship Type="http://schemas.openxmlformats.org/officeDocument/2006/relationships/slideMaster" Target="/ppt/slideMasters/slideMaster1.xml" Id="R882002e9553f428c" /></Relationships>
</file>

<file path=ppt/slideLayouts/_rels/slideLayout4.xml.rels><?xml version="1.0" encoding="utf-8"?><Relationships xmlns="http://schemas.openxmlformats.org/package/2006/relationships"><Relationship Type="http://schemas.openxmlformats.org/officeDocument/2006/relationships/slideMaster" Target="/ppt/slideMasters/slideMaster1.xml" Id="R3eb29a1391f047bf" /></Relationships>
</file>

<file path=ppt/slideLayouts/_rels/slideLayout5.xml.rels><?xml version="1.0" encoding="utf-8"?><Relationships xmlns="http://schemas.openxmlformats.org/package/2006/relationships"><Relationship Type="http://schemas.openxmlformats.org/officeDocument/2006/relationships/slideMaster" Target="/ppt/slideMasters/slideMaster1.xml" Id="R5442f05ff233400f" /></Relationships>
</file>

<file path=ppt/slideLayouts/_rels/slideLayout6.xml.rels><?xml version="1.0" encoding="utf-8"?><Relationships xmlns="http://schemas.openxmlformats.org/package/2006/relationships"><Relationship Type="http://schemas.openxmlformats.org/officeDocument/2006/relationships/slideMaster" Target="/ppt/slideMasters/slideMaster1.xml" Id="R88cfd0951512448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D6E9C46-870F-4961-B715-1A8E9C4CAD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3903BC8-D061-43D0-B60C-5B684173CFC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DE4174A-E199-4C31-AFA5-1DFF3EBD29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B3BEEC8-DC2D-461B-AD88-392D29FF5A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2702A94-B991-4E0E-8BD0-EB88F31A743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26DA518-2DB1-4022-9176-A5BBBA5E9C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14BA96F-5684-4E65-A47E-6FA3E4DA9E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F3D74DD-6DAD-4EB3-975F-4CF3B8EB7BB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9B1CB4B-577C-4430-A1C2-82EF56A7B0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C3ED2FE-33AD-44BD-828B-617097639C4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"1.0" encoding="utf-8"?><Relationships xmlns="http://schemas.openxmlformats.org/package/2006/relationships"><Relationship Type="http://schemas.openxmlformats.org/officeDocument/2006/relationships/theme" Target="/ppt/slideMasters/theme/theme2.xml" Id="Rdb01f23912724138" /><Relationship Type="http://schemas.openxmlformats.org/officeDocument/2006/relationships/slideLayout" Target="/ppt/slideLayouts/slideLayout1.xml" Id="R700f27ff61bc40f9" /><Relationship Type="http://schemas.openxmlformats.org/officeDocument/2006/relationships/slideLayout" Target="/ppt/slideLayouts/slideLayout2.xml" Id="R91721890d5d9435d" /><Relationship Type="http://schemas.openxmlformats.org/officeDocument/2006/relationships/slideLayout" Target="/ppt/slideLayouts/slideLayout3.xml" Id="Rcbb86a67d5da49c8" /><Relationship Type="http://schemas.openxmlformats.org/officeDocument/2006/relationships/slideLayout" Target="/ppt/slideLayouts/slideLayout4.xml" Id="R3ba98947c9ca454f" /><Relationship Type="http://schemas.openxmlformats.org/officeDocument/2006/relationships/slideLayout" Target="/ppt/slideLayouts/slideLayout5.xml" Id="R4f3a5b61d35c425d" /><Relationship Type="http://schemas.openxmlformats.org/officeDocument/2006/relationships/slideLayout" Target="/ppt/slideLayouts/slideLayout6.xml" Id="R27421ea879b04f7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00f27ff61bc40f9"/>
    <p:sldLayoutId xmlns:r="http://schemas.openxmlformats.org/officeDocument/2006/relationships" id="2147483650" r:id="R91721890d5d9435d"/>
    <p:sldLayoutId xmlns:r="http://schemas.openxmlformats.org/officeDocument/2006/relationships" id="2147483651" r:id="Rcbb86a67d5da49c8"/>
    <p:sldLayoutId xmlns:r="http://schemas.openxmlformats.org/officeDocument/2006/relationships" id="2147483652" r:id="R3ba98947c9ca454f"/>
    <p:sldLayoutId xmlns:r="http://schemas.openxmlformats.org/officeDocument/2006/relationships" id="2147483653" r:id="R4f3a5b61d35c425d"/>
    <p:sldLayoutId xmlns:r="http://schemas.openxmlformats.org/officeDocument/2006/relationships" id="2147483654" r:id="R27421ea879b04f7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555843f520454b63" /></Relationships>
</file>

<file path=ppt/slides/_rels/slide2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17f506b153d042c6" /></Relationships>
</file>

<file path=ppt/slides/_rels/slide3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96d91d093bf348c0" /></Relationships>
</file>

<file path=ppt/slides/_rels/slide4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ded7f7e3e2c34190" /><Relationship Type="http://schemas.openxmlformats.org/officeDocument/2006/relationships/image" Target="/ppt/media/image.png" Id="R2c0c9df791e94ecb" /><Relationship Type="http://schemas.openxmlformats.org/officeDocument/2006/relationships/image" Target="/ppt/media/image2.png" Id="R399d81ce3a5e4dda" /></Relationships>
</file>

<file path=ppt/slides/_rels/slide5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08b504c2c9934478" /></Relationships>
</file>

<file path=ppt/slides/_rels/slide6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e8876e4ef6fd4ff4" /></Relationships>
</file>

<file path=ppt/slides/_rels/slide7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c174c12f0dc14558" /></Relationships>
</file>

<file path=ppt/slides/_rels/slide8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025b21840b24433c" /></Relationships>
</file>

<file path=ppt/slides/_rels/slide9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93be48b9a38a45f5" /></Relationships>
</file>

<file path=ppt/slides/_rels/slide10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dfbce06712214c7c" /></Relationships>
</file>

<file path=ppt/slides/_rels/slide11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cc788c9a4e454b6a" /><Relationship Type="http://schemas.openxmlformats.org/officeDocument/2006/relationships/image" Target="/ppt/media/image3.png" Id="Rce40f600428448bd" /></Relationships>
</file>

<file path=ppt/slides/_rels/slide12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d2c43f689dbe4776" /><Relationship Type="http://schemas.openxmlformats.org/officeDocument/2006/relationships/image" Target="/ppt/media/image4.png" Id="R0980f29103794cfa" /></Relationships>
</file>

<file path=ppt/slides/_rels/slide13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92dfff16077440f0" /></Relationships>
</file>

<file path=ppt/slides/_rels/slide14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bc6464e17124483f" /></Relationships>
</file>

<file path=ppt/slides/_rels/slide15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9c121b61d76c4c4b" /></Relationships>
</file>

<file path=ppt/slides/_rels/slide16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e061d1d19f564ff3" /></Relationships>
</file>

<file path=ppt/slides/_rels/slide17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1565287120634a8a" /></Relationships>
</file>

<file path=ppt/slides/_rels/slide18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52332447d74a4c79" /></Relationships>
</file>

<file path=ppt/slides/_rels/slide19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e45c5b23dddf49b5" /></Relationships>
</file>

<file path=ppt/slides/_rels/slide20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769b3ddf3c3e48b5" /><Relationship Type="http://schemas.openxmlformats.org/officeDocument/2006/relationships/image" Target="/ppt/media/image5.png" Id="R797194f6b2be4a72" /></Relationships>
</file>

<file path=ppt/slides/_rels/slide21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002706914cdc4002" /><Relationship Type="http://schemas.openxmlformats.org/officeDocument/2006/relationships/image" Target="/ppt/media/image6.png" Id="Rd7008ac8e23c489f" /><Relationship Type="http://schemas.openxmlformats.org/officeDocument/2006/relationships/image" Target="/ppt/media/image7.png" Id="Rf47e01ee4f6c4530" /></Relationships>
</file>

<file path=ppt/slides/_rels/slide22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862f6d3493dd4a7e" /></Relationships>
</file>

<file path=ppt/slides/_rels/slide23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05c43cc2d127400f" /></Relationships>
</file>

<file path=ppt/slides/_rels/slide24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64f004da84c84e4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AF656C-47E0-4D11-8677-2C6B4F9F2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FA0E64-4634-47F0-877C-C87E26CD4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90550"/>
            <a:ext cx="1466850" cy="1009650"/>
          </a:xfrm>
          <a:prstGeom xmlns:a="http://schemas.openxmlformats.org/drawingml/2006/main" prst="roundRect">
            <a:avLst>
              <a:gd name="adj" fmla="val 14151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2F1868-EF7E-469C-8D2C-600B74FF4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723900"/>
            <a:ext cx="685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960"/>
          </a:bodyPr>
          <a:lstStyle xmlns:a="http://schemas.openxmlformats.org/drawingml/2006/main">
            <a:defPPr algn="ctr">
              <a:defRPr sz="4950" b="1">
                <a:solidFill>
                  <a:srgbClr val="247FA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4950" b="1">
                <a:solidFill>
                  <a:srgbClr val="247FA8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247FA8"/>
                </a:solidFill>
                <a:latin typeface="Arial"/>
                <a:ea typeface="Arial"/>
                <a:cs typeface="Arial"/>
              </a:rPr>
              <a:t>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1EDB07-CF35-48D2-941D-E8A49922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90550"/>
            <a:ext cx="1476375" cy="1009650"/>
          </a:xfrm>
          <a:prstGeom xmlns:a="http://schemas.openxmlformats.org/drawingml/2006/main" prst="roundRect">
            <a:avLst>
              <a:gd name="adj" fmla="val 14151"/>
            </a:avLst>
          </a:prstGeom>
          <a:solidFill xmlns:a="http://schemas.openxmlformats.org/drawingml/2006/main">
            <a:srgbClr val="E3F1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7E550E-6C2C-420B-95A9-E5D95235C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78105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286"/>
          </a:bodyPr>
          <a:lstStyle xmlns:a="http://schemas.openxmlformats.org/drawingml/2006/main">
            <a:defPPr algn="ctr">
              <a:defRPr sz="4200" b="1">
                <a:solidFill>
                  <a:srgbClr val="247FA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4200" b="1">
                <a:solidFill>
                  <a:srgbClr val="247FA8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247FA8"/>
                </a:solidFill>
                <a:latin typeface="Arial"/>
                <a:ea typeface="Arial"/>
                <a:cs typeface="Arial"/>
              </a:rPr>
              <a:t>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EB77A1-0875-4B9A-8FA1-673828C0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1971675"/>
            <a:ext cx="8401050" cy="3152775"/>
          </a:xfrm>
          <a:prstGeom xmlns:a="http://schemas.openxmlformats.org/drawingml/2006/main" prst="roundRect">
            <a:avLst>
              <a:gd name="adj" fmla="val 6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CDE1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6F4734-7310-4823-8957-232F3CA85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133600"/>
            <a:ext cx="8058150" cy="2809875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FF9E62-FD82-48C6-ACE3-488C65CE1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390775"/>
            <a:ext cx="3905250" cy="2667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A0032B-CC90-4DC5-9734-58AA87E9F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2438400"/>
            <a:ext cx="3752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47FA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47FA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47FA8"/>
                </a:solidFill>
                <a:latin typeface="Arial"/>
                <a:ea typeface="Arial"/>
                <a:cs typeface="Arial"/>
              </a:rPr>
              <a:t>DH 308  |  FINAL PROJECT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E5AE2F-EBB8-4139-A4B3-1113DE806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028950"/>
            <a:ext cx="72771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03"/>
          </a:bodyPr>
          <a:lstStyle xmlns:a="http://schemas.openxmlformats.org/drawingml/2006/main">
            <a:defPPr algn="ctr">
              <a:defRPr sz="35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35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Design of a hospital billing system</a:t>
            </a:r>
          </a:p>
          <a:p xmlns:a="http://schemas.openxmlformats.org/drawingml/2006/main">
            <a:pPr algn="ctr">
              <a:defRPr sz="35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integrated with HIS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C02696-C37E-4A21-9DAD-F4806EF0E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4381500"/>
            <a:ext cx="70961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725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A working prototype for a small Indian hospital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DB262B-AE4B-4A09-B9AE-F4BBF93C6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00700"/>
            <a:ext cx="3152775" cy="647700"/>
          </a:xfrm>
          <a:prstGeom xmlns:a="http://schemas.openxmlformats.org/drawingml/2006/main" prst="roundRect">
            <a:avLst>
              <a:gd name="adj" fmla="val 13235"/>
            </a:avLst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117B54-EB9D-4A4C-A492-1FC28D5F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781675"/>
            <a:ext cx="2724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HIS service events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55A320-9BD9-4ABB-8512-1FB50D5AD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5600700"/>
            <a:ext cx="3152775" cy="647700"/>
          </a:xfrm>
          <a:prstGeom xmlns:a="http://schemas.openxmlformats.org/drawingml/2006/main" prst="roundRect">
            <a:avLst>
              <a:gd name="adj" fmla="val 13235"/>
            </a:avLst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E0E50B-049A-4FE8-B172-EDA7905A6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781675"/>
            <a:ext cx="2809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Indian payer routes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819D47-4E80-4D1F-9A6E-E4252CCD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5600700"/>
            <a:ext cx="3152775" cy="647700"/>
          </a:xfrm>
          <a:prstGeom xmlns:a="http://schemas.openxmlformats.org/drawingml/2006/main" prst="roundRect">
            <a:avLst>
              <a:gd name="adj" fmla="val 13235"/>
            </a:avLst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4AFBD6-9567-4729-8B38-1E19DC329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781675"/>
            <a:ext cx="2809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Invoice and settlement</a:t>
            </a:r>
          </a:p>
        </p:txBody>
      </p:sp>
    </p:spTree>
    <p:extLst>
      <p:ext uri="{BB962C8B-B14F-4D97-AF65-F5344CB8AC3E}">
        <p14:creationId xmlns:p14="http://schemas.microsoft.com/office/powerpoint/2010/main" val="13219584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0F758D-25A3-4119-983F-A2F2567B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A118AD-EB90-470A-8031-02043441D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7A6F67-D1B1-4353-A9BC-EB3914D8F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Project scope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2591B1-1DBD-44F9-9863-6DEFFC9D3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798772-E30F-4C2B-B13A-67070869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A1AA4A-5ACC-495E-A379-FD7FBB47A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280847-1F14-4AB1-87E2-CD0D27E73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4E793C-4777-4FBD-83B7-124DD2ABC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04975"/>
            <a:ext cx="3400425" cy="281940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A3D520-D511-48C6-B903-3789D64C2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47825"/>
            <a:ext cx="3400425" cy="281940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F6E45F-2BB7-4F0B-BFFE-34257B725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47825"/>
            <a:ext cx="34004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267D0A-1707-46BC-ABEB-B7CEA45E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9145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EB89AF-F1CA-490A-B63B-3B4547A4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9716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8DBD89-5320-4069-80A6-D55CCDE02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41935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Care setting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9D97B7-C88A-4387-8D7E-5A9D33FCA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057525"/>
            <a:ext cx="29337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OPD, IPD, emergency and day care encounters in a 20 to 50 bed hospital.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E9B624-1E85-43AB-96EA-184334FA1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04975"/>
            <a:ext cx="3400425" cy="281940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852340-0B4A-44BE-886B-69DDF4BD0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647825"/>
            <a:ext cx="3400425" cy="281940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6B5229-D9D3-4011-9715-D0AAEA17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647825"/>
            <a:ext cx="34004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516F53-0779-4AA7-92B6-DDCCF1C27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19145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4B5681-E8B4-4F1F-9C41-6F481909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19716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20678E-641E-4ED8-A8CD-8E94843D3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41935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Billing desk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46B2FD-2C17-43C1-B6C4-04E21B23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057525"/>
            <a:ext cx="29337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One running account per encounter, followed by an itemised final invoice.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DF2712-0FED-4A60-B039-05BCDF0C8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04975"/>
            <a:ext cx="3400425" cy="281940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1B581B-BA35-43A1-8002-30588A111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1647825"/>
            <a:ext cx="3400425" cy="281940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1EA890-7786-4237-9D55-D8082BC65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1647825"/>
            <a:ext cx="34004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3F74CF-B6E8-4D97-B18C-5641A6BAC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19145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7C4B5A-A90E-484E-A950-86D07F7E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19716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3BC40B-3995-46D0-AB6B-7CBA063A2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41935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Payer desk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F5CA77-B1F3-40BC-B87C-152E0C06B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057525"/>
            <a:ext cx="29337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Self pay, private insurance, PM-JAY, CGHS and corporate routes.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9D1EA9-2BA0-4D52-B7C9-C14FE099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57750"/>
            <a:ext cx="10706100" cy="885825"/>
          </a:xfrm>
          <a:prstGeom xmlns:a="http://schemas.openxmlformats.org/drawingml/2006/main" prst="roundRect">
            <a:avLst>
              <a:gd name="adj" fmla="val 10753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86D3CC-389E-4C21-9429-D2B66A78C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76825"/>
            <a:ext cx="102203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650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394E"/>
                </a:solidFill>
                <a:latin typeface="Arial"/>
                <a:ea typeface="Arial"/>
                <a:cs typeface="Arial"/>
              </a:rPr>
              <a:t>The HIS sends completed care events. The billing system prices them, finalises a bill and records who paid.</a:t>
            </a:r>
          </a:p>
        </p:txBody>
      </p:sp>
    </p:spTree>
    <p:extLst>
      <p:ext uri="{BB962C8B-B14F-4D97-AF65-F5344CB8AC3E}">
        <p14:creationId xmlns:p14="http://schemas.microsoft.com/office/powerpoint/2010/main" val="138344524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6B1ABD9-26C8-49CA-AEF5-F3B83BDF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51109B-9327-4C34-AC05-889CAF6B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29381E-D283-450F-97E6-9F27F55A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Problem statement and objectives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210363-956B-43E7-A060-B301627FD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A41FA7-67EF-4528-818D-8D80F6D83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A643A3-3CCB-4982-AE6A-F63D9F280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4634A4-6BA3-4181-A5E2-929585873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26E69E-E5EE-4A09-A03E-3CF2F6C36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28775"/>
            <a:ext cx="10715625" cy="1019175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FF2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5CAB14-B2E4-477D-8191-B3B671CC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790700"/>
            <a:ext cx="1200150" cy="2667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0921F8-9936-4C38-B464-32AA7EAA9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18383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PROBLEM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A1E862-F5D7-44EB-8630-96453E843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771650"/>
            <a:ext cx="89630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Services, tariff rules and payer decisions can be recorded in separate places. A missed or repeated entry changes the final bill.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D0DC83-1A20-4978-8156-202B66DB4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90875"/>
            <a:ext cx="2505075" cy="2428875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8D0C9E-3477-4AB4-A517-BC1786134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133725"/>
            <a:ext cx="2505075" cy="2428875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06ADB0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FF1D93-1707-4D0E-8F5C-9E0B0214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133725"/>
            <a:ext cx="25050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12CF93-8778-4B37-B251-F5965143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242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6248EF-E5F3-4654-9C9D-D6BB4EF1F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813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613BBE-0BC9-4774-895A-8F05A0636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00475"/>
            <a:ext cx="21812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Capture once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5F91F0-206E-40E7-9A86-03118CEA5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4371975"/>
            <a:ext cx="21717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unique HIS event ID prevents a repeated service charge.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0D2135-61DE-4962-98D8-E9A40A354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90875"/>
            <a:ext cx="2505075" cy="2428875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5B1A37-A40D-46A8-B296-C58EDB41D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3133725"/>
            <a:ext cx="2505075" cy="2428875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247FA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657208-AA6B-4CEB-AC7D-1808DB8C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3133725"/>
            <a:ext cx="25050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C91FD9-E5EC-4A1F-957A-8BD329EC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3242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89417E-5700-4A9A-8FA0-02D6D6AA5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3813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15416A-B650-430F-B03F-6BF78CF70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800475"/>
            <a:ext cx="21812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Price correctly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BFB48B-F8C9-4AF9-8036-06F83827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371975"/>
            <a:ext cx="21717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charge stores the selected payer tariff and tax setting.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5FAC84-82A9-400B-865D-3B960BEF6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2505075" cy="2428875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18146D-B63F-4FF9-A49F-E03B0B89F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133725"/>
            <a:ext cx="2505075" cy="2428875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195574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3FC147-386C-4464-A24D-9BAA3F544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133725"/>
            <a:ext cx="25050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AFB7D50-6858-4EF2-8B7B-0AC88FB1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242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A2CD3D-3FC7-4A60-8313-1BA6D060E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813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FD0E6C7-7183-4868-B23D-76750B9A8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00475"/>
            <a:ext cx="21812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Bill clearly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1E673E9-FFD9-4149-A56E-9714C29FF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371975"/>
            <a:ext cx="21717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encounter produces one final itemised invoice.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9E5CFA-2AFD-4D8B-BC82-35F02E02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90875"/>
            <a:ext cx="2505075" cy="2428875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DD49E1E-E1B9-499C-BC9D-13EF238C3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133725"/>
            <a:ext cx="2505075" cy="2428875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4A82AD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C574E63-4413-4977-8AF5-8AC293C6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133725"/>
            <a:ext cx="25050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82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4717129-D2E2-4259-996E-B32E8D6B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242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73F6053-7369-4DEE-AEE7-FFA5B8761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813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8F853C5-A061-4BC7-A659-8DA9FC09C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800475"/>
            <a:ext cx="21812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Track settlement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9EDBF64-9CDE-4CF9-9D17-14673CFAF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371975"/>
            <a:ext cx="21717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Approval and actual money received remain separate.</a:t>
            </a:r>
          </a:p>
        </p:txBody>
      </p:sp>
    </p:spTree>
    <p:extLst>
      <p:ext uri="{BB962C8B-B14F-4D97-AF65-F5344CB8AC3E}">
        <p14:creationId xmlns:p14="http://schemas.microsoft.com/office/powerpoint/2010/main" val="19440542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1719963-92D2-46A9-A66E-759CC304E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D23960-5D28-4FBC-BD6F-2B51BBE35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88C6A4-3523-4633-A61E-6371E3A00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Existing gaps and reasons for gaps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BDF4A7-7873-43BA-BD99-A517C4FFB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AD13D2-C439-4DC0-B251-2FA39E368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3AA436-4DC6-4E84-9ACC-9D1A24D8A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BCF07F-7E34-4BCE-BC39-192F39A6F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634559-DDB5-4DF5-9A57-A79AEB35C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47825"/>
            <a:ext cx="5200650" cy="1752600"/>
          </a:xfrm>
          <a:prstGeom xmlns:a="http://schemas.openxmlformats.org/drawingml/2006/main" prst="roundRect">
            <a:avLst>
              <a:gd name="adj" fmla="val 5435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680CAF-934E-458A-930C-790AE7A5E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90675"/>
            <a:ext cx="5200650" cy="1752600"/>
          </a:xfrm>
          <a:prstGeom xmlns:a="http://schemas.openxmlformats.org/drawingml/2006/main" prst="roundRect">
            <a:avLst>
              <a:gd name="adj" fmla="val 543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2188A7-D953-46C6-89E2-4F6BF2F4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90675"/>
            <a:ext cx="5200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329C2F-4E71-478C-9EDE-98ED58484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47825"/>
            <a:ext cx="5200650" cy="1752600"/>
          </a:xfrm>
          <a:prstGeom xmlns:a="http://schemas.openxmlformats.org/drawingml/2006/main" prst="roundRect">
            <a:avLst>
              <a:gd name="adj" fmla="val 5435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8E830E-0FF5-4B24-A989-AD88D51BE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590675"/>
            <a:ext cx="5200650" cy="1752600"/>
          </a:xfrm>
          <a:prstGeom xmlns:a="http://schemas.openxmlformats.org/drawingml/2006/main" prst="roundRect">
            <a:avLst>
              <a:gd name="adj" fmla="val 543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654A00-40D9-45CD-A875-F170DBB1E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590675"/>
            <a:ext cx="5200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4DBD76-7306-453D-9C49-96BB19445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1743075"/>
            <a:ext cx="1657350" cy="2667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4E7A9C-135F-4551-8374-6834080E8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1790700"/>
            <a:ext cx="1504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SANITISED BILL 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6E10D4-C2E8-4B5F-8C12-8DB494730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1657350" cy="2667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3F1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FF27DA-16AD-4829-8C53-6ADC5D1C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90700"/>
            <a:ext cx="1504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47FA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47FA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47FA8"/>
                </a:solidFill>
                <a:latin typeface="Arial"/>
                <a:ea typeface="Arial"/>
                <a:cs typeface="Arial"/>
              </a:rPr>
              <a:t>SANITISED BILL B</a:t>
            </a:r>
          </a:p>
        </p:txBody>
      </p:sp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2CA3E1-E911-40F3-AA0C-C41A3DF6B28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0c9df791e94ecb"/>
          <a:stretch xmlns:a="http://schemas.openxmlformats.org/drawingml/2006/main"/>
        </p:blipFill>
        <p:spPr>
          <a:xfrm xmlns:a="http://schemas.openxmlformats.org/drawingml/2006/main">
            <a:off x="790575" y="2218084"/>
            <a:ext cx="4962525" cy="802581"/>
          </a:xfrm>
          <a:prstGeom xmlns:a="http://schemas.openxmlformats.org/drawingml/2006/main" prst="rect">
            <a:avLst/>
          </a:prstGeom>
        </p:spPr>
      </p:pic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A4795E-A9BB-470F-82A6-9EC3F669004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9d81ce3a5e4dda"/>
          <a:stretch xmlns:a="http://schemas.openxmlformats.org/drawingml/2006/main"/>
        </p:blipFill>
        <p:spPr>
          <a:xfrm xmlns:a="http://schemas.openxmlformats.org/drawingml/2006/main">
            <a:off x="7426876" y="2047875"/>
            <a:ext cx="2948473" cy="1143000"/>
          </a:xfrm>
          <a:prstGeom xmlns:a="http://schemas.openxmlformats.org/drawingml/2006/main" prst="rect">
            <a:avLst/>
          </a:prstGeom>
        </p:spPr>
      </p:pic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212587-8765-43E2-83DF-D31877508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457575"/>
            <a:ext cx="104394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The uploaded examples use different formats. The visible service rows do not carry a shared HIS event ID or payer decision.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78BA3E-7CB9-49E8-AA57-505172B37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33850"/>
            <a:ext cx="10677525" cy="47625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2E1A81-826F-474B-8D11-6C727ABD0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195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DA8732-52B7-4CFA-B10F-2BB6F6550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767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38FB56-0091-4C45-B095-EB328EC72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57675"/>
            <a:ext cx="3914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Disconnected service entry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17CA9C-4666-4735-B2E6-21CE906A2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257675"/>
            <a:ext cx="55340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Use encounter ID plus unique source event ID.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26295C-B74E-45DA-9073-29FAFDC01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10677525" cy="47625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0F1909-B7E8-4A53-BAFD-9898411E6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720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DD1D59-E125-4730-95C9-5B01ECBF1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291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00BDA0-8DB3-47F0-AFCC-1880266D7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810125"/>
            <a:ext cx="3914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Different payer prices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EE2FE6-86D4-44B1-8817-719319DC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810125"/>
            <a:ext cx="55340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Keep a charge master and payer rate table.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BAAE5E-9913-47AC-8248-A65E7CBC1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0"/>
            <a:ext cx="10677525" cy="47625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73F7D76-E2B2-4391-B49E-252AEE123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244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F187333-41F3-4607-97C3-9628E7597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7E3516-73F8-4B71-B783-771CA9C2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62575"/>
            <a:ext cx="3914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Approval confused with payment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E375676-AFE8-41F3-A4DC-2FAD96CEC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5362575"/>
            <a:ext cx="55340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Record claim decision and receipt separately.</a:t>
            </a:r>
          </a:p>
        </p:txBody>
      </p:sp>
    </p:spTree>
    <p:extLst>
      <p:ext uri="{BB962C8B-B14F-4D97-AF65-F5344CB8AC3E}">
        <p14:creationId xmlns:p14="http://schemas.microsoft.com/office/powerpoint/2010/main" val="20280413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0F6440-8814-4861-8E42-8E8F2029E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B12F14-07B9-4BA5-AD53-2ADD35C3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LITERATURE REVIEW / STANDARDS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CD863B-3974-4E89-B139-5F2C818D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Research and course concepts used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6C02C2-D5B4-4B3D-9707-594DF84A3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F07E92-11EE-4467-A72E-EC9E58F7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8655B5-AB11-487B-BB5D-EA185F9C4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C953A1-5BF4-4272-9650-01FF954F1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F5A96D-DCDA-4CC0-93A7-CE66D3110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581150"/>
            <a:ext cx="10734675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1374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005DE3-6AED-485F-9575-68C5BF44D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5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Source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66E36B-952F-4B85-A809-3C3FF930E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1695450"/>
            <a:ext cx="3733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Point used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D16080-E58C-46B2-9F2F-EE6FF15F1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381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Design response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56DF95-A7CC-4075-B879-05B7B054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095500"/>
            <a:ext cx="10734675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1BEDA0-1C3A-4936-A1E2-9F6512964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238375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DH 308 lectures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2008F7-FF41-4008-A373-EC47E3A6E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38375"/>
            <a:ext cx="29432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ER keys, HIS modules, HL7 and ABDM concepts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2DF940-80FB-43D1-904F-DD75C2278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38375"/>
            <a:ext cx="40671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Linked encounter, event and payer records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69E3B7-D841-443C-A327-80A9989AB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38450"/>
            <a:ext cx="10734675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124660-F916-4D52-A0EB-58774599B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981325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IRDAI health guidance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BB78D0-A907-4A71-8630-AF3DFAC65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81325"/>
            <a:ext cx="29432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Cashless request and final claim stages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A86B47-12AD-400A-9E54-8A8C7F1BD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981325"/>
            <a:ext cx="40671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Separate preauth and claim states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6DC6AC-0736-41CC-B6C9-3C163223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581400"/>
            <a:ext cx="10734675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FB1FDD-8C97-401C-8749-09A4952CA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724275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NHA PM-JAY manuals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C422C9-E3DF-4D94-9624-7F4AED78F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724275"/>
            <a:ext cx="29432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Packages and transaction workflow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2F9F0B-2224-4695-A4E4-BBEECE208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724275"/>
            <a:ext cx="40671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Package and simulated scheme route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4517CC-AB72-456B-B5B8-6C8D556CE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324350"/>
            <a:ext cx="10734675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A8AB65-C7AF-4FCD-9A86-BB489ECD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467225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CBIC rate table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72E324-B84F-41FA-90D7-9D18DEA89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67225"/>
            <a:ext cx="29432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Service classification matters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A64FDC-466C-4B88-8650-93BD24BB5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67225"/>
            <a:ext cx="40671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Effective-dated tax master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D143D1-3AFF-4F21-965D-B5ECD886C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067300"/>
            <a:ext cx="10734675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F20121-B298-4B59-9E13-F1D5DBC1A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210175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GST portal GSTR-1 guide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19E597-3128-4E6C-9FC6-1671719B3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210175"/>
            <a:ext cx="29432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Taxable plus exempt supply reporting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505AE3-8BA2-4BA3-80DC-5960C4AED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210175"/>
            <a:ext cx="40671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Tables 4, 7, 8, 12 and 13 review</a:t>
            </a:r>
          </a:p>
        </p:txBody>
      </p:sp>
    </p:spTree>
    <p:extLst>
      <p:ext uri="{BB962C8B-B14F-4D97-AF65-F5344CB8AC3E}">
        <p14:creationId xmlns:p14="http://schemas.microsoft.com/office/powerpoint/2010/main" val="6987763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7F5726B-DD47-44BC-948A-5169A697F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5683D9-9103-494C-B05E-4378FB3E8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LITERATURE REVIEW / STANDARDS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B2D1B7-88D4-4165-8B9C-123E9C4C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Indian payer and tax rules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AB17B4-115C-4865-8439-6183897D8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92BA37-668A-4EA5-86BB-DD997C296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50D1D3-68A4-4962-8264-9AE7CE0F5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948BDB-080C-4D2B-9A28-90A432B10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C0C6C5-37FE-46EE-8C75-38D0A088C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5191125" cy="600075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6908C9-D442-477D-90BD-0F088AC5F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771650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F80F29-AEFC-4509-9B72-050D3281F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828800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CF5F1F-C55A-4A46-9633-C05A170C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762125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SELF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741EE1-7719-43E3-9BE8-2E5DA899C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1733550"/>
            <a:ext cx="28479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Patient receipt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89FF47-DE6F-48F9-B4FD-A0E88B07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14575"/>
            <a:ext cx="5191125" cy="600075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8FB96E-8746-4FD7-AD30-509931251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4669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CA353B-84A9-4529-ABA2-FD867DD3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5241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79B190-22D8-4B42-B5A5-4722E5B2A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57450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PRIVATE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64216D-A111-47BE-BB70-B2762A9FD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2428875"/>
            <a:ext cx="28479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TPA preauth, claim, insurer receipt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C94125-26A3-4D93-8B85-B5445DAC0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5191125" cy="600075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044ABF-B9F7-4A71-A56B-A86F9AA0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162300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FF5CBC-FA14-4169-A258-0D510A81C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219450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71EA29-5448-4DCD-900C-0827CF79F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152775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PM-JAY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746EE5-F909-49AE-830A-CC9F356CE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3124200"/>
            <a:ext cx="28479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Package, scheme claim, no patient collection in demo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C6A683-383B-4323-8CD1-7B7ED74AA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05225"/>
            <a:ext cx="5191125" cy="600075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2C1C09-5FAE-49AC-BBBC-A993F569C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8576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422364-AAFF-492E-ACB7-0A149DA6D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9147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2FA81F-74AE-4E0B-B3BD-3937F928A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848100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CGHS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E61181-DA31-4915-958D-749E1B579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3819525"/>
            <a:ext cx="28479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Scheme rate card and claim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48C8DD-9DE1-4483-8C16-FD4698421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00550"/>
            <a:ext cx="5191125" cy="600075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5F638D5-5776-4734-89C7-BAA56D13A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552950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FD97CA-A188-4982-BB77-D0553DEA4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610100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1B2F42B-2D33-4BF4-B202-6493B8B53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543425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CORPORATE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E19CC4E-3DA3-4D2A-B15B-474A6AE50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4514850"/>
            <a:ext cx="28479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Employer rate and credit balance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DD74166-B1B6-4221-9C02-A6CEB4141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85925"/>
            <a:ext cx="5029200" cy="3381375"/>
          </a:xfrm>
          <a:prstGeom xmlns:a="http://schemas.openxmlformats.org/drawingml/2006/main" prst="roundRect">
            <a:avLst>
              <a:gd name="adj" fmla="val 2817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4569B02-E7A0-4EF1-87A6-BA294D0D9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28775"/>
            <a:ext cx="5029200" cy="3381375"/>
          </a:xfrm>
          <a:prstGeom xmlns:a="http://schemas.openxmlformats.org/drawingml/2006/main" prst="roundRect">
            <a:avLst>
              <a:gd name="adj" fmla="val 28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C893696-DD38-4B1F-B817-D17A23459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28775"/>
            <a:ext cx="5029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55F45FA-847D-46E2-BC48-7871F472B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866900"/>
            <a:ext cx="45434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Tax classification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B2AA770-08DA-4008-A54A-FFDA31CAC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14600"/>
            <a:ext cx="1924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Clinical care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61BBD8B-29C5-4160-9ACC-275D763FD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819400"/>
            <a:ext cx="4343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Exemption depends on the service definition.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4A6DC90-1352-4AB5-ACB9-361FD23EC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43275"/>
            <a:ext cx="4343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24EAF8D-B407-443E-84CB-18FD900A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53377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Specified non-ICU room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73C89D1-FCC0-43D1-BB50-62391DE4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3867150"/>
            <a:ext cx="42767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CBIC lists 5% above Rs 5,000 per day, subject to its stated condition.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64EFAA8-653F-4254-BB36-C8DD83FE4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5248275"/>
            <a:ext cx="47244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394E"/>
                </a:solidFill>
                <a:latin typeface="Arial"/>
                <a:ea typeface="Arial"/>
                <a:cs typeface="Arial"/>
              </a:rPr>
              <a:t>Medicine and device examples use labelled training rates. Real item HSN and GST need review.</a:t>
            </a:r>
          </a:p>
        </p:txBody>
      </p:sp>
    </p:spTree>
    <p:extLst>
      <p:ext uri="{BB962C8B-B14F-4D97-AF65-F5344CB8AC3E}">
        <p14:creationId xmlns:p14="http://schemas.microsoft.com/office/powerpoint/2010/main" val="20254564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94DE3E0-6E6D-4515-BB84-68A714C1F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AFCC20-E31F-4321-8EA2-D4BEE41B5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LITERATURE REVIEW / STANDARDS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18CE46-8158-4786-AF3B-A8C8C87B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Pharmacy GST and the charge master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E74F51-6BEE-4074-A6D2-0345D891D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57291F-C671-494F-9EE0-A4898B3EB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802FEF-2087-4F5D-87CF-20202EEC2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E804AD-91AD-4B1A-949E-94CE41481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F45E17-9A4F-4416-AD0E-160D08459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66875"/>
            <a:ext cx="5200650" cy="3190875"/>
          </a:xfrm>
          <a:prstGeom xmlns:a="http://schemas.openxmlformats.org/drawingml/2006/main" prst="roundRect">
            <a:avLst>
              <a:gd name="adj" fmla="val 2985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418565-5A8B-4C9F-B015-06F2455A6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9725"/>
            <a:ext cx="5200650" cy="3190875"/>
          </a:xfrm>
          <a:prstGeom xmlns:a="http://schemas.openxmlformats.org/drawingml/2006/main" prst="roundRect">
            <a:avLst>
              <a:gd name="adj" fmla="val 29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05F6D0-5960-4549-9DB3-A2EBD67EF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9725"/>
            <a:ext cx="5200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8155BD-1C72-4842-BBFF-CD541C984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28800"/>
            <a:ext cx="472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What the master stores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461D83-6988-4D23-9491-9E7751DF3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3907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886608-4A38-468B-987D-58772A46E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479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7837DA-45D0-471A-8D08-462BDB4EF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71725"/>
            <a:ext cx="21431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Item code + description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59095A-C9C1-4675-ACE0-E2E493337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619375"/>
            <a:ext cx="401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Identifies the medicine or device.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AD0960-40F6-4548-B32F-A6CBF653D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9432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6DD16D-4C37-4023-B3FE-C7F01374F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0003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B8CD7D-420C-4DAD-A827-53C41ADD9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924175"/>
            <a:ext cx="21431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HSN and tax category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0C9D08-A0ED-4A76-A24F-0E44A986D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171825"/>
            <a:ext cx="401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Supports taxable, exempt and review states.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8549EB-75CA-41EA-B7EE-261D223FE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4956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C5ECC0-62E3-4F64-B7AC-6A9DC9CF1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5528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E248A8-651C-4ADC-9F4F-4F915B13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476625"/>
            <a:ext cx="21431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Effective GST setting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668437-31BE-4797-879E-A428BC330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24275"/>
            <a:ext cx="401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Rate is copied into a charge when dispensed.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38653F-901C-4F2F-A7DD-7BCE43081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0481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C8D0D6-681F-4490-B099-AE204DEEB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052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2B6A97-B8A3-458D-9C0F-6A040E581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29075"/>
            <a:ext cx="21431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Batch + expiry + stock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31A28D-7691-4669-9DC8-D10EADBE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276725"/>
            <a:ext cx="401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The dispense and bill update in one transaction.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6CE232-33A1-4EDC-BBA9-C222E0BF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66875"/>
            <a:ext cx="5172075" cy="3190875"/>
          </a:xfrm>
          <a:prstGeom xmlns:a="http://schemas.openxmlformats.org/drawingml/2006/main" prst="roundRect">
            <a:avLst>
              <a:gd name="adj" fmla="val 2985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EEE7D43-68D5-4208-805C-21919BC88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609725"/>
            <a:ext cx="5172075" cy="3190875"/>
          </a:xfrm>
          <a:prstGeom xmlns:a="http://schemas.openxmlformats.org/drawingml/2006/main" prst="roundRect">
            <a:avLst>
              <a:gd name="adj" fmla="val 29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B04678F-72E8-4416-A886-228421E34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609725"/>
            <a:ext cx="51720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D046BB-6654-4C32-B8A8-E9048D76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828800"/>
            <a:ext cx="4629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Training bill example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580E6DB-E1BA-407C-9802-9BA4E9CBE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390775"/>
            <a:ext cx="2266950" cy="2667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3F1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8F2C9E6-1FE2-4955-8A84-A1D99B14D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38400"/>
            <a:ext cx="2114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47FA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47FA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47FA8"/>
                </a:solidFill>
                <a:latin typeface="Arial"/>
                <a:ea typeface="Arial"/>
                <a:cs typeface="Arial"/>
              </a:rPr>
              <a:t>SYNTHETIC MEDICINE 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6FC3AC-2D4D-4CD1-819A-0BBB2EB8B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914650"/>
            <a:ext cx="31813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2 units × Rs 100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4D1B29C-D8B2-4CE0-82A4-14A7E99D6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914650"/>
            <a:ext cx="1238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Rs 200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C30D561-0F82-4F9F-8876-DE0E4EDB3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381375"/>
            <a:ext cx="4638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D7D69A8-469F-45BE-A47C-F7DDE36E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3581400"/>
            <a:ext cx="3181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Illustrative GST at 5%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E7816A4-B6CF-49D4-824E-1E1591961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58140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Rs 10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8B04447-04C9-4848-B958-4E4B435E8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038600"/>
            <a:ext cx="4638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CFD589A-4EFA-473B-ADB6-A89E45C73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219575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Example total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33A7553-E548-4E5D-9D10-033ACBF9B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219575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8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8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Rs 210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E28437A-0594-4782-8558-DA6AAA0A7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105400"/>
            <a:ext cx="107251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2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8997A63-16ED-45CE-9F5F-2DA181417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5257800"/>
            <a:ext cx="1034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394E"/>
                </a:solidFill>
                <a:latin typeface="Arial"/>
                <a:ea typeface="Arial"/>
                <a:cs typeface="Arial"/>
              </a:rPr>
              <a:t>The rate and HSN above are training assumptions. Actual medicine and device classification must be checked item by item. Taxable lines feed the GSTR-1 review HSN summary.</a:t>
            </a:r>
          </a:p>
        </p:txBody>
      </p:sp>
    </p:spTree>
    <p:extLst>
      <p:ext uri="{BB962C8B-B14F-4D97-AF65-F5344CB8AC3E}">
        <p14:creationId xmlns:p14="http://schemas.microsoft.com/office/powerpoint/2010/main" val="74185701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A42FF9A-8142-4D55-A13A-03F76A126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24BB5C-093C-47B5-97C3-C47C434E3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LITERATURE REVIEW / STANDARDS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3E1882-4B70-4411-912A-3BAD4ADA6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Small hospital billing scope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85A63F-E80A-4213-A799-43CA69E1A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2AE242-105E-4864-A417-760943B3C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0B6619-6B78-45B3-9193-876F184D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80B53C-E723-47C8-8A77-BF8098DF6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1551C9-4210-4685-92AD-7CB45828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85925"/>
            <a:ext cx="3362325" cy="18097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1DA0CB-4BBC-442D-BD52-C59BBB642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28775"/>
            <a:ext cx="3362325" cy="18097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34728B-E8EE-4469-A604-E92C935C9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28775"/>
            <a:ext cx="33623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4068ED-D519-4C6B-8FE6-A436238F0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954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875C71-B4D6-4010-BE85-A23F0EA1C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526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54B198-0494-48D6-87BF-B7786066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76425"/>
            <a:ext cx="2533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OPD and IPD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327D6C-2C31-4566-8CDC-25910EA27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447925"/>
            <a:ext cx="2971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Quick consultation bills, running admission bill and discharge invoice.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6ECFD6-F888-4B4C-991D-01C3475D2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1685925"/>
            <a:ext cx="3362325" cy="18097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326370-E626-4549-AB78-01990C6EA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28775"/>
            <a:ext cx="3362325" cy="18097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510D01-AB59-479C-8B47-2E91FD277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28775"/>
            <a:ext cx="33623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B4E5AF-FCDB-45D4-B32A-361475136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18954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FC5147-ECDA-4036-BC11-FD3C3B99D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19526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F261A4-C16D-44F4-8764-6A14271A8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876425"/>
            <a:ext cx="2533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E52BE9-654B-448F-B225-2A9DC8C50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47925"/>
            <a:ext cx="2971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Batch and expiry stock, prescription reference and item tax snapshot.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DCA2E1-4247-49A1-9C5C-95849E645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85925"/>
            <a:ext cx="3362325" cy="18097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7C9580-1348-49D8-8115-608B0BD80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628775"/>
            <a:ext cx="3362325" cy="18097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4091AC-48A6-4E5D-88AA-35DEC6E2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628775"/>
            <a:ext cx="33623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46EFBF-612E-465D-8AF1-9B9ADAD73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8954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B1E3E3-201D-4661-A46E-31941981A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9526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8BF009-19FA-4167-ADAB-77E35E45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876425"/>
            <a:ext cx="2533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Insurance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DDE073-7AF6-4BA9-BAE0-6CDF24474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447925"/>
            <a:ext cx="2971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Three named demo TPAs, preauth, claim and settlement states.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5E42F8-992A-4404-B2DC-7FB7FD241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00475"/>
            <a:ext cx="3362325" cy="18097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2C4BD29-52F5-4BA1-A310-19038D31F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743325"/>
            <a:ext cx="3362325" cy="18097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31E524D-8511-4990-BF30-EB56823EC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743325"/>
            <a:ext cx="33623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61CDDF-7123-4F40-ADF0-22F9B4BF1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100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E3504F2-2783-4C3D-A25D-1B119285E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671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FC41CFD-5A3C-4A77-9E3F-CD11D7DEA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990975"/>
            <a:ext cx="2533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PM-JAY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2A6AF14-9626-4CBF-AF30-CEDCDF368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4562475"/>
            <a:ext cx="2971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Invented package, simulated eligibility and blocked patient copay.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CB731A3-21D4-4AD7-97BE-945FCC314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3800475"/>
            <a:ext cx="3362325" cy="18097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B5F7577-9D38-4D7C-A13C-F1B05D2E7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743325"/>
            <a:ext cx="3362325" cy="18097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119CB78-B9E1-4B53-8161-3691DDEF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743325"/>
            <a:ext cx="33623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1E0B277-F125-4AB2-90C7-5B3F67E8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0100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00E0FF0-F573-4EC6-B085-80B0042CC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0671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F646059-5DB5-44DB-A855-8A30B1B49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990975"/>
            <a:ext cx="2533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Finance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E37B8F5-B385-4416-AAC8-6AAC5A856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562475"/>
            <a:ext cx="2971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Advances, refunds, receivables, payer mix and department reports.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87E5B6E-9953-4F29-A5C9-1AAB08E6E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00475"/>
            <a:ext cx="3362325" cy="18097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8D7C830-C861-4DD9-90F7-F59B7077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43325"/>
            <a:ext cx="3362325" cy="18097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5E60300-3958-4018-96AA-0EA02CA0C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43325"/>
            <a:ext cx="33623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DB3AAFB-54E2-4A0D-9844-AE3F7A200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100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B45F7C8-3CC4-48B2-9D40-297A158C4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671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51607AD-2B43-44FA-A53E-CF0E73104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990975"/>
            <a:ext cx="2533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GST review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D7595B4-F385-4E05-87A5-016522443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562475"/>
            <a:ext cx="2971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B2B, B2C, exempt and HSN summaries for manual review.</a:t>
            </a:r>
          </a:p>
        </p:txBody>
      </p:sp>
    </p:spTree>
    <p:extLst>
      <p:ext uri="{BB962C8B-B14F-4D97-AF65-F5344CB8AC3E}">
        <p14:creationId xmlns:p14="http://schemas.microsoft.com/office/powerpoint/2010/main" val="20542664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209E61D-40B9-4FF5-897D-EBFC6FC2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E4EF4C-9DB2-4C5B-B92F-9657ABF14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4007F3-4E24-45D4-9706-44B840D70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System modules and integration boundary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052A1D-9F3A-4D9C-8CB7-540BC4587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75F1B4-295B-4C4D-B26A-16B48AAC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2041E2-4A41-426F-B363-AABA88A8D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882BC5-FE23-41BB-8EC4-0EF852FB7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D10723-4A53-4FED-948F-52917D0E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771650"/>
            <a:ext cx="2724150" cy="923925"/>
          </a:xfrm>
          <a:prstGeom xmlns:a="http://schemas.openxmlformats.org/drawingml/2006/main" prst="roundRect">
            <a:avLst>
              <a:gd name="adj" fmla="val 10309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4F28D5-2BB0-4C95-AE80-41DA47233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2724150" cy="923925"/>
          </a:xfrm>
          <a:prstGeom xmlns:a="http://schemas.openxmlformats.org/drawingml/2006/main" prst="roundRect">
            <a:avLst>
              <a:gd name="adj" fmla="val 103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23982A-8F4B-4842-B2B3-9EAEF0A26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2724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A72228-139A-4647-8C95-5FDE1A38B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895475"/>
            <a:ext cx="23336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Registration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13B51B-1CDA-471C-B270-775BDD01F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228850"/>
            <a:ext cx="2333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Patient and encounter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BF6C81-D511-4F04-AB4C-36789404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933700"/>
            <a:ext cx="2724150" cy="923925"/>
          </a:xfrm>
          <a:prstGeom xmlns:a="http://schemas.openxmlformats.org/drawingml/2006/main" prst="roundRect">
            <a:avLst>
              <a:gd name="adj" fmla="val 10309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AC44F1-F5F9-4BA6-B080-E73A06E06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2724150" cy="923925"/>
          </a:xfrm>
          <a:prstGeom xmlns:a="http://schemas.openxmlformats.org/drawingml/2006/main" prst="roundRect">
            <a:avLst>
              <a:gd name="adj" fmla="val 103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D9AB74-8D20-4805-80D9-436FF4E3D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2724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CBFC48-7A98-4353-A5D4-E5BAADA0E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057525"/>
            <a:ext cx="23336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Clinical HIS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0534FD-2626-4FF2-BB76-09182796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390900"/>
            <a:ext cx="2333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Delivered service event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B4D99B-C9E4-435C-8F4A-D2753CF66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095750"/>
            <a:ext cx="2724150" cy="923925"/>
          </a:xfrm>
          <a:prstGeom xmlns:a="http://schemas.openxmlformats.org/drawingml/2006/main" prst="roundRect">
            <a:avLst>
              <a:gd name="adj" fmla="val 10309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5C957B-5F73-4779-A948-D7A2A4611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2724150" cy="923925"/>
          </a:xfrm>
          <a:prstGeom xmlns:a="http://schemas.openxmlformats.org/drawingml/2006/main" prst="roundRect">
            <a:avLst>
              <a:gd name="adj" fmla="val 103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FE8EA1-C2FE-4F16-9246-742AF5EB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2724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F014F3-91C2-4317-80B0-806F5078A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219575"/>
            <a:ext cx="23336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514466-9130-4B28-A970-FB52F422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552950"/>
            <a:ext cx="2333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Dispense event and batch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418A52-6DBE-4EA1-A369-C7EC40D3E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209925"/>
            <a:ext cx="381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>
            <a:defPPr algn="ctr">
              <a:defRPr sz="4125" b="1">
                <a:solidFill>
                  <a:srgbClr val="F9A2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4125" b="1">
                <a:solidFill>
                  <a:srgbClr val="F9A23D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F9A23D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71394F-DCB3-4C90-BB34-3AC8676A3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943100"/>
            <a:ext cx="3543300" cy="2886075"/>
          </a:xfrm>
          <a:prstGeom xmlns:a="http://schemas.openxmlformats.org/drawingml/2006/main" prst="roundRect">
            <a:avLst>
              <a:gd name="adj" fmla="val 3300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D8C610-56CA-439E-8B4F-2EEAD9953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885950"/>
            <a:ext cx="3543300" cy="2886075"/>
          </a:xfrm>
          <a:prstGeom xmlns:a="http://schemas.openxmlformats.org/drawingml/2006/main" prst="roundRect">
            <a:avLst>
              <a:gd name="adj" fmla="val 3300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82DB1D-4A3C-4924-A0A9-A6758D6DF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885950"/>
            <a:ext cx="3543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6A3DAB-E3EB-4B87-A7D1-DA1E5D5A4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152650"/>
            <a:ext cx="3048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FastAPI billing service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CE0871-21CF-43D4-B3DF-16477F893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47975"/>
            <a:ext cx="28765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Event intake and validation</a:t>
            </a:r>
          </a:p>
          <a:p xmlns:a="http://schemas.openxmlformats.org/drawingml/2006/main">
            <a:pPr algn="ctr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Rate and tax snapshot</a:t>
            </a:r>
          </a:p>
          <a:p xmlns:a="http://schemas.openxmlformats.org/drawingml/2006/main">
            <a:pPr algn="ctr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Invoice and claim workflow</a:t>
            </a:r>
          </a:p>
          <a:p xmlns:a="http://schemas.openxmlformats.org/drawingml/2006/main">
            <a:pPr algn="ctr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Receipts and reports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580FC2-3C0B-41E8-A2CA-56CC9BC12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09925"/>
            <a:ext cx="381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>
            <a:defPPr algn="ctr">
              <a:defRPr sz="4125" b="1">
                <a:solidFill>
                  <a:srgbClr val="F9A2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4125" b="1">
                <a:solidFill>
                  <a:srgbClr val="F9A23D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F9A23D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0B7FC7-1BB3-4887-AD52-031B0EC20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790700"/>
            <a:ext cx="2762250" cy="1304925"/>
          </a:xfrm>
          <a:prstGeom xmlns:a="http://schemas.openxmlformats.org/drawingml/2006/main" prst="roundRect">
            <a:avLst>
              <a:gd name="adj" fmla="val 7299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0313623-DDC2-4F4E-A926-1F7799908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733550"/>
            <a:ext cx="2762250" cy="1304925"/>
          </a:xfrm>
          <a:prstGeom xmlns:a="http://schemas.openxmlformats.org/drawingml/2006/main" prst="roundRect">
            <a:avLst>
              <a:gd name="adj" fmla="val 72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D42D4A1-821C-4857-8AF0-6D484416C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733550"/>
            <a:ext cx="2762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A607F2-650A-4E4A-8D13-22DCEAEB6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981200"/>
            <a:ext cx="23241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Next.js website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F7F6D7F-F01E-44D8-878C-B93189716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476500"/>
            <a:ext cx="23241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Billing and finance users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C0A4BE8-CA7F-461A-81FC-15FA0712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52825"/>
            <a:ext cx="2762250" cy="1304925"/>
          </a:xfrm>
          <a:prstGeom xmlns:a="http://schemas.openxmlformats.org/drawingml/2006/main" prst="roundRect">
            <a:avLst>
              <a:gd name="adj" fmla="val 7299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673A04-D667-40B6-97AF-25A056F34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495675"/>
            <a:ext cx="2762250" cy="1304925"/>
          </a:xfrm>
          <a:prstGeom xmlns:a="http://schemas.openxmlformats.org/drawingml/2006/main" prst="roundRect">
            <a:avLst>
              <a:gd name="adj" fmla="val 72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2D8D0F6-A5C4-4FC5-985D-8145F8E23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495675"/>
            <a:ext cx="2762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1395EC5-ADE2-457B-82B2-5BE227D76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743325"/>
            <a:ext cx="23241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PostgreSQL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77B22B2-6636-42A7-A972-7067C36BD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238625"/>
            <a:ext cx="23241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Linked records and audit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34605E2-9F54-4EAA-A05F-027BA2D37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76850"/>
            <a:ext cx="10744200" cy="561975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FFF2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1F24CFB-661E-4329-BE03-6BF881679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19725"/>
            <a:ext cx="10382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75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394E"/>
                </a:solidFill>
                <a:latin typeface="Arial"/>
                <a:ea typeface="Arial"/>
                <a:cs typeface="Arial"/>
              </a:rPr>
              <a:t>External HIS, payer and government portals are represented by local demo actions. No live exchange is claimed.</a:t>
            </a:r>
          </a:p>
        </p:txBody>
      </p:sp>
    </p:spTree>
    <p:extLst>
      <p:ext uri="{BB962C8B-B14F-4D97-AF65-F5344CB8AC3E}">
        <p14:creationId xmlns:p14="http://schemas.microsoft.com/office/powerpoint/2010/main" val="154839067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7CD8EB4-7996-4396-8E3E-544F3FD05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348AA0-6E9F-46A3-B6D4-8ACDBAEE5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AA9152-166A-4773-B5A1-879BF70E1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Database schema and integrity rules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1FE9CC-3BC8-468B-A83C-5DF2088C9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2FA06E-51E0-4AAD-B9E4-89A68CA13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D8466D-8140-4E57-AB2E-4C3D34617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7C8A43-2499-4DFB-8CC3-0C2D9EA41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06D3A4-2056-46D1-ADD6-2DEB756A0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609725"/>
            <a:ext cx="5219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912D49-9550-47B2-860B-DAE8ECDEF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609725"/>
            <a:ext cx="76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966DBE-CE37-4063-9661-9ABE98631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724025"/>
            <a:ext cx="2028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patients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C9C0F8-6F3F-4291-BDB1-B868D21B9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175260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patient_id PK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BBD159-6577-4680-B51F-235B06FA2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14575"/>
            <a:ext cx="5219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0314E3-2B2C-41AE-9F4B-6449CD53F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14575"/>
            <a:ext cx="76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6A3A48-3F3F-4031-8304-D1EC34B35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28875"/>
            <a:ext cx="2028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encounters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3CAF5E-6BAD-4E4D-A554-03252AA7C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45745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encounter_id PK, patient_id FK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7FBCC3-7566-4D92-9E2C-3C4CD0EE9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019425"/>
            <a:ext cx="5219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F3483E-9A63-458B-AE94-E640EFBF4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019425"/>
            <a:ext cx="76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8184D6-E8E2-4BEF-81A4-B000BF15D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133725"/>
            <a:ext cx="2028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charges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18A85A-4372-4BF2-92EA-7ACC9D202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16230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source_event_id unique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0759FB-AEA4-4C49-B721-498162CDB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724275"/>
            <a:ext cx="5219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9134E9-E15C-4792-B256-97A0FF33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724275"/>
            <a:ext cx="76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4975CD-A515-4186-90C9-32163F6E0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38575"/>
            <a:ext cx="2028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invoices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C83C85-2E5F-4B79-825F-01C081CF5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86715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encounter_id unique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D8525B-0584-4CF9-9615-3D6C6BCC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29125"/>
            <a:ext cx="5219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3ED8FD-B680-45F7-83E0-EABCC6E4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29125"/>
            <a:ext cx="76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62EE87-6635-42DB-9D09-F455FA8D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543425"/>
            <a:ext cx="2028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invoice_lines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F15174-F5B3-451E-88CF-58CCEF6D8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57200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charge_id unique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1F372F-6C7E-42E2-B017-F3EA9ECE8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33975"/>
            <a:ext cx="5219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C1D060-871D-4A3F-B041-CBBC092EE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33975"/>
            <a:ext cx="76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05EC867-5294-4C57-9868-CCCADA74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248275"/>
            <a:ext cx="2028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receipts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9A06A1C-6A83-4405-AEB0-FCBCB384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527685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invoice_id FK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2ED69EF-E3EA-4C6B-8D2E-C5A3390DA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609725"/>
            <a:ext cx="5219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6F900F4-4575-43A9-B33A-62233C05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609725"/>
            <a:ext cx="76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1BDA81-B975-4D53-B5EA-963CBBFA4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24025"/>
            <a:ext cx="2028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coverages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32F88DF-5504-4E2D-8411-37206669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75260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encounter_id unique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A9D90B-4DA3-425E-84CE-F62D8FF23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14575"/>
            <a:ext cx="5219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0E5E27C-9A95-4CE0-850D-E49A18069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14575"/>
            <a:ext cx="76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74F9AE9-E9A8-4836-A415-2F867AA9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28875"/>
            <a:ext cx="2028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preauths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602B163-A1EE-4A7F-93FE-A73A013D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45745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coverage_id FK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ABDCEFD-639D-48D6-BCF3-F558E286E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19425"/>
            <a:ext cx="5219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A536DB4-38FA-414F-95B5-0E39C734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19425"/>
            <a:ext cx="76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40DEBB1-8AC3-4966-9656-00953E49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133725"/>
            <a:ext cx="2028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claims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C7A1FCD-9080-4C09-80BE-BD3CEFAA7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16230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invoice_id unique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A72F4A4-7BCD-419A-A529-2C332851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24275"/>
            <a:ext cx="5219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86B7AFB-778A-43B0-8F5A-21C2869F7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24275"/>
            <a:ext cx="76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224AF04-4F2B-420C-804B-4778798C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838575"/>
            <a:ext cx="2028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pharmacy_items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65DD22E-4A3B-4F89-A67A-072A2D610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86715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service_code unique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1046512-02C1-43EF-9D65-9C941D67A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429125"/>
            <a:ext cx="5219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31E1052-9AE9-48E6-9C26-FB4CE1A7F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429125"/>
            <a:ext cx="76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C82363B-A6E8-4721-8247-FB6CD85C7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543425"/>
            <a:ext cx="2028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stock_batches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A9D150A-EA44-4DF5-A1A7-402A0FC07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57200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item + batch unique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825F483-A92E-4A87-92E4-A82090CDF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133975"/>
            <a:ext cx="52197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5FBB4A4-3AB3-4E46-BDB0-52F855112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133975"/>
            <a:ext cx="76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07CA1F2-9B7A-4EFA-872F-7CEB4F291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48275"/>
            <a:ext cx="2028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audit_events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3BE7C7E-EEB2-450C-AC70-A1E0B4229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27685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action, entity, time</a:t>
            </a:r>
          </a:p>
        </p:txBody>
      </p:sp>
    </p:spTree>
    <p:extLst>
      <p:ext uri="{BB962C8B-B14F-4D97-AF65-F5344CB8AC3E}">
        <p14:creationId xmlns:p14="http://schemas.microsoft.com/office/powerpoint/2010/main" val="16555820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D36020-E87D-4C9C-8F3F-E383EE985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888909-56BD-4FD4-AA03-14B4521BE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ACD0BA-43D4-4AF9-8F85-0729D2115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ER diagram: encounter to receipt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EBD167-7E7E-40ED-B4C4-29137E3E8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B074A4-8FBF-4760-8AD0-984DE1724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750BD8-DF6B-4523-A273-0374186F9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B1ED1C-BA78-4CF3-BC22-8BEBFA1B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75F1DC-DA89-48E0-A1FB-C7069AEB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5811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Chen notation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FB76C9-FB76-4390-B143-086D9C7AB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609725"/>
            <a:ext cx="83534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Rectangle = entity    Diamond = relationship    Oval = attribute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F22BBB-F1D1-4E4B-918E-7B3149B67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10972800" cy="278130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51C570-E054-4039-A6C7-BA1A1D9DC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38350"/>
            <a:ext cx="10972800" cy="278130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A985C4-940F-43F8-9FA0-EE6645A8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38350"/>
            <a:ext cx="10972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CF62A3-6305-45DB-8781-50EC7A08AD9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40f600428448bd"/>
          <a:stretch xmlns:a="http://schemas.openxmlformats.org/drawingml/2006/main"/>
        </p:blipFill>
        <p:spPr>
          <a:xfrm xmlns:a="http://schemas.openxmlformats.org/drawingml/2006/main">
            <a:off x="695325" y="2462386"/>
            <a:ext cx="10820400" cy="1942754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E9C85B-58FF-4AC1-BB4E-3C4C3FD0D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86350"/>
            <a:ext cx="1073467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4BDB9C-66DA-4A42-B561-76FB4F58D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67325"/>
            <a:ext cx="10239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425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394E"/>
                </a:solidFill>
                <a:latin typeface="Arial"/>
                <a:ea typeface="Arial"/>
                <a:cs typeface="Arial"/>
              </a:rPr>
              <a:t>The source event ID is unique. One encounter has at most one final invoice. Receipts refer to that invoice.</a:t>
            </a:r>
          </a:p>
        </p:txBody>
      </p:sp>
    </p:spTree>
    <p:extLst>
      <p:ext uri="{BB962C8B-B14F-4D97-AF65-F5344CB8AC3E}">
        <p14:creationId xmlns:p14="http://schemas.microsoft.com/office/powerpoint/2010/main" val="118345547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22804F-C5FE-4D6C-BE95-AAC0D0FD5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10E9C6-8C6B-4842-83CB-FEB3D43DE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66EE43-F9B1-4EFC-904D-DD8B40E4F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ER diagram: payer and claim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AFA675-DB6B-4867-A177-219C14A8C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D4090B-649F-43DC-9D28-7405970B6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EEDEFD-9B5E-4419-A18D-D8894965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445F8F-B2BE-43F3-BB7B-DF4CFA7B2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7DED60-6F67-4F8B-BE07-E8964309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5811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Chen notation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8C4DDE-D3F5-4A05-90A6-0AA5F9A9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609725"/>
            <a:ext cx="83534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Cardinalities show optional preauth and claim records.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757564-BA0B-4140-BA16-D513F763B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10972800" cy="3257550"/>
          </a:xfrm>
          <a:prstGeom xmlns:a="http://schemas.openxmlformats.org/drawingml/2006/main" prst="roundRect">
            <a:avLst>
              <a:gd name="adj" fmla="val 2924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A19B6B-FFA7-4410-BA33-4C5A71A1C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19300"/>
            <a:ext cx="10972800" cy="3257550"/>
          </a:xfrm>
          <a:prstGeom xmlns:a="http://schemas.openxmlformats.org/drawingml/2006/main" prst="roundRect">
            <a:avLst>
              <a:gd name="adj" fmla="val 29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EDAAEA-1B1D-430F-BD9C-9A75BFC5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19300"/>
            <a:ext cx="10972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855167-0669-48E6-96A5-AD606A4688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80f29103794cfa"/>
          <a:stretch xmlns:a="http://schemas.openxmlformats.org/drawingml/2006/main"/>
        </p:blipFill>
        <p:spPr>
          <a:xfrm xmlns:a="http://schemas.openxmlformats.org/drawingml/2006/main">
            <a:off x="695325" y="2253407"/>
            <a:ext cx="10820400" cy="2808386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2586B0-6808-4438-8D3D-FE396D265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457825"/>
            <a:ext cx="10553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425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394E"/>
                </a:solidFill>
                <a:latin typeface="Arial"/>
                <a:ea typeface="Arial"/>
                <a:cs typeface="Arial"/>
              </a:rPr>
              <a:t>The claim decision and the receipt are different records, so approval alone leaves the invoice outstanding.</a:t>
            </a:r>
          </a:p>
        </p:txBody>
      </p:sp>
    </p:spTree>
    <p:extLst>
      <p:ext uri="{BB962C8B-B14F-4D97-AF65-F5344CB8AC3E}">
        <p14:creationId xmlns:p14="http://schemas.microsoft.com/office/powerpoint/2010/main" val="94676997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307693D-2B27-4E8D-B965-3D95B0274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3FF360-2DAC-42AA-857E-C26FC7A99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PROTOTYPE ASSUMPTIONS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6FD909-E538-4992-943E-1993297DF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Assumptions behind the live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40C95A-3EFE-4013-A5F6-CCE91E373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87F02B-1894-44A1-B517-29CD7CD5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9B3BA8-75A4-4F9E-AAC3-60956384D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CC0478-5E17-4421-889F-D598B17C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25B6A5-A7CF-45CA-9E41-039AD743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5153025" cy="1133475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E40986-BCF2-422C-B512-7952B61C0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57350"/>
            <a:ext cx="5153025" cy="1133475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DA4558-454F-401E-A511-EB8ACF399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57350"/>
            <a:ext cx="51530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CF0328-1856-4FD7-9D70-C4FB272F2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905000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AED60A-E034-4AA9-8D58-D9AA6052B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962150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BD1883-95AB-41DE-ACAE-11D88053C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885950"/>
            <a:ext cx="433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Synthetic patients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39C892-0168-4212-8743-912BF821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257425"/>
            <a:ext cx="428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Only invented labels appear in the database and screenshots.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9C894E-AD6D-4D12-A790-787E4FB72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714500"/>
            <a:ext cx="5153025" cy="1133475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440269-F61F-4310-9212-4C0A21CA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57350"/>
            <a:ext cx="5153025" cy="1133475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E3F1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12BF32-D942-4D67-BFF0-D6447DBA6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57350"/>
            <a:ext cx="51530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A82AAB-748E-434C-A82D-C54F2BDF3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05000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22B0A0-A92A-46EF-A73C-89381E110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F31B32-07F2-4F2F-A577-1877EEF4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885950"/>
            <a:ext cx="433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Local HIS events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4A415E-178F-4BD6-B767-5AF5AD703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57425"/>
            <a:ext cx="428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The event API stands in for an authorised hospital HIS feed.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795951-2A39-4B4B-8A3D-AE0285834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95625"/>
            <a:ext cx="5153025" cy="1133475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B17E33-B97E-4628-AE3E-821F23D3E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038475"/>
            <a:ext cx="5153025" cy="1133475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18BBF5-FFA2-4EA9-BE7F-7CB55A87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038475"/>
            <a:ext cx="51530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F547AA-A388-4DBA-B86A-3711A8739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2861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29D623-6895-466D-9D3D-8428F917C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3432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711CBB-6343-4C6F-B793-37984847C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267075"/>
            <a:ext cx="433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Demo payer actions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85F912-2E45-423D-B539-2C301A858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38550"/>
            <a:ext cx="428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TPA and PM-JAY responses are recorded locally, without portal access.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A763A6-3783-4B71-9952-44976144C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095625"/>
            <a:ext cx="5153025" cy="1133475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7A2557-5C60-480D-B108-1337822DD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38475"/>
            <a:ext cx="5153025" cy="1133475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E3F1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7DD1BCA-EA59-4B1E-A813-D35745972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38475"/>
            <a:ext cx="51530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2D4605-B8C2-47D4-B1F4-5D5964F7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861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3ECEB7F-D8F7-4AB9-ADB7-9D3B59CC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432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D7AEAC6-6071-4C31-A798-880BA2395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267075"/>
            <a:ext cx="433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Training rates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14D445-BCA5-40EF-898A-0998A383A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638550"/>
            <a:ext cx="428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Services, packages and pharmacy tax values are examples to review.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1DFD696-1912-4FBE-91AE-ACED40B07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76750"/>
            <a:ext cx="5153025" cy="1133475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20AB244-E86D-4004-83BE-EA983741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419600"/>
            <a:ext cx="5153025" cy="1133475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57187B8-D758-418F-BF2D-3A6CFEA6C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419600"/>
            <a:ext cx="51530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75F35B8-1B09-40B1-92D9-81A6A4932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667250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AAE7212-83E6-40A6-A875-EDAA0128F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724400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DB7590D-3144-4D02-BF46-152A4D872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48200"/>
            <a:ext cx="433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Local security scope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F2381C8-0FB3-416F-9A5B-6D61D0AFB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19675"/>
            <a:ext cx="428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No login or protected health data. Demo is limited to localhost.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87A1F83-8072-4B4F-A487-2D241354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476750"/>
            <a:ext cx="5153025" cy="1133475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DD081FB-D472-452E-A6B6-703B6D084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19600"/>
            <a:ext cx="5153025" cy="1133475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E3F1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7B67D47-0062-4359-9EFA-864ADA91A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19600"/>
            <a:ext cx="51530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CDC6BB1-2CBD-46DD-931E-425FE4CD8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D38D25C-3BC0-48B7-827B-4C67D3D58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724400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9F010CF-0A22-4412-B730-9ADE4244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48200"/>
            <a:ext cx="433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GST output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9F00ED9-D178-4471-A11E-BD7889DC5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019675"/>
            <a:ext cx="428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GSTR-1 tables form a review packet, not a portal return.</a:t>
            </a:r>
          </a:p>
        </p:txBody>
      </p:sp>
    </p:spTree>
    <p:extLst>
      <p:ext uri="{BB962C8B-B14F-4D97-AF65-F5344CB8AC3E}">
        <p14:creationId xmlns:p14="http://schemas.microsoft.com/office/powerpoint/2010/main" val="7594930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EBD6BC-A3C9-46BD-BADF-1D25AB2BE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C5F4E3-272D-48AB-8A31-D8B6C3DF0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TECHNICAL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91BA6F-CDAC-4059-9D15-521F763FC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Frontend, backend and database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32EBFA-536B-4376-BC03-342A46788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7AEB6E-D32B-40AE-BD8F-3CA141D7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40D5FA-5E74-4336-A3A1-F3FE03BCE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F3195C-FD5A-4E55-872D-E01D2CD09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627309-BE58-490F-A90D-73D52CAAC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3381375" cy="278130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484C16-2B15-4528-8F1C-2496E93B6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733550"/>
            <a:ext cx="3381375" cy="278130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1122BF-7F06-45A3-8138-5C4DBA7B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733550"/>
            <a:ext cx="33813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C407EC-EE36-4580-BDCB-CF77ABDD8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526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A7C15F-C15F-4E0B-AD94-D3F3D1CE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97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2C9F0C-6A3C-4A60-886E-D0E94A769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47925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Next.js + React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A5AB10-F503-489C-8D03-0CD6603C1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14675"/>
            <a:ext cx="2905125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Patient worklist, charge forms, pharmacy, claims, tax and AR views.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6DB400-8889-4E0C-BABF-71BE70E00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81375" cy="278130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F2B91E-D254-4493-8DD0-A1CD36879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733550"/>
            <a:ext cx="3381375" cy="278130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100921-D20B-43F2-81F6-ECD0F116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733550"/>
            <a:ext cx="33813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029970-BD3B-45CC-A8B3-83234C008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526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FA44BD-42B4-4528-A8B9-A0F3B3F1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097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C13118-93A3-4A73-A5A2-F29EA6710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47925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FastAPI + Python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EED03D-771C-419F-B3EF-F5CD211F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114675"/>
            <a:ext cx="2905125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Validates state changes and exposes JSON endpoints with interactive docs.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7719F1-5C72-44E5-B23D-BD2284855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90700"/>
            <a:ext cx="3381375" cy="278130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691F48-6230-4F51-AB25-D91969D41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1733550"/>
            <a:ext cx="3381375" cy="278130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376CDC-B2C5-4788-9623-ABC42E238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1733550"/>
            <a:ext cx="33813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32D30E-E7ED-45E1-9401-A4375857E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526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1EF448-FE43-40FC-9532-FDAB26754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097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668D47-35DA-4A43-BD44-12ECBA435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47925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PostgreSQL 16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1D04A4-0400-46DD-A11E-6D7912C19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14675"/>
            <a:ext cx="2905125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Foreign keys, checks, unique event IDs and transaction-backed writes.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035663-692A-46E8-810D-D16BDC039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933950"/>
            <a:ext cx="10744200" cy="790575"/>
          </a:xfrm>
          <a:prstGeom xmlns:a="http://schemas.openxmlformats.org/drawingml/2006/main" prst="roundRect">
            <a:avLst>
              <a:gd name="adj" fmla="val 9639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0991E2-C20D-4C9D-B8A2-FD71BB44F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33975"/>
            <a:ext cx="10344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500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94E"/>
                </a:solidFill>
                <a:latin typeface="Arial"/>
                <a:ea typeface="Arial"/>
                <a:cs typeface="Arial"/>
              </a:rPr>
              <a:t>Next.js calls /api on the same origin. FastAPI runs the rules. PostgreSQL commits stock and charge changes together.</a:t>
            </a:r>
          </a:p>
        </p:txBody>
      </p:sp>
    </p:spTree>
    <p:extLst>
      <p:ext uri="{BB962C8B-B14F-4D97-AF65-F5344CB8AC3E}">
        <p14:creationId xmlns:p14="http://schemas.microsoft.com/office/powerpoint/2010/main" val="11199192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76FB9EF-13B3-46BD-99F1-D3F9F2D7C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387C1A-4A35-4681-A280-A4F56498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TECHNICAL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6D1EA7-3CAA-47FE-B578-64ED5DC5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Backend logic and integration steps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383BD6-F2E4-4D9A-A9BD-502E0DEA8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7E03C3-D16C-4BBD-984E-4F3D3FB85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2457F2-7659-45E6-8B85-32E4A3B86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98F855-CF2B-446E-B55F-5BD751ACC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11A5A7-5397-4193-85D0-06321ECCF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10734675" cy="619125"/>
          </a:xfrm>
          <a:prstGeom xmlns:a="http://schemas.openxmlformats.org/drawingml/2006/main" prst="roundRect">
            <a:avLst>
              <a:gd name="adj" fmla="val 1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4A69B9-DE72-45AD-80A9-C5400E46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240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06165A-2063-4DF7-A850-82F090D6B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811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30DA41-5936-4587-99E7-68A9B2147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1733550"/>
            <a:ext cx="41338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394E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7394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7394E"/>
                </a:solidFill>
                <a:latin typeface="Consolas"/>
                <a:ea typeface="Consolas"/>
                <a:cs typeface="Consolas"/>
              </a:rPr>
              <a:t>POST /api/his/events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C0E4C5-0850-4198-8C1B-10D23CF3D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1733550"/>
            <a:ext cx="5619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Check source ID, route and service. Save one charge.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8AE7A4-F31D-462A-8140-B00716C54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86000"/>
            <a:ext cx="10734675" cy="619125"/>
          </a:xfrm>
          <a:prstGeom xmlns:a="http://schemas.openxmlformats.org/drawingml/2006/main" prst="roundRect">
            <a:avLst>
              <a:gd name="adj" fmla="val 10769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A6AD48-392A-41B2-A2BA-808E4CAB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479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6AC1DB-79FB-474F-AA6A-CC9DD6B67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050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B2D011-28C0-43A6-92A6-8AAD0F08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2457450"/>
            <a:ext cx="41338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394E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7394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7394E"/>
                </a:solidFill>
                <a:latin typeface="Consolas"/>
                <a:ea typeface="Consolas"/>
                <a:cs typeface="Consolas"/>
              </a:rPr>
              <a:t>POST /api/pharmacy/dispense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D6440D-B3A8-4B24-8443-FAB8902ED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457450"/>
            <a:ext cx="5619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Select unexpired batch, reduce stock and add charge.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41F259-190A-4F23-A81D-04AEB9FD5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10734675" cy="619125"/>
          </a:xfrm>
          <a:prstGeom xmlns:a="http://schemas.openxmlformats.org/drawingml/2006/main" prst="roundRect">
            <a:avLst>
              <a:gd name="adj" fmla="val 1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6693A8-C9EC-4CBE-9CCF-C97D6A7DC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718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7DF05E-250E-444B-8C52-6598FFDF5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289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3267E4-C26D-4086-83EB-255F6BFD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3181350"/>
            <a:ext cx="41338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394E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7394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7394E"/>
                </a:solidFill>
                <a:latin typeface="Consolas"/>
                <a:ea typeface="Consolas"/>
                <a:cs typeface="Consolas"/>
              </a:rPr>
              <a:t>POST /api/preauth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CA876C-3A7C-4F37-B23C-816EFD40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181350"/>
            <a:ext cx="5619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Record a simulated payer request and decision.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91CE17-AD5E-436A-B5E9-A79D8619B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10734675" cy="619125"/>
          </a:xfrm>
          <a:prstGeom xmlns:a="http://schemas.openxmlformats.org/drawingml/2006/main" prst="roundRect">
            <a:avLst>
              <a:gd name="adj" fmla="val 10769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11D315-C2EF-4EA0-86ED-B0A1E315F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957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159FDA-E9F9-4F4C-8B4A-1B62A72AA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528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11697F-F6F4-4142-AB28-22AF410D0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3905250"/>
            <a:ext cx="41338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394E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7394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7394E"/>
                </a:solidFill>
                <a:latin typeface="Consolas"/>
                <a:ea typeface="Consolas"/>
                <a:cs typeface="Consolas"/>
              </a:rPr>
              <a:t>POST /api/invoices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762E65-6896-4D65-8603-B2F218322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905250"/>
            <a:ext cx="5619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Lock charge snapshots into one final invoice.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4C93CA-0C49-49FD-8644-F39AC9AB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57700"/>
            <a:ext cx="10734675" cy="619125"/>
          </a:xfrm>
          <a:prstGeom xmlns:a="http://schemas.openxmlformats.org/drawingml/2006/main" prst="roundRect">
            <a:avLst>
              <a:gd name="adj" fmla="val 1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F3C8F1-09C8-4B42-8C27-4052FFCA3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196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A0447A-4BF3-4373-A77E-FD56F3BEA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767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8D3BFF-913C-4219-9CCE-BFE89A38A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4629150"/>
            <a:ext cx="41338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394E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7394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7394E"/>
                </a:solidFill>
                <a:latin typeface="Consolas"/>
                <a:ea typeface="Consolas"/>
                <a:cs typeface="Consolas"/>
              </a:rPr>
              <a:t>POST /api/claims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4B7C2B3-E71C-45B7-A6A8-8A3E61AC5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629150"/>
            <a:ext cx="5619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Check summary and required documents, then submit demo claim.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AFA7467-8DCA-4F25-A455-BDE550357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81600"/>
            <a:ext cx="10734675" cy="619125"/>
          </a:xfrm>
          <a:prstGeom xmlns:a="http://schemas.openxmlformats.org/drawingml/2006/main" prst="roundRect">
            <a:avLst>
              <a:gd name="adj" fmla="val 10769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5046224-4856-43AE-904C-AEEFCFC35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435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DC684D-DDD6-42C4-8821-AEFD70B25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006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EBF8874-FEAE-4496-AD5E-B821E016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5353050"/>
            <a:ext cx="41338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7394E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7394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7394E"/>
                </a:solidFill>
                <a:latin typeface="Consolas"/>
                <a:ea typeface="Consolas"/>
                <a:cs typeface="Consolas"/>
              </a:rPr>
              <a:t>POST /api/receipts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5A928AB-57A8-4609-855A-D65BEDB5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5353050"/>
            <a:ext cx="5619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Post actual money within the unpaid balance.</a:t>
            </a:r>
          </a:p>
        </p:txBody>
      </p:sp>
    </p:spTree>
    <p:extLst>
      <p:ext uri="{BB962C8B-B14F-4D97-AF65-F5344CB8AC3E}">
        <p14:creationId xmlns:p14="http://schemas.microsoft.com/office/powerpoint/2010/main" val="145707076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2733161-5DE6-4E7B-A261-C508C6FE1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41DB98-9AE9-494A-87DD-E93020AA1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TECHNICAL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13C0FB-8454-49EF-854D-CB992BEE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Rules built into the prototype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76CCBD-6B6E-43F4-930A-A9776748A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2C9C83-505D-485D-AE3A-145AD5A4D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5E7A5D-9B6A-4EFC-9729-109250CF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5E9E3D-9B19-4565-86A5-70920678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FEDC7C-E64F-4B4A-B575-A9B733A57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106584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BD1448-271D-465F-93B0-F4452FFC2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20478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872477-F10B-4FDE-8BE5-C29B7928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19275"/>
            <a:ext cx="1685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Charge master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593A02-4C8A-4F3B-8007-48D88507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62125"/>
            <a:ext cx="80867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Payer tariffs and effective-dated tax settings are copied when a charge is created.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7DA281-DD6E-4546-BDB2-960CEB6DE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66975"/>
            <a:ext cx="106584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88C8BF-2205-4B62-954F-EBFD2970A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66975"/>
            <a:ext cx="20478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219356-AA08-4D43-879E-D3D215249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86050"/>
            <a:ext cx="1685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582"/>
          </a:bodyPr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Room and package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5277AC-800F-45A9-A46F-286C5BE3C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628900"/>
            <a:ext cx="80867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Room days come from dated stays. Package-covered service lines remain visible at zero price.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FCEFE6-D146-4447-B023-03064210C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106584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969675-AC44-4C12-ABFC-69013F10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20478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1289E1-2F2C-40E9-A820-EFD378E3C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52825"/>
            <a:ext cx="1685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Insurance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C02858-55A1-4D8B-86B8-8A69AC31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495675"/>
            <a:ext cx="80867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Preauth is required for seeded private and PM-JAY inpatient cases. Approval is separate from receipt.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02234F-F2CD-4AB6-902F-4DDC4007D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00525"/>
            <a:ext cx="106584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C2BED9-3A25-488D-96F5-50B8E1173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00525"/>
            <a:ext cx="20478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1A2C66-5C4A-4C61-9CCA-F2A44D719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19600"/>
            <a:ext cx="1685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GST review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BDC403-A6C1-4E3A-91C9-D3AB33B8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362450"/>
            <a:ext cx="80867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Exempt and taxable lines are grouped for review; pharmacy item settings are examples.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28F639-4EBF-43FE-A466-A74A640F0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67300"/>
            <a:ext cx="106584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3EB416-2C81-4452-A66E-C7B529B64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67300"/>
            <a:ext cx="20478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68B468-4514-472D-AD24-2C8D5158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86375"/>
            <a:ext cx="1685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Cash control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731456-8716-4EC9-9E6F-0D2AD64CC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229225"/>
            <a:ext cx="80867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Advances are allocated once. Refunds cannot exceed unused credit. PM-JAY patient receipt is blocked.</a:t>
            </a:r>
          </a:p>
        </p:txBody>
      </p:sp>
    </p:spTree>
    <p:extLst>
      <p:ext uri="{BB962C8B-B14F-4D97-AF65-F5344CB8AC3E}">
        <p14:creationId xmlns:p14="http://schemas.microsoft.com/office/powerpoint/2010/main" val="2471487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14A42B0-4065-45F4-88DE-1A747111F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717565-7CA1-4047-AF88-9D51CCC49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DATA FLOW &amp; INTEGRATION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92706F-61A6-477A-A97D-DBDCA4B9A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How a delivered service reaches the bill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3171A6-1B3B-4F72-8813-69472D6DA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7D968C-B493-4554-8242-2F5E25318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D4EF93-7B95-42CA-8EBF-6B7DECDB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30E66C-4ADC-4439-A2AC-C44DD6339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729F9B-D5A3-4B35-9DBE-35912FE5E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0225"/>
            <a:ext cx="2057400" cy="1428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DD37DA-32E8-4B9C-84D8-3A96650FC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6287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942EC4-2916-4634-A167-DFBC4472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6859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EF6097-A620-41B3-B334-583999A9A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152650"/>
            <a:ext cx="18002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HIS event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B8C05C-0D16-4BAD-BFAE-95D27007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667000"/>
            <a:ext cx="18002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source_event_id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80B900-47A3-4FCE-92C2-C4E534A55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2219325"/>
            <a:ext cx="266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3000" b="1">
                <a:solidFill>
                  <a:srgbClr val="F9A2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9A23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9A23D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EC91E8-E88A-4ABA-AD44-FBF050F33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800225"/>
            <a:ext cx="2057400" cy="1428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B7F024-C584-4754-8A2B-680A1349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16287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7988C3-4609-4092-A1BD-04CCFB4C6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16859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12CE5A-563A-4841-A178-EEC694F1C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152650"/>
            <a:ext cx="18002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Charge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64A0E3-5D81-4B32-AFB8-F834FE25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667000"/>
            <a:ext cx="18002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payer price saved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F74C83-8ED2-4993-96D3-6CEE45FC4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2219325"/>
            <a:ext cx="266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3000" b="1">
                <a:solidFill>
                  <a:srgbClr val="F9A2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9A23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9A23D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4A123F-ECF7-4771-B2A6-04646DCB2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800225"/>
            <a:ext cx="2057400" cy="1428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CE1862-3F7A-4B36-A96A-9A1E4DD97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6287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5E1B60-D515-4E6F-B979-4C1893FA9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6859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144A2B-7028-41D3-B6D9-5AACD14E7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152650"/>
            <a:ext cx="18002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Running bill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F8A504-2829-4469-A22E-FE523CE4F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667000"/>
            <a:ext cx="18002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charge appears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6D526C-96E8-43FA-BAA9-B343BD2D4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219325"/>
            <a:ext cx="266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3000" b="1">
                <a:solidFill>
                  <a:srgbClr val="F9A2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9A23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9A23D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BA2ACB-5AD7-4F3B-B302-5E9E047D7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800225"/>
            <a:ext cx="2057400" cy="1428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05C5E3-95F1-4A16-9AF3-0649DD6A2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16287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E8B84E-8170-4D42-8CA6-0F158E4EB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16859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47C4EC-2D39-4A7D-BA0B-CB5742896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152650"/>
            <a:ext cx="18002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Invoice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740033-6CF9-4C08-9FA5-834ECB14D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667000"/>
            <a:ext cx="18002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lines frozen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FBA5B3-F55A-404E-861A-BB5F3CE87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219325"/>
            <a:ext cx="266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3000" b="1">
                <a:solidFill>
                  <a:srgbClr val="F9A2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9A23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9A23D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E082AA-A877-40CE-885A-CCC43B037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800225"/>
            <a:ext cx="2057400" cy="1428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115BC0B-ED42-4924-90DD-14FB54A74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8975" y="16287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B66EB3-2261-4D84-BB47-CB88733E1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8975" y="16859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24F350E-A91D-477E-BF9D-0030098EC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2152650"/>
            <a:ext cx="18002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Receipt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B599EB-C208-4831-8F5F-FEAF8B962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2667000"/>
            <a:ext cx="18002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balance falls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CE9782-34AA-4142-9684-E07844578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933825"/>
            <a:ext cx="10668000" cy="1638300"/>
          </a:xfrm>
          <a:prstGeom xmlns:a="http://schemas.openxmlformats.org/drawingml/2006/main" prst="roundRect">
            <a:avLst>
              <a:gd name="adj" fmla="val 5814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E3B128F-9CB6-4748-9154-BA42E63D8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76675"/>
            <a:ext cx="10668000" cy="1638300"/>
          </a:xfrm>
          <a:prstGeom xmlns:a="http://schemas.openxmlformats.org/drawingml/2006/main" prst="roundRect">
            <a:avLst>
              <a:gd name="adj" fmla="val 58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16EF301-C521-4611-9923-7ECF16E82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76675"/>
            <a:ext cx="10668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E6319F9-CF5E-4976-B59A-52674A216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08622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Example event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E2E203C-23B6-40B1-9FDB-4593FFAF9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514850"/>
            <a:ext cx="10267950" cy="561975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769E821-588E-4559-AF1B-3BACEA255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4648200"/>
            <a:ext cx="9867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95574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95574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95574"/>
                </a:solidFill>
                <a:latin typeface="Consolas"/>
                <a:ea typeface="Consolas"/>
                <a:cs typeface="Consolas"/>
              </a:rPr>
              <a:t>{"source_event_id":"LAB-081", "encounter_id":"E-OPD-01", "service_code":"CBC", "quantity":1}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8BC72FA-2559-4F6B-B442-C6619F7AC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5181600"/>
            <a:ext cx="9944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An identical retry returns the saved charge. A changed retry receives HTTP 409.</a:t>
            </a:r>
          </a:p>
        </p:txBody>
      </p:sp>
    </p:spTree>
    <p:extLst>
      <p:ext uri="{BB962C8B-B14F-4D97-AF65-F5344CB8AC3E}">
        <p14:creationId xmlns:p14="http://schemas.microsoft.com/office/powerpoint/2010/main" val="144026934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D412D4D-EEC9-4118-9780-E3A2CDAB1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EF7F2D-0F40-4EF3-B6E0-0806525B5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DATA FLOW &amp; INTEGRATION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AE94E6-45C2-4854-8DCA-6511386A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OPD and IPD billing examples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46D09C-F8E5-4E7B-9584-19AC92E65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E97049-D0A2-4D98-A013-CB3B553E9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1C26BC-5847-47B1-B05D-D05B26AC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91C246-32D8-4B20-963A-E3CE8CEF4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3549A3-C116-4C3D-A7AA-59986AF44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85925"/>
            <a:ext cx="5200650" cy="3609975"/>
          </a:xfrm>
          <a:prstGeom xmlns:a="http://schemas.openxmlformats.org/drawingml/2006/main" prst="roundRect">
            <a:avLst>
              <a:gd name="adj" fmla="val 2639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BAF837-3A0B-4A4F-A1A3-B5ABD342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5200650" cy="3609975"/>
          </a:xfrm>
          <a:prstGeom xmlns:a="http://schemas.openxmlformats.org/drawingml/2006/main" prst="roundRect">
            <a:avLst>
              <a:gd name="adj" fmla="val 26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E9D911-E63F-4F34-8FC1-E12FF9C41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5200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C78C61-7CAB-49E4-88B2-F572A1D38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809750"/>
            <a:ext cx="1581150" cy="2667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E6F952-8AC5-405E-84D7-FC98F07E6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1857375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OPD SELF PAY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E3CDAC-8F42-4AFB-8F23-CEADF9BA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2669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Demo Patient 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9C03C2-672F-4CC5-9086-FD4A36213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362325"/>
            <a:ext cx="4743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53F832-DDC3-43A9-8B99-54304FBB7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914650"/>
            <a:ext cx="3124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Consultation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2ABF02-C645-414F-AE2D-D862297C2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914650"/>
            <a:ext cx="11144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Rs 500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18510-88A8-4F72-949C-130F09C94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038600"/>
            <a:ext cx="4743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EDBE14-21A9-40E0-94E8-C7F5766BA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590925"/>
            <a:ext cx="3124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Complete blood count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3DB545-0E49-4CED-87D2-1CC324931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590925"/>
            <a:ext cx="11144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Rs 350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49FF85-D92F-4234-8A31-E3095A4F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4196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Running total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F198F0-A1CF-4A26-A022-7C49C9CA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4419600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2100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2100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Rs 850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3DCBC3-AC07-484A-83DF-DFD6C899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85925"/>
            <a:ext cx="5200650" cy="3609975"/>
          </a:xfrm>
          <a:prstGeom xmlns:a="http://schemas.openxmlformats.org/drawingml/2006/main" prst="roundRect">
            <a:avLst>
              <a:gd name="adj" fmla="val 2639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A806D5-F783-4049-AEBE-DFB0573EF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628775"/>
            <a:ext cx="5200650" cy="3609975"/>
          </a:xfrm>
          <a:prstGeom xmlns:a="http://schemas.openxmlformats.org/drawingml/2006/main" prst="roundRect">
            <a:avLst>
              <a:gd name="adj" fmla="val 26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EEA723-844E-48BF-B4B0-B5092692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628775"/>
            <a:ext cx="5200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2C7FE1-5754-4835-B0AD-CDA5C27A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09750"/>
            <a:ext cx="1809750" cy="2667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3F1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4D8547-84DA-47C9-8769-AE17E41A4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57375"/>
            <a:ext cx="1657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47FA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47FA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47FA8"/>
                </a:solidFill>
                <a:latin typeface="Arial"/>
                <a:ea typeface="Arial"/>
                <a:cs typeface="Arial"/>
              </a:rPr>
              <a:t>IPD PRIVATE TPA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40E1AC-53D1-466C-8AEB-B20D06B3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2669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Demo Patient B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030B88-DCE1-487B-BFEE-74C837144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362325"/>
            <a:ext cx="4743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8E97B8-3E9D-4F1A-9839-43EAD551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914650"/>
            <a:ext cx="31623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General ward, 2 days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2E4862-9FFB-48BB-A6F2-7CF7CB006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2914650"/>
            <a:ext cx="1238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Rs 4,600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0CAC75-C9F3-4AE9-98CA-76D706CF0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038600"/>
            <a:ext cx="4743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BBC11F-6DB6-4635-82AF-7E9B36CB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590925"/>
            <a:ext cx="31623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Procedure example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DB8E8D-FEBF-49B0-BA74-F9463A464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3590925"/>
            <a:ext cx="1238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Rs 8,500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FBE677-958F-4657-9F1E-87C348FA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4196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Running total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C7D4F8A-1655-40D7-8526-559D2522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196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2100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2100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Rs 13,100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0284EB-71E1-410A-A289-15C1B2F56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438775"/>
            <a:ext cx="1072515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03A0057-FD02-4756-B44C-8CEE5783C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534025"/>
            <a:ext cx="104108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75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394E"/>
                </a:solidFill>
                <a:latin typeface="Arial"/>
                <a:ea typeface="Arial"/>
                <a:cs typeface="Arial"/>
              </a:rPr>
              <a:t>These are invented demonstration tariffs. They are not hospital, TPA or scheme rate schedules.</a:t>
            </a:r>
          </a:p>
        </p:txBody>
      </p:sp>
    </p:spTree>
    <p:extLst>
      <p:ext uri="{BB962C8B-B14F-4D97-AF65-F5344CB8AC3E}">
        <p14:creationId xmlns:p14="http://schemas.microsoft.com/office/powerpoint/2010/main" val="82455239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45AD8F-030B-443A-9574-D969EEFB6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E8BD36-2073-46E2-9DE4-5A9BF0324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DATA FLOW &amp; INTEGRATION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97C22D-D4FB-4B7A-9809-2FCAB42EA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Private insurance and PM-JAY data 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1CF776-E877-4F51-A823-6AC111B05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968DD0-A495-4C7D-A254-2A270501E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26BD4E-58CD-4B5C-A1CC-4BA8CC84B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8D338-7F2B-4470-A20A-77F8BD2E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3975F2-BCC2-439D-AC33-596F7D577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04975"/>
            <a:ext cx="10734675" cy="1057275"/>
          </a:xfrm>
          <a:prstGeom xmlns:a="http://schemas.openxmlformats.org/drawingml/2006/main" prst="roundRect">
            <a:avLst>
              <a:gd name="adj" fmla="val 9009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3B52C4-6163-4D70-9532-B18A53986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47825"/>
            <a:ext cx="10734675" cy="1057275"/>
          </a:xfrm>
          <a:prstGeom xmlns:a="http://schemas.openxmlformats.org/drawingml/2006/main" prst="roundRect">
            <a:avLst>
              <a:gd name="adj" fmla="val 90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A1B3CB-008E-4387-9969-EC9874284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47825"/>
            <a:ext cx="107346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27E05E-5967-44C7-880D-97E6473C0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097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77E77E-80A5-4F57-8088-C99E09769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669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39B07A-DD05-486A-8673-B21752DE0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943100"/>
            <a:ext cx="2857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Private TPA case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959815-9AA3-4CC7-8FA2-FB47C2407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885950"/>
            <a:ext cx="666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Coverage → preauth decision → invoice → claim decision → insurer receipt.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116089-34EE-4E16-9803-3CCD8E78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19425"/>
            <a:ext cx="10734675" cy="1057275"/>
          </a:xfrm>
          <a:prstGeom xmlns:a="http://schemas.openxmlformats.org/drawingml/2006/main" prst="roundRect">
            <a:avLst>
              <a:gd name="adj" fmla="val 9009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401974-30AD-49D8-B0A2-10DF76EE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962275"/>
            <a:ext cx="10734675" cy="1057275"/>
          </a:xfrm>
          <a:prstGeom xmlns:a="http://schemas.openxmlformats.org/drawingml/2006/main" prst="roundRect">
            <a:avLst>
              <a:gd name="adj" fmla="val 90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615630-9C06-414C-A92C-62A37239C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962275"/>
            <a:ext cx="107346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1336A4-A09A-453E-9D62-A183F3F8A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242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7C7EBC-B78B-44BB-9CD7-44F50ACD4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813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A4E374-3C33-43E4-AED6-F081FC22A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257550"/>
            <a:ext cx="2857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PM-JAY case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3CCF37-0629-4FDD-BB61-54B0F8AC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200400"/>
            <a:ext cx="666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Simulated beneficiary check → package → preauth → invoice → scheme claim.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B7DEE0-41DB-49B5-AEE6-D8C358F0E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33875"/>
            <a:ext cx="10734675" cy="1057275"/>
          </a:xfrm>
          <a:prstGeom xmlns:a="http://schemas.openxmlformats.org/drawingml/2006/main" prst="roundRect">
            <a:avLst>
              <a:gd name="adj" fmla="val 9009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BFD134-5061-4518-B1C2-7D40BB723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276725"/>
            <a:ext cx="10734675" cy="1057275"/>
          </a:xfrm>
          <a:prstGeom xmlns:a="http://schemas.openxmlformats.org/drawingml/2006/main" prst="roundRect">
            <a:avLst>
              <a:gd name="adj" fmla="val 9009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661360-F0B4-48C3-ACEC-FE1BBEC1E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276725"/>
            <a:ext cx="107346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26F31C-5062-478A-994E-141C1C3B7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386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76EDCC-3440-411E-80AD-826EB54BC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958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8F65F4-848F-4514-8541-50E059D24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572000"/>
            <a:ext cx="2857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Shared rule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1BF8CF-2813-4B3C-9EBC-4CD7C77EA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514850"/>
            <a:ext cx="666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The final balance changes only when an advance is allocated or a receipt is posted.</a:t>
            </a:r>
          </a:p>
        </p:txBody>
      </p:sp>
    </p:spTree>
    <p:extLst>
      <p:ext uri="{BB962C8B-B14F-4D97-AF65-F5344CB8AC3E}">
        <p14:creationId xmlns:p14="http://schemas.microsoft.com/office/powerpoint/2010/main" val="134434391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5935FF-2999-439E-B7B1-D149DD903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948D87-1C3C-40C5-A835-C50922E1F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RESULTS &amp; PROTOTYPE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DACA0C-A234-4A6B-BC7F-7690FCCFB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Working website: overview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9B0C36-648D-4D50-B38E-B2981450D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BC37B2-D330-47A0-94CE-7B060F51D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477562-6996-4EB1-8899-B4D98702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7B83F2-A17D-4058-B8E9-E8C3E1339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1DA394-4FC5-4EA7-92B5-77DCF8A9D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600200"/>
            <a:ext cx="8077200" cy="4457700"/>
          </a:xfrm>
          <a:prstGeom xmlns:a="http://schemas.openxmlformats.org/drawingml/2006/main" prst="roundRect">
            <a:avLst>
              <a:gd name="adj" fmla="val 2137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DE32FA-7E5D-4342-A792-4E93B5149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8077200" cy="4457700"/>
          </a:xfrm>
          <a:prstGeom xmlns:a="http://schemas.openxmlformats.org/drawingml/2006/main" prst="roundRect">
            <a:avLst>
              <a:gd name="adj" fmla="val 2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E85C1D-E416-4177-A8AB-1C381BC26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8077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CC51D1-97D3-4909-9F43-C87CFE03042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7194f6b2be4a72"/>
          <a:stretch xmlns:a="http://schemas.openxmlformats.org/drawingml/2006/main"/>
        </p:blipFill>
        <p:spPr>
          <a:xfrm xmlns:a="http://schemas.openxmlformats.org/drawingml/2006/main">
            <a:off x="1086803" y="1676400"/>
            <a:ext cx="7132320" cy="421005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0492CF-136C-4D60-9700-81836084E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838325"/>
            <a:ext cx="23145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Live local stack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95F233-6DBA-4A0E-8F68-D453E033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419350"/>
            <a:ext cx="2457450" cy="4572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87BF3D-36BC-4528-87B0-E7755B7ED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543175"/>
            <a:ext cx="219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Next.js frontend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115AD1-1EEA-4345-B35E-F275548E3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028950"/>
            <a:ext cx="2457450" cy="4572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8B3CFD-A0BA-48F3-B7DA-50F98FEE8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152775"/>
            <a:ext cx="219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FastAPI backend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231C51-F52E-4B50-BD1B-A055E1E2E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638550"/>
            <a:ext cx="2457450" cy="4572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2F3C67-68E7-4122-BE3F-AE8B33F32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762375"/>
            <a:ext cx="219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PostgreSQL 16 database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158EEF-F778-4A78-BDFF-E6C4B4D84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248150"/>
            <a:ext cx="2457450" cy="4572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E201DF-6855-45DC-9D3C-2927107A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371975"/>
            <a:ext cx="219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Synthetic worklist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756B18-ABF2-42F0-9303-2F2D15D95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857750"/>
            <a:ext cx="2457450" cy="4572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893779-3EA2-4553-BCAB-A4D9C7283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981575"/>
            <a:ext cx="219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Open and settled invoices</a:t>
            </a:r>
          </a:p>
        </p:txBody>
      </p:sp>
    </p:spTree>
    <p:extLst>
      <p:ext uri="{BB962C8B-B14F-4D97-AF65-F5344CB8AC3E}">
        <p14:creationId xmlns:p14="http://schemas.microsoft.com/office/powerpoint/2010/main" val="2205740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F1DC64-110F-4EE7-880F-F60F1696A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490FDA-307D-4D71-8B20-39073911C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RESULTS &amp; PROTOTYPE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FEF696-0110-45C4-B555-44C34DAF8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Billing screens used in the live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49103D-52EE-423A-93C7-51288ABB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290391-661A-4C2D-BF25-0067AAD8F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5D2AD3-D931-4E5B-9522-C958A8C32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6402B8-48BB-4A4F-9D3F-8C7EC3149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BB24C8-288D-45E0-8682-E4E2EB1E8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28775"/>
            <a:ext cx="5219700" cy="3829050"/>
          </a:xfrm>
          <a:prstGeom xmlns:a="http://schemas.openxmlformats.org/drawingml/2006/main" prst="roundRect">
            <a:avLst>
              <a:gd name="adj" fmla="val 2488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89A378-02A5-4016-B763-4CA07FBB8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571625"/>
            <a:ext cx="5219700" cy="3829050"/>
          </a:xfrm>
          <a:prstGeom xmlns:a="http://schemas.openxmlformats.org/drawingml/2006/main" prst="roundRect">
            <a:avLst>
              <a:gd name="adj" fmla="val 24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B9CBE5-67ED-48BE-B3F3-1E64850B4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571625"/>
            <a:ext cx="521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54E385-EBF3-4B20-A1E5-EE7D634D2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628775"/>
            <a:ext cx="5219700" cy="3829050"/>
          </a:xfrm>
          <a:prstGeom xmlns:a="http://schemas.openxmlformats.org/drawingml/2006/main" prst="roundRect">
            <a:avLst>
              <a:gd name="adj" fmla="val 2488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BF480D-B456-4F22-81BA-666C43AD4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571625"/>
            <a:ext cx="5219700" cy="3829050"/>
          </a:xfrm>
          <a:prstGeom xmlns:a="http://schemas.openxmlformats.org/drawingml/2006/main" prst="roundRect">
            <a:avLst>
              <a:gd name="adj" fmla="val 24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D29C6E-64B2-4244-BB25-24985D4FB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571625"/>
            <a:ext cx="521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8E0DB2-5704-46C6-9A81-9A43B3FD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52600"/>
            <a:ext cx="4781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Encounter and running bill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565183-027D-4BB6-BEAB-73632A7F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752600"/>
            <a:ext cx="47910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Pharmacy and batch stock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3D1B92-A253-4697-AF91-8F23BEEAB2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008ac8e23c489f"/>
          <a:stretch xmlns:a="http://schemas.openxmlformats.org/drawingml/2006/main"/>
        </p:blipFill>
        <p:spPr>
          <a:xfrm xmlns:a="http://schemas.openxmlformats.org/drawingml/2006/main">
            <a:off x="781050" y="2175867"/>
            <a:ext cx="4972050" cy="2934891"/>
          </a:xfrm>
          <a:prstGeom xmlns:a="http://schemas.openxmlformats.org/drawingml/2006/main" prst="rect">
            <a:avLst/>
          </a:prstGeom>
        </p:spPr>
      </p:pic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2FD9F3-8115-4B88-8B45-E95985834D0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7e01ee4f6c4530"/>
          <a:stretch xmlns:a="http://schemas.openxmlformats.org/drawingml/2006/main"/>
        </p:blipFill>
        <p:spPr>
          <a:xfrm xmlns:a="http://schemas.openxmlformats.org/drawingml/2006/main">
            <a:off x="6429375" y="2175867"/>
            <a:ext cx="4972050" cy="2934891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AA6FEB-C0D1-4836-A64A-BB2489BC2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72125"/>
            <a:ext cx="106013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394E"/>
                </a:solidFill>
                <a:latin typeface="Arial"/>
                <a:ea typeface="Arial"/>
                <a:cs typeface="Arial"/>
              </a:rPr>
              <a:t>The site also includes claims, tax review, receivables, reports, rate cards and audit history.</a:t>
            </a:r>
          </a:p>
        </p:txBody>
      </p:sp>
    </p:spTree>
    <p:extLst>
      <p:ext uri="{BB962C8B-B14F-4D97-AF65-F5344CB8AC3E}">
        <p14:creationId xmlns:p14="http://schemas.microsoft.com/office/powerpoint/2010/main" val="178121714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55C900E-3305-44A5-AD18-7475667B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E8FE1E-E383-463D-88C6-F4470785B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RESULTS &amp; PROTOTYPE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118946-E8AA-4589-8C7A-C920AD86B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Observed results and current limits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CCFA52-8491-4F2F-8140-B5A89F2A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583E8E-B78D-4CB7-9C34-AD6E0BC89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1C239C-BCBD-4357-918C-ABA063FAC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4CEC3B-FFFE-401F-B95C-0AE6BC58D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9CAA57-D73F-4548-9102-FE0117756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5172075" cy="4076700"/>
          </a:xfrm>
          <a:prstGeom xmlns:a="http://schemas.openxmlformats.org/drawingml/2006/main" prst="roundRect">
            <a:avLst>
              <a:gd name="adj" fmla="val 2336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960B97-B169-4AF2-8980-DA4996B78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609725"/>
            <a:ext cx="5172075" cy="4076700"/>
          </a:xfrm>
          <a:prstGeom xmlns:a="http://schemas.openxmlformats.org/drawingml/2006/main" prst="roundRect">
            <a:avLst>
              <a:gd name="adj" fmla="val 23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82CF16-2344-4E4E-AD82-F06406E7D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609725"/>
            <a:ext cx="51720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DD6C74-2CE3-42C6-87ED-B6EFB56F9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828800"/>
            <a:ext cx="4695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Verified locally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C4F395-0F64-4DD5-8628-408429DE5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47925"/>
            <a:ext cx="247650" cy="24765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E82F5B-87B7-4B31-8EBA-B9C2D5F29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48602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50"/>
          </a:bodyPr>
          <a:lstStyle xmlns:a="http://schemas.openxmlformats.org/drawingml/2006/main">
            <a:defPPr algn="ctr">
              <a:defRPr sz="1200" b="1">
                <a:solidFill>
                  <a:srgbClr val="289A8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289A8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89A86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19C55C-BA3F-4BFF-A86F-6DBE2A35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457450"/>
            <a:ext cx="4257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API scenarios passed against PostgreSQL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651A91-F76E-49A7-81A3-4E447DC6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33700"/>
            <a:ext cx="247650" cy="24765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09CB3-6A47-4BC5-BECA-F1FF2F95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971800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50"/>
          </a:bodyPr>
          <a:lstStyle xmlns:a="http://schemas.openxmlformats.org/drawingml/2006/main">
            <a:defPPr algn="ctr">
              <a:defRPr sz="1200" b="1">
                <a:solidFill>
                  <a:srgbClr val="289A8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289A8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89A86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B15CBF-59E0-48D8-A8DB-5ED4BFB97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943225"/>
            <a:ext cx="4257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Next.js production build completed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8B0F7A-33B1-4B18-8568-F93766851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19475"/>
            <a:ext cx="247650" cy="24765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95FA51-C71C-4144-A10D-724FA487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45757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50"/>
          </a:bodyPr>
          <a:lstStyle xmlns:a="http://schemas.openxmlformats.org/drawingml/2006/main">
            <a:defPPr algn="ctr">
              <a:defRPr sz="1200" b="1">
                <a:solidFill>
                  <a:srgbClr val="289A8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289A8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89A86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967B86-704E-4826-A241-7AE46D83A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429000"/>
            <a:ext cx="4257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Browser clicks created a case and final invoice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F5B5FF-2B76-4A88-8CB9-99EC39898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05250"/>
            <a:ext cx="247650" cy="24765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D1F1A2-208F-4F2F-91E4-6D7E41E2D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943350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50"/>
          </a:bodyPr>
          <a:lstStyle xmlns:a="http://schemas.openxmlformats.org/drawingml/2006/main">
            <a:defPPr algn="ctr">
              <a:defRPr sz="1200" b="1">
                <a:solidFill>
                  <a:srgbClr val="289A8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289A8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89A86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2BC30B-4D61-4D39-B73F-6057F2F0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914775"/>
            <a:ext cx="4257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HIS retry stayed idempotent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4F8AB9-8907-4553-83DC-4DB360598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91025"/>
            <a:ext cx="247650" cy="24765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21421C-BAA7-47CF-AB1C-1C57407E8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42912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50"/>
          </a:bodyPr>
          <a:lstStyle xmlns:a="http://schemas.openxmlformats.org/drawingml/2006/main">
            <a:defPPr algn="ctr">
              <a:defRPr sz="1200" b="1">
                <a:solidFill>
                  <a:srgbClr val="289A8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289A8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89A86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96B2B7-1350-4B23-95CE-1BBBEB7C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4400550"/>
            <a:ext cx="4257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PM-JAY patient receipt was blocked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700B90-4754-48F3-8455-B7900ADB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76800"/>
            <a:ext cx="247650" cy="24765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6A00E8-651E-451C-9812-EDEAEC714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914900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50"/>
          </a:bodyPr>
          <a:lstStyle xmlns:a="http://schemas.openxmlformats.org/drawingml/2006/main">
            <a:defPPr algn="ctr">
              <a:defRPr sz="1200" b="1">
                <a:solidFill>
                  <a:srgbClr val="289A8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289A8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89A86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E7BE02-D5ED-4D06-9767-95A41B5DF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4886325"/>
            <a:ext cx="4257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Stock, package, room and refund checks passed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E74E39-5D9D-42F8-AA7F-7B6475626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1666875"/>
            <a:ext cx="5172075" cy="4076700"/>
          </a:xfrm>
          <a:prstGeom xmlns:a="http://schemas.openxmlformats.org/drawingml/2006/main" prst="roundRect">
            <a:avLst>
              <a:gd name="adj" fmla="val 2336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F88C29-A5C6-48C1-893E-7887ED69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609725"/>
            <a:ext cx="5172075" cy="4076700"/>
          </a:xfrm>
          <a:prstGeom xmlns:a="http://schemas.openxmlformats.org/drawingml/2006/main" prst="roundRect">
            <a:avLst>
              <a:gd name="adj" fmla="val 23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2D68282-696C-4B45-833E-85598EC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609725"/>
            <a:ext cx="51720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3AE7F19-0C01-43F8-B443-7A91A2457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828800"/>
            <a:ext cx="4695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Still outside the demo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CD536FC-78C9-43DE-B034-97EDD187E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4669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C8AA419-7FDB-4E0C-B8DE-FBE17C5EA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5241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1C069B9-E8C7-4096-BD63-803A4BAF1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476500"/>
            <a:ext cx="4210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No live HIS or payer portal connector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E737205-B7D6-44BE-93DB-87F7BD981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048000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33F61C6-D77F-4F48-B4C2-1DEE5F071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05150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56C2BAA-10C8-466F-AA9E-A031D1F68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057525"/>
            <a:ext cx="4210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No actual beneficiary or policy verification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FC1EE76-7FFC-4346-AA08-301361ED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6290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2E2A3F5-A0F6-4DEB-8B29-3516172D8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6861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1034695-F2C1-4959-805B-A4153473F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638550"/>
            <a:ext cx="4210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No statutory GSTR-1 upload JSON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27D595E-3F25-4367-B472-50458F505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10050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84F86C8-DC97-43DC-9DBF-85279334B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67200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654E3E7-82C9-4F04-8D52-9D39E7324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219575"/>
            <a:ext cx="4210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No login, access roles or encryption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44B55BE-88A3-426E-9A8E-15A75733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9107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472D56E-3973-4B0A-844C-443EC2340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84822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4947288-8281-4F47-AD4B-F6675F0FB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800600"/>
            <a:ext cx="4210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No real patient data or current price master</a:t>
            </a:r>
          </a:p>
        </p:txBody>
      </p:sp>
    </p:spTree>
    <p:extLst>
      <p:ext uri="{BB962C8B-B14F-4D97-AF65-F5344CB8AC3E}">
        <p14:creationId xmlns:p14="http://schemas.microsoft.com/office/powerpoint/2010/main" val="199321733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EB18937-114B-4A39-AD8C-22CDC4532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405B51-A95E-4A25-B80A-EA8918F2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CONCLUSION &amp; FUTURE 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74E750-872A-43C1-8267-24064322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Conclusion and next hospital sizes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02EF7D-FF91-4EFF-8DA5-59D507D15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E4FFDE-831C-42B4-8A2D-43AD767D2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9348DF-4235-4104-846E-5224CEAE2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596603-CAC7-4C99-9A0D-8B9116836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539779-CA18-443B-97E9-13CE6ABC7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10725150" cy="876300"/>
          </a:xfrm>
          <a:prstGeom xmlns:a="http://schemas.openxmlformats.org/drawingml/2006/main" prst="roundRect">
            <a:avLst>
              <a:gd name="adj" fmla="val 9783"/>
            </a:avLst>
          </a:prstGeom>
          <a:solidFill xmlns:a="http://schemas.openxmlformats.org/drawingml/2006/main">
            <a:srgbClr val="DE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C6CBF5-25FC-4821-8CD5-7A61EA6D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1743075"/>
            <a:ext cx="10239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500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94E"/>
                </a:solidFill>
                <a:latin typeface="Arial"/>
                <a:ea typeface="Arial"/>
                <a:cs typeface="Arial"/>
              </a:rPr>
              <a:t>The prototype links a delivered service to a priced charge, a final invoice and an actual receipt. It covers the main small hospital billing routes with synthetic cases.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419D2B-FC1B-414F-A825-5EECC678C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71800"/>
            <a:ext cx="3381375" cy="2752725"/>
          </a:xfrm>
          <a:prstGeom xmlns:a="http://schemas.openxmlformats.org/drawingml/2006/main" prst="roundRect">
            <a:avLst>
              <a:gd name="adj" fmla="val 3460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BE6368-D534-472D-ADA8-79AED5EE8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914650"/>
            <a:ext cx="3381375" cy="2752725"/>
          </a:xfrm>
          <a:prstGeom xmlns:a="http://schemas.openxmlformats.org/drawingml/2006/main" prst="roundRect">
            <a:avLst>
              <a:gd name="adj" fmla="val 34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C93380-AF08-42E4-96F4-1323B2DA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914650"/>
            <a:ext cx="33813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ED2D47-EF36-47C8-B0CD-C37143F6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1337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5653F5-D6F8-4F4D-9FD8-701935CB1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1908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4B6525-9C48-49C9-8B3C-0F6FB2C68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09975"/>
            <a:ext cx="29241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Mid-sized hospital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DE5116-9769-4B57-89DF-7FAF81053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05300"/>
            <a:ext cx="292417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More specialities and TPAs, corporate contracts, department controls, larger charge master.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563F4E-53C2-4A25-8A46-259A0F94A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71800"/>
            <a:ext cx="3381375" cy="2752725"/>
          </a:xfrm>
          <a:prstGeom xmlns:a="http://schemas.openxmlformats.org/drawingml/2006/main" prst="roundRect">
            <a:avLst>
              <a:gd name="adj" fmla="val 3460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91FA6A-A902-4DDA-8E0D-AF86BF2F2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914650"/>
            <a:ext cx="3381375" cy="2752725"/>
          </a:xfrm>
          <a:prstGeom xmlns:a="http://schemas.openxmlformats.org/drawingml/2006/main" prst="roundRect">
            <a:avLst>
              <a:gd name="adj" fmla="val 34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166DCC-7BB9-4B5B-8FB6-6A2209ED5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914650"/>
            <a:ext cx="33813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DDE759-E340-4AA7-BFFB-8B6A0431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1337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34D0B0-6ECF-4355-BA8D-01533262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1908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D828E4-1352-4B01-A6BB-79E43EA1B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09975"/>
            <a:ext cx="29241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Large hospital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1134F8-07F0-4FE0-8E31-FBF388BD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05300"/>
            <a:ext cx="292417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Multi-site billing, multiple GST registrations, higher concurrency, enterprise analytics.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CCC495-40C1-439F-A8CC-4AC3A9EB1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971800"/>
            <a:ext cx="3381375" cy="2752725"/>
          </a:xfrm>
          <a:prstGeom xmlns:a="http://schemas.openxmlformats.org/drawingml/2006/main" prst="roundRect">
            <a:avLst>
              <a:gd name="adj" fmla="val 3460"/>
            </a:avLst>
          </a:prstGeom>
          <a:solidFill xmlns:a="http://schemas.openxmlformats.org/drawingml/2006/main">
            <a:srgbClr val="E2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E8D461-8787-43C3-84F8-3B7B9B385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914650"/>
            <a:ext cx="3381375" cy="2752725"/>
          </a:xfrm>
          <a:prstGeom xmlns:a="http://schemas.openxmlformats.org/drawingml/2006/main" prst="roundRect">
            <a:avLst>
              <a:gd name="adj" fmla="val 34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1B54B1-D7C8-4979-A5E8-9E1104740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914650"/>
            <a:ext cx="338137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687FFB-280B-4CFC-BF06-D6B8931C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133725"/>
            <a:ext cx="3524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9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A33807-FD8B-42C5-AAA6-E669D810C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190875"/>
            <a:ext cx="352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0391CC-2880-4602-B029-566EACD89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609975"/>
            <a:ext cx="29241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Before live use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A49757-9864-4CB0-9B46-C5889949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05300"/>
            <a:ext cx="292417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Approved HIS and payer connectors, roles, privacy controls, backups and validated tariffs.</a:t>
            </a:r>
          </a:p>
        </p:txBody>
      </p:sp>
    </p:spTree>
    <p:extLst>
      <p:ext uri="{BB962C8B-B14F-4D97-AF65-F5344CB8AC3E}">
        <p14:creationId xmlns:p14="http://schemas.microsoft.com/office/powerpoint/2010/main" val="66813170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BFE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1A88942-DD67-4334-A9E2-4B8CA38CC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014494-352F-44F5-9CB6-0D89324DA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90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087B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87B8A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A8A392-0C0D-45AB-B9D3-861E52B7F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7394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394E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43351D-C568-4295-AE23-C689FBC0C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BBF4A5-FBAC-482E-8075-D2F8E62EE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F341D1-47E3-4600-9E45-E65DE76A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389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DH 308  |  Hospital billing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C40BEA-C65E-4C0F-8B4A-BEE49E0ED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38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67F8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F8C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D23E52-0822-4739-9925-C479A647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10668000" cy="533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7C172-2429-486B-A884-ABCC62474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1914525" cy="533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CEECE0-666D-4295-AAC5-920A71CDC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1724025"/>
            <a:ext cx="16097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Course material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49274F-8082-4D35-817E-3DB66D86B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704975"/>
            <a:ext cx="828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DH 308 ER modelling, HIS, HL7 and ABDM lecture slides supplied with the assignment.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7ECC7E-A33A-4A7A-8B41-5F15A39B8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9800"/>
            <a:ext cx="10668000" cy="533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C6BFC-9B84-496B-8D0D-2B0D452FA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9800"/>
            <a:ext cx="1914525" cy="533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52E611-C7D5-4C07-BDDF-75B768324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343150"/>
            <a:ext cx="16097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IRDAI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B7142-CB20-426C-B1BE-92F5B556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324100"/>
            <a:ext cx="828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Health insurance guidance: irdai.gov.in/health-dept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0DCB0C-E921-48B2-AA16-DE070AE8D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28925"/>
            <a:ext cx="10668000" cy="533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23938C-62A4-4F2A-8F0B-5B2B50FF1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28925"/>
            <a:ext cx="1914525" cy="533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29171A-F74F-4293-A3A6-E67F9900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962275"/>
            <a:ext cx="16097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NHA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280FDF-1C9E-4958-88AA-9C4C2685F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943225"/>
            <a:ext cx="828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AB PM-JAY operations and Health Benefit Package manuals: nha.gov.in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B77765-A716-4C8B-A1C7-530D7F48F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48050"/>
            <a:ext cx="10668000" cy="533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327282-64D8-4381-9D95-5CCCF1CD7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48050"/>
            <a:ext cx="1914525" cy="533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F1491A-7458-41B6-A556-85E335A3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3581400"/>
            <a:ext cx="16097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CBIC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D09CA4-C50E-4D46-93AB-C6129E67B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562350"/>
            <a:ext cx="828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GST goods and services rate table, including entry 31A: cbic-gst.gov.in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E89414-1656-4E5C-B1D9-8442AFFB5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67175"/>
            <a:ext cx="10668000" cy="533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01E86D-AD79-461C-BA3D-C4D79CEE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67175"/>
            <a:ext cx="1914525" cy="533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24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B312F0-E297-428A-A269-B5FBB83B8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4200525"/>
            <a:ext cx="16097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GST portal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009A2B-788B-40EA-80B2-9342161A7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181475"/>
            <a:ext cx="828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GSTR-1 user guide: tutorial.gst.gov.in/userguide/returns/GSTR_1.htm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C933F4-23EC-48C2-A202-832E94616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10668000" cy="533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1F9F8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748611-4E6C-4737-AB09-597FD560F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1914525" cy="533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95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8F2E19-8B69-4D2B-9BFE-CE7131107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4819650"/>
            <a:ext cx="16097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NRCeS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811EC4-006E-4E99-BAED-676AB0DCB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00600"/>
            <a:ext cx="828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ABDM FHIR R4 implementation guide: nrces.in/ndhm/fhir/r4/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8A9A1C-014F-4EC5-A44C-20DB4593C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05425"/>
            <a:ext cx="10668000" cy="533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1E5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3DF6859-6EDF-458E-B00F-F463A47D7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05425"/>
            <a:ext cx="1914525" cy="533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6AD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6CA7E1F-A8CD-42D6-B70D-197E40C28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5438775"/>
            <a:ext cx="16097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Mermaid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83705B6-327C-4CFB-A037-56752993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419725"/>
            <a:ext cx="828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C455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4552"/>
                </a:solidFill>
                <a:latin typeface="Arial"/>
                <a:ea typeface="Arial"/>
                <a:cs typeface="Arial"/>
              </a:rPr>
              <a:t>Flowchart syntax used to render Chen-style ER diagrams: mermaid.js.org/syntax/flowchart.html</a:t>
            </a:r>
          </a:p>
        </p:txBody>
      </p:sp>
    </p:spTree>
    <p:extLst>
      <p:ext uri="{BB962C8B-B14F-4D97-AF65-F5344CB8AC3E}">
        <p14:creationId xmlns:p14="http://schemas.microsoft.com/office/powerpoint/2010/main" val="13367278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2026-10-05T05:15:32.5900000Z</dcterms:created>
  <dcterms:modified xsi:type="dcterms:W3CDTF">2026-10-05T05:15:32.5900000Z</dcterms:modified>
</coreProperties>
</file>