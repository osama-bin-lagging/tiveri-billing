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5145efbaddf443b0" /><ns0:Relationship Type="http://schemas.openxmlformats.org/officeDocument/2006/relationships/extended-properties" Target="/docProps/app.xml" Id="R6fcb638f3ac0466e" /><ns0:Relationship Type="http://schemas.openxmlformats.org/officeDocument/2006/relationships/officeDocument" Target="/ppt/presentation.xml" Id="R8172c9635f20415a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a73690aabc104688"/>
  </ns0:sldMasterIdLst>
  <ns0:sldIdLst>
    <ns0:sldId id="256" ns1:id="R4a298e2cb0a2418f"/>
    <ns0:sldId id="257" ns1:id="R1dd2449260a74b0e"/>
    <ns0:sldId id="258" ns1:id="Ra096bd7518bd4a8f"/>
    <ns0:sldId id="259" ns1:id="R32c92928552440d1"/>
    <ns0:sldId id="260" ns1:id="R72a4604098014089"/>
    <ns0:sldId id="261" ns1:id="Rad1bf5109e4d4a9b"/>
    <ns0:sldId id="262" ns1:id="R07c57598c6b74c9d"/>
    <ns0:sldId id="263" ns1:id="R687ca762e6384536"/>
    <ns0:sldId id="264" ns1:id="Rb0ece75d4b944662"/>
    <ns0:sldId id="265" ns1:id="R586bd5c00ca546a9"/>
    <ns0:sldId id="266" ns1:id="Ref4071542b4a4134"/>
    <ns0:sldId id="267" ns1:id="R3f37326067394c42"/>
    <ns0:sldId id="268" ns1:id="R0e6de8ed09ba4edf"/>
    <ns0:sldId id="269" ns1:id="R49b598ee1eae4756"/>
    <ns0:sldId id="270" ns1:id="R2b5fdd2fbc6f4e5e"/>
    <ns0:sldId id="271" ns1:id="Rd045783a2083418d"/>
    <ns0:sldId id="272" ns1:id="R4bcfde321cf745dc"/>
    <ns0:sldId id="273" ns1:id="R825b3952de1a4260"/>
    <ns0:sldId id="274" ns1:id="R34331fcbf0b34c70"/>
    <ns0:sldId id="275" ns1:id="Rf5a3f66dfb0f4fab"/>
    <ns0:sldId id="276" ns1:id="R548b276076974267"/>
    <ns0:sldId id="277" ns1:id="R2f119873db9c4f7a"/>
    <ns0:sldId id="278" ns1:id="R03d955d244474058"/>
    <ns0:sldId id="279" ns1:id="Re0cf14435340464c"/>
    <ns0:sldId id="280" ns1:id="R57670b2203fd4bc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c96b7cd95b842a7" /><ns0:Relationship Type="http://schemas.openxmlformats.org/officeDocument/2006/relationships/slideMaster" Target="/ppt/slideMasters/slideMaster1.xml" Id="Ra73690aabc104688" /><ns0:Relationship Type="http://schemas.openxmlformats.org/officeDocument/2006/relationships/presProps" Target="/ppt/presProps.xml" Id="R548a521572c94422" /><ns0:Relationship Type="http://schemas.openxmlformats.org/officeDocument/2006/relationships/tableStyles" Target="/ppt/tableStyles.xml" Id="R2129e13a20614b74" /><ns0:Relationship Type="http://schemas.openxmlformats.org/officeDocument/2006/relationships/slide" Target="/ppt/slides/slide1.xml" Id="R4a298e2cb0a2418f" /><ns0:Relationship Type="http://schemas.openxmlformats.org/officeDocument/2006/relationships/slide" Target="/ppt/slides/slide2.xml" Id="R1dd2449260a74b0e" /><ns0:Relationship Type="http://schemas.openxmlformats.org/officeDocument/2006/relationships/slide" Target="/ppt/slides/slide3.xml" Id="Ra096bd7518bd4a8f" /><ns0:Relationship Type="http://schemas.openxmlformats.org/officeDocument/2006/relationships/slide" Target="/ppt/slides/slide4.xml" Id="R32c92928552440d1" /><ns0:Relationship Type="http://schemas.openxmlformats.org/officeDocument/2006/relationships/slide" Target="/ppt/slides/slide5.xml" Id="R72a4604098014089" /><ns0:Relationship Type="http://schemas.openxmlformats.org/officeDocument/2006/relationships/slide" Target="/ppt/slides/slide6.xml" Id="Rad1bf5109e4d4a9b" /><ns0:Relationship Type="http://schemas.openxmlformats.org/officeDocument/2006/relationships/slide" Target="/ppt/slides/slide7.xml" Id="R07c57598c6b74c9d" /><ns0:Relationship Type="http://schemas.openxmlformats.org/officeDocument/2006/relationships/slide" Target="/ppt/slides/slide8.xml" Id="R687ca762e6384536" /><ns0:Relationship Type="http://schemas.openxmlformats.org/officeDocument/2006/relationships/slide" Target="/ppt/slides/slide9.xml" Id="Rb0ece75d4b944662" /><ns0:Relationship Type="http://schemas.openxmlformats.org/officeDocument/2006/relationships/slide" Target="/ppt/slides/slide10.xml" Id="R586bd5c00ca546a9" /><ns0:Relationship Type="http://schemas.openxmlformats.org/officeDocument/2006/relationships/slide" Target="/ppt/slides/slide11.xml" Id="Ref4071542b4a4134" /><ns0:Relationship Type="http://schemas.openxmlformats.org/officeDocument/2006/relationships/slide" Target="/ppt/slides/slide12.xml" Id="R3f37326067394c42" /><ns0:Relationship Type="http://schemas.openxmlformats.org/officeDocument/2006/relationships/slide" Target="/ppt/slides/slide13.xml" Id="R0e6de8ed09ba4edf" /><ns0:Relationship Type="http://schemas.openxmlformats.org/officeDocument/2006/relationships/slide" Target="/ppt/slides/slide14.xml" Id="R49b598ee1eae4756" /><ns0:Relationship Type="http://schemas.openxmlformats.org/officeDocument/2006/relationships/slide" Target="/ppt/slides/slide15.xml" Id="R2b5fdd2fbc6f4e5e" /><ns0:Relationship Type="http://schemas.openxmlformats.org/officeDocument/2006/relationships/slide" Target="/ppt/slides/slide16.xml" Id="Rd045783a2083418d" /><ns0:Relationship Type="http://schemas.openxmlformats.org/officeDocument/2006/relationships/slide" Target="/ppt/slides/slide17.xml" Id="R4bcfde321cf745dc" /><ns0:Relationship Type="http://schemas.openxmlformats.org/officeDocument/2006/relationships/slide" Target="/ppt/slides/slide18.xml" Id="R825b3952de1a4260" /><ns0:Relationship Type="http://schemas.openxmlformats.org/officeDocument/2006/relationships/slide" Target="/ppt/slides/slide19.xml" Id="R34331fcbf0b34c70" /><ns0:Relationship Type="http://schemas.openxmlformats.org/officeDocument/2006/relationships/slide" Target="/ppt/slides/slide20.xml" Id="Rf5a3f66dfb0f4fab" /><ns0:Relationship Type="http://schemas.openxmlformats.org/officeDocument/2006/relationships/slide" Target="/ppt/slides/slide21.xml" Id="R548b276076974267" /><ns0:Relationship Type="http://schemas.openxmlformats.org/officeDocument/2006/relationships/slide" Target="/ppt/slides/slide22.xml" Id="R2f119873db9c4f7a" /><ns0:Relationship Type="http://schemas.openxmlformats.org/officeDocument/2006/relationships/slide" Target="/ppt/slides/slide23.xml" Id="R03d955d244474058" /><ns0:Relationship Type="http://schemas.openxmlformats.org/officeDocument/2006/relationships/slide" Target="/ppt/slides/slide24.xml" Id="Re0cf14435340464c" /><ns0:Relationship Type="http://schemas.openxmlformats.org/officeDocument/2006/relationships/slide" Target="/ppt/slides/slide25.xml" Id="R57670b2203fd4bc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5124ee427b0a4b1d" /></ns0:Relationships>
</file>

<file path=ppt/slideLayouts/_rels/slideLayout2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2718e734a77438f" /></ns0:Relationships>
</file>

<file path=ppt/slideLayouts/_rels/slideLayout3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28ea1ea339d44adc" /></ns0:Relationships>
</file>

<file path=ppt/slideLayouts/_rels/slideLayout4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6366ec4c250b4906" /></ns0:Relationships>
</file>

<file path=ppt/slideLayouts/_rels/slideLayout5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956ed083e9243b9" /></ns0:Relationships>
</file>

<file path=ppt/slideLayouts/_rels/slideLayout6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05400005856f45b7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12D603-0F87-4C8C-85C9-575FC8AA6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7556CC-3BBD-4308-9225-DE30FB0A5A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645399C-2892-49C3-9B43-53F28BAADD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3B29EA-53F8-4CE5-8831-F93419B849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590A4E0-557C-4A58-84B1-4572435F25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46E7EA-46A0-4907-B490-F7FCA5A22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89D37D-1F0A-43D5-8AE2-97D04F6822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EC904F-A829-45F6-8ED4-6235BC73E46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C621BF-9790-4F37-9C5D-07CCB459C4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51ACCDE-8300-46F3-80EF-CFEDE4DB4A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84330eff376f4291" /><ns0:Relationship Type="http://schemas.openxmlformats.org/officeDocument/2006/relationships/slideLayout" Target="/ppt/slideLayouts/slideLayout1.xml" Id="R7ffc133e554f4ca9" /><ns0:Relationship Type="http://schemas.openxmlformats.org/officeDocument/2006/relationships/slideLayout" Target="/ppt/slideLayouts/slideLayout2.xml" Id="R6b6f8959862a48a2" /><ns0:Relationship Type="http://schemas.openxmlformats.org/officeDocument/2006/relationships/slideLayout" Target="/ppt/slideLayouts/slideLayout3.xml" Id="Rec0720b7d1c34f01" /><ns0:Relationship Type="http://schemas.openxmlformats.org/officeDocument/2006/relationships/slideLayout" Target="/ppt/slideLayouts/slideLayout4.xml" Id="R01f3df14b8554e2d" /><ns0:Relationship Type="http://schemas.openxmlformats.org/officeDocument/2006/relationships/slideLayout" Target="/ppt/slideLayouts/slideLayout5.xml" Id="Rb1e1b9898e584074" /><ns0:Relationship Type="http://schemas.openxmlformats.org/officeDocument/2006/relationships/slideLayout" Target="/ppt/slideLayouts/slideLayout6.xml" Id="R840040697e2041fe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fc133e554f4ca9"/>
    <p:sldLayoutId xmlns:r="http://schemas.openxmlformats.org/officeDocument/2006/relationships" id="2147483650" r:id="R6b6f8959862a48a2"/>
    <p:sldLayoutId xmlns:r="http://schemas.openxmlformats.org/officeDocument/2006/relationships" id="2147483651" r:id="Rec0720b7d1c34f01"/>
    <p:sldLayoutId xmlns:r="http://schemas.openxmlformats.org/officeDocument/2006/relationships" id="2147483652" r:id="R01f3df14b8554e2d"/>
    <p:sldLayoutId xmlns:r="http://schemas.openxmlformats.org/officeDocument/2006/relationships" id="2147483653" r:id="Rb1e1b9898e584074"/>
    <p:sldLayoutId xmlns:r="http://schemas.openxmlformats.org/officeDocument/2006/relationships" id="2147483654" r:id="R840040697e2041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032284ae266485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394f4188baf446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158cda75072423f" /><ns0:Relationship Type="http://schemas.openxmlformats.org/officeDocument/2006/relationships/image" Target="/ppt/media/image.png" Id="R969da22222b144a8" /><ns0:Relationship Type="http://schemas.openxmlformats.org/officeDocument/2006/relationships/image" Target="/ppt/media/image2.png" Id="R443bfb1bc6d14bc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60d994c3d194915" /><ns0:Relationship Type="http://schemas.openxmlformats.org/officeDocument/2006/relationships/image" Target="/ppt/media/image3.png" Id="Rb7bd186cdb734464" /><ns0:Relationship Type="http://schemas.openxmlformats.org/officeDocument/2006/relationships/image" Target="/ppt/media/image4.png" Id="R4b0a43d86f5f4ee6" /><ns0:Relationship Type="http://schemas.openxmlformats.org/officeDocument/2006/relationships/image" Target="/ppt/media/image5.png" Id="R3f2bf7e097c248a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967da2f5b284a8e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7671f400d3f4a95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153a98033f24763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ba93ed1184b4459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d40b836d5a14b22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77c89bf83e0420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3ab0cc249184a6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e44d419fe994c8c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f3589fbe2544c11" /><ns0:Relationship Type="http://schemas.openxmlformats.org/officeDocument/2006/relationships/image" Target="/ppt/media/image6.png" Id="R82884f09e92e4aef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85fda761d0a4a50" /><ns0:Relationship Type="http://schemas.openxmlformats.org/officeDocument/2006/relationships/image" Target="/ppt/media/image7.png" Id="Reebeb42af1e4472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891d92c61c14f75" /><ns0:Relationship Type="http://schemas.openxmlformats.org/officeDocument/2006/relationships/image" Target="/ppt/media/image8.png" Id="R92b8c79a0c174a8d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d73bfccdb65405f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c185c639670497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241e16bcdda4ce4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ef71e8e5ecb472f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f6cd16809b4463c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0dacef743764683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dda6265d07e444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c81e1347532473d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9dde03147c9450d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62040eb77e04ea4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5BACC-C66A-4FD9-814C-064619D1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C2F31-2CC9-4338-ACAB-01FA3990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F2CB2-DC4A-4BC1-82FD-CEC80043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000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05EC3C-ED66-43D9-A106-0702738C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810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76"/>
          </a:bodyPr>
          <a:lstStyle xmlns:a="http://schemas.openxmlformats.org/drawingml/2006/main">
            <a:def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656C64-D96F-43F3-A335-627B2F52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6191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1EC84-CBE8-4F66-AF55-9589DD9D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62150"/>
            <a:ext cx="98107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Designing a hospital</a:t>
            </a:r>
          </a:p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BC6843-2A36-4D47-9D38-9990AE88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1450"/>
            <a:ext cx="9382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A prototype for Indian hospitals that connects clinical work, pharmacy and the final patient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E39B0-5C30-4C73-B0D4-A403FDCA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885825"/>
          </a:xfrm>
          <a:prstGeom xmlns:a="http://schemas.openxmlformats.org/drawingml/2006/main" prst="roundRect">
            <a:avLst>
              <a:gd name="adj" fmla="val 752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4B6517-185A-4CE7-9DFF-1AA4BFFE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91150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 note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BF72D-9B0E-46F6-A647-8CF40B9D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391150"/>
            <a:ext cx="33432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 dispense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F8D5A-4CC0-4B67-A8E7-1B73D9D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391150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Itemised invoice</a:t>
            </a:r>
          </a:p>
        </p:txBody>
      </p:sp>
    </p:spTree>
    <p:extLst>
      <p:ext uri="{BB962C8B-B14F-4D97-AF65-F5344CB8AC3E}">
        <p14:creationId xmlns:p14="http://schemas.microsoft.com/office/powerpoint/2010/main" val="15540383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760D78-7C14-4EE5-87A7-0AA1100E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5BC2F-C395-4706-8002-7A01DEC5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5D2E11-55DF-47DA-B2FB-DBCCA36C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Project scope and billing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46328-16D3-4C2F-AFF6-18FCDCD2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CF4F6-93CA-46BF-9322-AEDD8607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83E123-9A71-472D-A4D3-3DD97F62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D9E60C-8F69-4449-951B-4BE8798D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10287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billing system receives completed work from the HIS and links every charge to one encounter.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F09B4-4291-4009-BD60-BDF74022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221E5-EBD7-438D-AF61-5EA9DB9E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C6887-98B1-400E-967A-FA70874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ECB3A-D1DE-41CF-B237-414EAE57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7880FE-5BCB-42C3-A70C-02E4DD7C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records diagnosis, treatment and orders.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EECF93-ABD4-4986-B5BC-CB2AC9D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6DD7E-A7FA-41DF-BB16-BBCB691A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48EE0-D3BE-4307-801D-2B09BE4B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350A0-449F-4A84-AF55-9FF427B6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12B246-A21A-4D54-A9C7-9BB6C07A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Dispensing links product, batch, quantity and tax.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AA9FC-1850-4793-8395-2C33A6B0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A6628-5240-4726-A96B-E676AB78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72F0D8-C953-4DAA-B8A1-73F4C90E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20B068-0F3B-4BE9-893A-42F5E5A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49AC6B-320C-44BA-A7FA-5366A2AB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rate card prices each charge before final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41A06E-5843-4509-9D25-54D38CC2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10753725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BD9C33-9B41-4569-A0A7-F7D4D3E8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key: one patient encounter</a:t>
            </a:r>
          </a:p>
        </p:txBody>
      </p:sp>
    </p:spTree>
    <p:extLst>
      <p:ext uri="{BB962C8B-B14F-4D97-AF65-F5344CB8AC3E}">
        <p14:creationId xmlns:p14="http://schemas.microsoft.com/office/powerpoint/2010/main" val="106511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F6845-3AF3-4762-A325-FD5A9409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0A783-D06A-49FE-A2BB-0EA9E7B1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7E1E9-80C9-4871-99E9-3D3F51D0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OPD tests and pharmacy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1E52E-F50B-4CBF-A908-BDC92E15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C50F3-5E50-429F-9B9B-C4862C88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4CD69-EF81-4EEE-94E2-9B17057A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B787D0-F719-4823-A3B5-6DFC33FB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382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bills show a service code and amount for each test, plus separate tax fields on a pharmacy invoice.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759D7-A06B-4D00-9236-98ABEEA4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OPD diagnostics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B4E84-AABA-4D00-945D-17611548D2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da22222b144a8"/>
          <a:stretch xmlns:a="http://schemas.openxmlformats.org/drawingml/2006/main"/>
        </p:blipFill>
        <p:spPr>
          <a:xfrm xmlns:a="http://schemas.openxmlformats.org/drawingml/2006/main">
            <a:off x="1945645" y="2571750"/>
            <a:ext cx="8186410" cy="13239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0B8B5-F7B1-49EF-B2BC-72E7AEF3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CBC  ₹790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9E592-F62E-4B7B-AE92-ED03157E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00050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CRP  ₹890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9D8CE-CA5A-425D-A4BC-302A69B1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0005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Dengue NS1  ₹2,490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CF180-C164-490A-9C54-2C2414AA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E19702-514A-466E-961B-FA07686A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 GST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C5B997-345E-407C-9934-2D0E1267EB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bfb1bc6d14bcc"/>
          <a:stretch xmlns:a="http://schemas.openxmlformats.org/drawingml/2006/main"/>
        </p:blipFill>
        <p:spPr>
          <a:xfrm xmlns:a="http://schemas.openxmlformats.org/drawingml/2006/main">
            <a:off x="2331944" y="4981575"/>
            <a:ext cx="7413812" cy="762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1CA75-E513-476B-B429-B33AA2F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53100"/>
            <a:ext cx="10525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Taxable value ₹4,801.38. CGST and SGST are 2.5% each. Receipt ₹5,041.45.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0EF619-5DA1-4630-B2F9-7624B818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the supplied KIMS bill pages. Values above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16751522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F4EDF0-A929-45F0-8075-27BAB891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4FDF81-B5CB-4932-8BED-4EB7610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18CF5-F5FB-4BBA-A9F4-F48C9F2D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Apollo inpatient account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2B3FE-922B-4723-B341-3A95DEF2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65A64-51E5-4EB2-8190-8B7928F2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46C85-2F19-43CD-92B4-DD37FB56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7111C-5C9C-4A45-8E64-45A5ABD3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429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IPD account combines department charges, pharmacy lines, bed history and a separate payment receipt.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56A8C-061B-496C-8249-59AFB733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90750"/>
            <a:ext cx="6410325" cy="2219325"/>
          </a:xfrm>
          <a:prstGeom xmlns:a="http://schemas.openxmlformats.org/drawingml/2006/main" prst="roundRect">
            <a:avLst>
              <a:gd name="adj" fmla="val 2146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0FACD-5D9A-458D-A9D2-E85471F743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d186cdb734464"/>
          <a:stretch xmlns:a="http://schemas.openxmlformats.org/drawingml/2006/main"/>
        </p:blipFill>
        <p:spPr>
          <a:xfrm xmlns:a="http://schemas.openxmlformats.org/drawingml/2006/main">
            <a:off x="755423" y="2238375"/>
            <a:ext cx="6328229" cy="20764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8A5D8-4E1D-4FDB-A365-8642FCD1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958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Final payable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7CF72-38C2-4530-BE3E-232FE4EE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495800"/>
            <a:ext cx="2924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Separate receipt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98519-3F3C-42B0-A5AA-6ECEBA8ED2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0a43d86f5f4ee6"/>
          <a:stretch xmlns:a="http://schemas.openxmlformats.org/drawingml/2006/main"/>
        </p:blipFill>
        <p:spPr>
          <a:xfrm xmlns:a="http://schemas.openxmlformats.org/drawingml/2006/main">
            <a:off x="757775" y="4819650"/>
            <a:ext cx="2865950" cy="866775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16F7DB-E7F2-4773-B164-FEED5342B3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bf7e097c248a8"/>
          <a:stretch xmlns:a="http://schemas.openxmlformats.org/drawingml/2006/main"/>
        </p:blipFill>
        <p:spPr>
          <a:xfrm xmlns:a="http://schemas.openxmlformats.org/drawingml/2006/main">
            <a:off x="3924300" y="4885350"/>
            <a:ext cx="3067050" cy="735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F2100-C8C4-4EC9-B2D3-BF6CCE93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764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01   Consultation charges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88EC2A-839B-4DDC-8ECF-863E8FFF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003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₹9,500 on the account page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F4577D-E3D4-4D47-BE7E-E6907368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765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02   Emergency services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075E9-C79B-411E-97CB-F1D46B93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004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₹5,280, plus a ₹430 procedure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EDC6F-C205-44A0-B4EB-50D173C7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03   Pharmacy and bed history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05A9A7-1811-4A2A-B8CD-78CF1088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00525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Three medicine lines total ₹790.03.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5E5142-957B-4C50-9B80-E9329044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7675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Bed dates and categories appear separately.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3DC9E-8A63-4C12-AADF-85E25AFB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1911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payable and receipt remain distinct records.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37B9F-B849-40E1-8AED-F46C874E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supplied Apollo IPD bill and receipt pages. Values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7491949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3977C0-BDE8-4931-9D7E-CE41ED2E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A450D-F994-4E1A-B9C3-6F3D4505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26D7D-3250-4E72-83FB-CC7074D7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 patterns in the 19 source pages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9A6C0-3904-44DC-9311-0AE1304B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75162-39A9-4F99-A346-F52F88BB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78079-50D9-496E-AECA-D1F5C4F7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3924D-C44A-408F-A5FA-5376D19B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scans cover different visit and payment situations. Related pages are grouped below.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65765-9CBA-44BB-BFA7-DC07F81A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SOURCE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A3BD99-CC3E-4FC6-B22C-38D529EB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057400"/>
            <a:ext cx="457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READABLE 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4DD9A-8D19-46E7-B6F5-D459396D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057400"/>
            <a:ext cx="3419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REQUIREMENT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6D2A6-D368-40DB-B53D-7227C8BF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7BB6E-B7F0-4A11-A302-73297618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3365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consultations (4)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3DC12E-F903-42F6-A369-6B22E36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251460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₹650 and ₹750 consultation receipts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E97D7-6B61-4B4C-8495-B30CCED0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1460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and visit tariff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34702-136F-4570-A75D-6D5B25BA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DEE57-7907-4C71-BB78-40D0D433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1467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diagnostics (6)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2DB94-AA43-449A-9403-919E751A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9562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Pelvic scan ₹1,880; CBC, CRP and NS1 total ₹4,170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96392-4C3D-456B-B388-1341C4D8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9562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code and department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E8B56-F8E7-4647-8604-D6DB2A9A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4CBB7F-C7D8-4E66-84A6-8AAC0E5A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69570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pharmacy (2)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B2266A-6083-4A2C-81A3-30064734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67665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₹40 and ₹5,041.45 receipts; HSN, batch and split GST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AB3971-DE9B-4533-B9E0-2BBC5802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67665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and product tax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E34DA8-4290-4E63-A7A9-D8EB25D89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7B812D-E4BA-42E6-97FE-656A6C9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KIMS registration (1)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6A7ECB-200C-4E53-AA14-7BEA752E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5767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₹150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3D8C9-5B6B-4C76-9177-8F6797CF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25767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Payment record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1F10F3-D3FD-4513-91C1-6EF6A6FC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6C271A-7B9A-449A-856C-8A061F62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57750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Apollo OPD (2)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9B3736-8F52-4FEC-B211-18FD5BB2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838700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₹1,000 consultation bills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E6CF23-3B50-4F11-AFD1-7C2D61B5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838700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invoice and payment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A5E416-6760-41DC-BBFC-D822BE88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10725150" cy="51435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FE09EE-6B2F-4D96-8004-966FD0EC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38775"/>
            <a:ext cx="2400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Apollo IPD (4)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E45C49-BD43-43BA-BE6E-0B0CB9CD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5419725"/>
            <a:ext cx="44672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₹66,153 payable; separate ₹5,779 receipt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B8D825-4EAD-4904-83F3-0C535FCC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419725"/>
            <a:ext cx="3305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and settlement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FB4032-A416-45E3-A362-E0896A05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 KIMS and 6 Apollo scanned pages supplied for the project. Amounts shown only where the scan is legible; no patient identifiers appear.</a:t>
            </a:r>
          </a:p>
        </p:txBody>
      </p:sp>
    </p:spTree>
    <p:extLst>
      <p:ext uri="{BB962C8B-B14F-4D97-AF65-F5344CB8AC3E}">
        <p14:creationId xmlns:p14="http://schemas.microsoft.com/office/powerpoint/2010/main" val="6910202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56B5EB-F868-41AB-B35D-A85C6579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0F50F-905A-4B23-8960-DA6BBD91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06A16-2957-4E12-B2E6-3EF361C3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C1864-A405-4810-9AC5-7C917EC3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0A896-9F6D-447B-992A-55D41BBA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0E85D-5DF7-4DA5-BFCC-60C71C3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AE813E-B821-44AB-822D-F6DE3F8E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34675" cy="895350"/>
          </a:xfrm>
          <a:prstGeom xmlns:a="http://schemas.openxmlformats.org/drawingml/2006/main" prst="roundRect">
            <a:avLst>
              <a:gd name="adj" fmla="val 7447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810FA-1594-473E-8C9B-580935BD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430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1B898-3566-4ED0-9CF7-D40BD987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04975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service can be missed, repeated, charged at the wrong tariff, or confused with a payer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214D99-6173-4F82-B7BC-0A221F47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C9D4B-4775-4DAD-A2EA-A8017D78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C5238F-3183-45C8-8E8E-2EEE77AB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128A6-E478-447F-85B2-916A167B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A1345-B3DE-4FEE-BEB4-21941725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Reject a repeated HIS event 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88442-5F99-4E80-AF4F-AFD85E74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9F572-6E3D-42E0-A871-866CC533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E14AA-B9D3-4E0B-AE2B-FC02472F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A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C222BB-965F-4AF3-8ED1-892D8719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the right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1923E-118C-420A-B1A5-8D9D240B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Snapshot the payer tariff on the charge.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5ED342-A0BE-43D0-8F89-86B3B680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AB59DC-F37D-4830-9C78-07319D8F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4B5FE7-DFBD-420D-A39D-DC3BCAB8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5B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5B0FA-A141-4875-AD12-83E5055D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Explain the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E66863-9BE8-45C4-8B26-7A4C1F2F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 item, quantity, GST and total.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7730BD-9BD4-47FF-980F-648BB053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16C5DF-7ED5-4CA2-AAF3-896E7ADD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0F46BB-E85B-45FC-B0F0-E9766D5F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BF5DD2-4CEF-40FF-83CC-C1FFC522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 money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ED7D61-83B9-4ECA-89D7-A87F4969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Keep claims and actual receipts separate.</a:t>
            </a:r>
          </a:p>
        </p:txBody>
      </p:sp>
    </p:spTree>
    <p:extLst>
      <p:ext uri="{BB962C8B-B14F-4D97-AF65-F5344CB8AC3E}">
        <p14:creationId xmlns:p14="http://schemas.microsoft.com/office/powerpoint/2010/main" val="18280931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EE5283-1A67-4874-B73B-BDABA49E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260EA-13D5-4399-847D-C5B89DC4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1E8E1-7C5A-415E-AAA9-4549EC71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Existing gaps and why they occur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067772-5A21-429A-9054-2DAB082C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F20F8-959D-4079-9BFD-9933EC03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E9334-8968-4FFF-956C-1790CFE9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42871-C9C8-4E84-B721-F802B353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6977B-A67E-4C17-BCC0-3FE39732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09725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6B59DC-37A4-42D8-981F-5BD8454A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0972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53FC3-6E76-4044-ADDC-7B641C31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BDF94-4628-4FCD-B80C-A04C4207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88F2D-7330-439A-9180-C5EC6C3A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4D3CEA-2FE0-4B88-ADA0-253247D7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38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Missing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4B74D-578A-46F2-8B68-3294FE0A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Manual handoff between care and billing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8539E-367C-4569-9401-8472EB4C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7170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event posts a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954ED3-41DC-4754-91A6-736EF7B6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BFC64-C803-4123-B3D9-70DE0B60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061AF-F48E-4E86-9740-12B2A11A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FA9044-CA09-448E-B0B1-188659CF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81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Wrong 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0AC4EC-6573-4753-8F39-C991FAF6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Different payer rate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AECB3-B7C3-4341-B657-214CB0D9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11467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chosen at capture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1A295D-726F-42F6-83E6-2A9A2950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2F81F9-8986-4DF9-8278-AA6FCBF9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95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53133-AF78-4385-A89C-423B8C5F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71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75F4F2-7D59-46B3-8694-E4704610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243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Payment confusion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45AE12-020E-4E94-8E10-60B8DFC8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5765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Approval treated as collection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F26D5F-8D5A-4356-8EBD-EE6A5771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05765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Claim and receipt stored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C02BB1-821A-4C54-B089-8B837988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249399-DBF3-4F3D-B404-2FDCD5A3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387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6572AD-B864-4B53-A055-EDDDEB3D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4EA7A1-2BA5-46E4-BD8F-D2982B22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Discharge delay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58681C-8CD1-47A1-B33F-8BDCA21F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0062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Charges assembled at the 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7B0F84-05F4-4CD0-A6A1-ABA93E37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00062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stays current</a:t>
            </a:r>
          </a:p>
        </p:txBody>
      </p:sp>
    </p:spTree>
    <p:extLst>
      <p:ext uri="{BB962C8B-B14F-4D97-AF65-F5344CB8AC3E}">
        <p14:creationId xmlns:p14="http://schemas.microsoft.com/office/powerpoint/2010/main" val="15449853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8419AC-C3B2-4D6E-85C8-E7198A61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FB4A9-5CFC-4999-AB89-8660B202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96625-27F6-4E83-A060-C64BC092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Evidence behind the billing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0408D-CBF2-41BB-AF51-0DF71047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4CBFB-EAF4-4B2F-B7F7-87EBC21E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FD48A-E983-4E39-9A8E-B3B17D35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72A27-F67B-49F9-B7B0-9EEEE4EA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66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82C50-90C6-48AE-A656-41E17774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43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529864-79E0-4987-9E1D-636C7DA5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0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7FE21-3A50-493C-9C12-DBB1D604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04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Itemised billing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3CE6F-CDC0-493A-BFCF-424F7632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95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Patients’ Rights Charter supports a clear charge list and receipt for the patient.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B0DD1-4910-4EFF-8FC4-4BBEF502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24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A6E4A-BCA2-4BFF-9510-DEFF17C6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0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B64126-3A1B-429D-AC72-866C262A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574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D511F-D990-4C08-8318-635B15B7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622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 versus invoice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9619E2-6349-4C46-A4EE-6D654923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HL7 FHIR separates a performed ChargeItem from the priced lines of an Invoice.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C5C64-79CC-4491-A12D-06DFD0F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81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C0300-0A64-4CB5-9E19-D755BC57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57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56648-BEBF-4338-B617-8C42A3E8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14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027AF-7E36-4B20-8B02-63EAE7D8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19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5418D-831E-40B3-9DE1-21DA4B9A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IRDAI describes preauthorisation for cashless care; NHA uses package rules for PM-JAY.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CFDD6-E620-4BFD-9FC1-4DDE33F8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38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AB5E15-064A-4EE5-A573-A015F810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14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644465-F667-46C2-B9B8-05B54BE3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720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3B2270-D80B-42AC-9A90-875074B6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768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data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9E3030-175F-4518-8824-D16FE3E3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672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Course lectures on ER, ICD-10 and HL7 informed the encounter and code fields.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8C0A9-D562-4E4F-A2FB-84BD1C00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Sources: MoHFW, HL7 FHIR R4, IRDAI, NHA and DH 308 course material. Full references are on the final slide.</a:t>
            </a:r>
          </a:p>
        </p:txBody>
      </p:sp>
    </p:spTree>
    <p:extLst>
      <p:ext uri="{BB962C8B-B14F-4D97-AF65-F5344CB8AC3E}">
        <p14:creationId xmlns:p14="http://schemas.microsoft.com/office/powerpoint/2010/main" val="12262095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002250A-9610-450E-9DDC-C86183C1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63F33-6F0B-4571-8573-C73FB234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93748-EDC7-4C00-B374-0380873F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Clinical and billing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1ADFA-CFCC-46FE-A267-E090FE8C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D5907-65DE-43D8-9290-6EE05FDE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90AE48-CE8F-448A-946C-23D1D839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2CD67-D669-4009-8C97-AABCA83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Different codes answer different questions. The system stores each code with its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2FEDD-5C78-47C2-91DD-B379B4C5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2286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A34F4-FF84-4CC8-BD75-32B7CD3D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9C7CC5-E1A3-4290-AB6A-3D5CFAE2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USE IN THIS 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4857C-97A3-4681-B357-DD97998F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E5596-DB2F-4D1E-9C7B-6B2037B9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ICD-10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1EA79-F6E5-4429-90E8-508E5601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90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Why was care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95E0D-128B-4E0E-84F5-82C354FA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diagnosis and claim 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B3F67-F6C6-430D-9C7B-0EDDBD36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42247-8129-4930-91DD-990D7D77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D19A5-778E-454D-A119-9BC60CE3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was done?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F74F2-A6DB-4F17-B627-730B17BC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337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 examples: PAT0042, BIO0121, MIC0251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02807E-E4C6-4619-9EE4-EB3013D9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1896D-8A49-43C2-A166-1D138581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71475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4AC8B-D8A0-4D17-82D6-6985C062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External procedure mapping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3C5080-B237-4679-BB96-A4215BEC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Optional licensed mapping, not the default Indian tariff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5174E-ED79-45BE-A586-A6D936BF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C7B9AA-9B26-4DFF-BCED-BE7A89CE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LOINC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C4AA1E-D598-4D3A-87D5-542646E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76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lab observation?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6BCF1-7561-40F7-995E-F38C4221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5767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LIS integration when a coded lab result is available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47975B-B6CC-4427-99D0-A6377F9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672CD9-88BD-48CA-A21B-C1F950EF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387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HSN / SAC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7BD3BB-0877-4F12-94C6-001F19AE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the GST class?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E2336F-9F47-43EE-A916-E58372EA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96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 goods and billable service classification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96229C-1750-45C6-AAB6-8E1D2B4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F9B472-2F51-4D0C-A2C6-432739FA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006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 HBP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081672-26ED-4AAD-830E-4614ADAD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006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scheme package?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D8942C-E0C5-49B5-96C9-B899718C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3816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and claim route for an empanelled case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83DD4-2980-4A98-A169-BCF64BE3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WHO ICD; MoHFW EHR standards (CPT is optional and licensed); DH 308 ICD/LOINC lecture; NHA HBP manual. Service codes are from the supplied KIMS bill.</a:t>
            </a:r>
          </a:p>
        </p:txBody>
      </p:sp>
    </p:spTree>
    <p:extLst>
      <p:ext uri="{BB962C8B-B14F-4D97-AF65-F5344CB8AC3E}">
        <p14:creationId xmlns:p14="http://schemas.microsoft.com/office/powerpoint/2010/main" val="7504735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77113-1420-45D4-A84E-C8BDC30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61455-DA89-47A4-A869-90594A97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6F2F4-371D-41E7-8979-56D8E4C6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rules the prototype applies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48F7B-D793-42F4-929A-6C90A9E1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E4FF3-7279-4928-A99D-D3E8459E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BD507-0C43-401E-A843-C67D8017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E1108-AB45-4DCF-A4CA-0F1476D2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tariff stores tax treatment by item and supply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ECFCC-E3C0-486B-BA27-3572991D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FD74E-6CA2-4241-8867-0033FA8D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0E817-632E-464F-8028-9D803D9E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860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Qualifying consultation and 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63B82-368B-4A84-A65D-2380D0CC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955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Exempt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0561DD-61C6-4A79-BC5E-4B2346E8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85599-6D29-4A04-A0DE-964ACDA1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Separate OPD medicine sale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E3FDF-FF2B-44FF-A1F7-60EE911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670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pharmacy sample: ₹4,801.38 taxable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C7DD88-0370-49E9-B9BE-8F40463B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765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8024C-46D5-4AFA-BD84-A976B6C1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F7E19-96C1-4849-B957-5D65C9D2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Notified nil-rated medicine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B29646-E7A4-4A8D-9708-02102DCE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481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follows the product classification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433CA9-D45A-40D8-9AA4-4EE0BA7D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71FF3-BDF9-4B0A-8D2C-89866FD7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B72521-6A8C-4294-9748-64208B5F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Specified non-ICU room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93FBE6-3C3D-4D6B-B6A6-B0DB518B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291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Example: ₹6,000 per day, above ₹5,000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4160B0-0C5D-4030-B273-92404B71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386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5%, ₹300 tax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419CB2-235A-4FCF-8BBB-38015D88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1062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Inpatient medicines supplied as part of qualifying hospital care need a composite-supply review; the OPD pharmacy rate is not applied automatically.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B74F76-50C6-49DA-A3C2-7D29BCD4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GST Council 2025 medicine FAQ; CBIC service rate entry 31A (5% without ITC); notification 12/2017 and inpatient AAR orders.</a:t>
            </a:r>
          </a:p>
        </p:txBody>
      </p:sp>
    </p:spTree>
    <p:extLst>
      <p:ext uri="{BB962C8B-B14F-4D97-AF65-F5344CB8AC3E}">
        <p14:creationId xmlns:p14="http://schemas.microsoft.com/office/powerpoint/2010/main" val="13648510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4D680C-87B2-477D-B3F1-60A52FA5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7D1F1-849F-426E-A4DC-0E1347AB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7F082-EF32-4027-A24C-A37A33B4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System modules and integration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188CA-6A63-4115-8334-68DE6826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B98B9A-90F1-42D0-A0ED-6738DBE8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7B229-B5BC-4595-99C1-734F4E27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E5404-EA4B-4442-940A-7C82F784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363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Three desks work on the same encounter. FastAPI checks each write before PostgreSQL stores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F72CF-B7C6-4FF6-8411-1DB7EEAD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29D84-B7C2-461A-894D-8BCA588F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020DD-B4E4-4BD0-AAD5-BCB6859D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Note, ICD-10, service, prescription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1A70D7-5244-499B-B734-5BE0B575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646F5-9263-45CC-8732-48D7A45E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44D18-4AD2-4A2D-93EA-5CE41C3E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batch, dispense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E3D7D-E93F-49E3-8950-E393BA13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33865B-5A01-4E49-A231-07C27C99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C2C92-261D-4F25-9E63-FE5DA18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Room, payer, invoice,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845AA-CF46-4882-8A4D-015AB09D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00965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0B70A-0979-4901-8199-B0512C7E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719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FastAPI: access checks, charge capture, tax rules, claim state and invoice 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8ED1D-961B-4E02-8552-1BF271D7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53025"/>
            <a:ext cx="6315075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5D038A-9452-4FBC-9876-1BE22F21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34000"/>
            <a:ext cx="596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PostgreSQL: linked records and audit events</a:t>
            </a:r>
          </a:p>
        </p:txBody>
      </p:sp>
    </p:spTree>
    <p:extLst>
      <p:ext uri="{BB962C8B-B14F-4D97-AF65-F5344CB8AC3E}">
        <p14:creationId xmlns:p14="http://schemas.microsoft.com/office/powerpoint/2010/main" val="18480036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341998A-8B9D-4E59-AFC9-433F4DE5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2FF77A-0516-4095-87A6-3B3C7D96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852196-8BFC-4FD0-988A-DA1960B9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Database schema: the useful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EB591-E0F6-4678-88E7-9F388AC7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83C35-1BE5-4AD1-B9C9-03AD7D12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95C4F-3003-41B1-86AA-E5B408C0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25780-2347-4790-8EEE-22D43171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512C5-DCF1-4917-B784-9949DCC9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72A69F-B733-4E76-B5ED-BE25A17B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38F83-2ED1-4CF7-8606-D7D6AD66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patient_id (PK)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321ED-53C3-4479-9851-1E7BC309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B2D57-CB7E-4336-91F2-110C6945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4C9B-A39A-4B37-A829-6A8408C3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(PK), patient_id (FK)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198346-7B1B-480C-887B-0768DC55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9EA30-A91F-46B6-BC5D-A90242E8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B63E0-723A-423C-806D-1D6D62EA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ICD-10, procedure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7A0E1-EEB1-45A5-85D3-2E9D0410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AECDF7-661C-4D16-AB38-89FF1D7D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1B9D84-035A-4773-B1B5-9D173E18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pharmacy 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C8BF3-28AE-453E-BEEF-A95B91CE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18DCBD-8651-48FF-ADF7-1133AB1D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107FDA-BBD4-4953-8E12-847864BB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3D29E-17CE-4F94-BC79-C2B24BDD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service_code (PK), tariff, tax rule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3C3B55-4382-4937-A781-6A3396B5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7F4499-B903-4660-88CE-EB8221D9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E6A923-01AB-4D4D-A1E7-736C95C8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charge_id (PK), encounter_id (FK), event 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D705BA-7EA8-4AD6-9DE1-E8FE8F78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5ACAC7-E6E7-4602-AD4C-27C9B538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72B36-F112-40C9-AB4A-12104046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(PK), encounter_id (FK)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6290E3-CB04-4E8C-8747-54A01B90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2CBED1-8C6E-4F0B-81F5-22AC34DB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EA8C57-7979-4D74-9353-A5C250B3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charge and tax snapshot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4FD34C-9C02-457F-9CA2-C932171B0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A00118-BF63-4C4D-A7CF-B5EEFD1D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B04F3D-0768-4122-9DC3-58EFFC29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1D7226-FE3D-4684-A3B3-6A37C0C9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payer route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7A13C7-F97D-4FFE-9B42-345C1402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EEFDCE-D4FC-4357-B436-2300515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065D25-87CB-4B9C-8916-0896586E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approved amount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156A43-9560-4B78-A43F-437B266C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7FDBBD-6EE8-4B9C-B073-0A431C59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CEA6ED9-C631-4149-8898-21B75D91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diagnosis and status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62336E-BBC8-44C5-A7F4-77354404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B371ED-4B3D-4080-B17C-8836BA1D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61C849-1570-4A10-BE84-67275D58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payer and amount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4D6E25-9152-4EB7-8D6D-854062E2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744200" cy="390525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1EA0D8-F7CF-446E-AC5E-129C094D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9775"/>
            <a:ext cx="10353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One encounter has many charges and at most one final invoice.</a:t>
            </a:r>
          </a:p>
        </p:txBody>
      </p:sp>
    </p:spTree>
    <p:extLst>
      <p:ext uri="{BB962C8B-B14F-4D97-AF65-F5344CB8AC3E}">
        <p14:creationId xmlns:p14="http://schemas.microsoft.com/office/powerpoint/2010/main" val="9714322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A59EA5-BF83-41DE-8B09-341931EC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F6397-4E50-4DEC-80D9-A9D0A940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E8C78-92D0-4FC0-BC26-2A9F50B0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Chen notation ER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72AED-8E7E-4E5E-BE2C-B2BCEA79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C1002-1391-4B00-AF0F-D032500D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D7C01-9C2B-4672-A11B-812AE8D6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4C258-2085-43AE-A791-50AB372108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84f09e92e4aef"/>
          <a:stretch xmlns:a="http://schemas.openxmlformats.org/drawingml/2006/main"/>
        </p:blipFill>
        <p:spPr>
          <a:xfrm xmlns:a="http://schemas.openxmlformats.org/drawingml/2006/main">
            <a:off x="2036296" y="1514475"/>
            <a:ext cx="8109883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DE999-D964-4290-A482-38099436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This conceptual diagram was supplied for the project. It links HIS, pharmacy, billing and external payer entities.</a:t>
            </a:r>
          </a:p>
        </p:txBody>
      </p:sp>
    </p:spTree>
    <p:extLst>
      <p:ext uri="{BB962C8B-B14F-4D97-AF65-F5344CB8AC3E}">
        <p14:creationId xmlns:p14="http://schemas.microsoft.com/office/powerpoint/2010/main" val="7202639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CCC71-1FD0-4037-9549-FF7165F9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745F8-FBBC-4D5F-9F81-8114CC68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D4E3D-2433-4EA3-8386-DCAFF6E9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patient and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4CAA8-BEE3-4512-86E3-C52605E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D1ED0-2833-4DFF-8223-4BCA3530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63094-BB2D-4550-9D97-5BBF80EC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6ECB4-3A75-4F23-A096-F7717BC2B3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eb42af1e44724"/>
          <a:stretch xmlns:a="http://schemas.openxmlformats.org/drawingml/2006/main"/>
        </p:blipFill>
        <p:spPr>
          <a:xfrm xmlns:a="http://schemas.openxmlformats.org/drawingml/2006/main">
            <a:off x="2433309" y="1504950"/>
            <a:ext cx="7258707" cy="421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4541E-CC05-4662-97E9-C8894CAB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52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patient can have many registrations. Each registration connects to the doctor and later bill.</a:t>
            </a:r>
          </a:p>
        </p:txBody>
      </p:sp>
    </p:spTree>
    <p:extLst>
      <p:ext uri="{BB962C8B-B14F-4D97-AF65-F5344CB8AC3E}">
        <p14:creationId xmlns:p14="http://schemas.microsoft.com/office/powerpoint/2010/main" val="15635703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828EB-569A-471E-89BD-81CD8883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2E615-AAE7-48E3-818D-C2DF434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31A98-8D58-47FC-9AE3-E4B59CDF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claim and insurance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777AF-88E1-4253-AC75-B754FEF6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BAC12-717C-47A2-BA50-4ABE4EBD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EB79F-28C3-4B38-AF29-4A14D555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DEC85D-B879-477C-B755-B1D3BCD771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b8c79a0c174a8d"/>
          <a:stretch xmlns:a="http://schemas.openxmlformats.org/drawingml/2006/main"/>
        </p:blipFill>
        <p:spPr>
          <a:xfrm xmlns:a="http://schemas.openxmlformats.org/drawingml/2006/main">
            <a:off x="1120802" y="1504950"/>
            <a:ext cx="9940871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A0CF5E-7B9A-4E87-A454-895397B8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4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claim records its approved amount and status; it belongs to an insurer. The full diagram links it back to a bill.</a:t>
            </a:r>
          </a:p>
        </p:txBody>
      </p:sp>
    </p:spTree>
    <p:extLst>
      <p:ext uri="{BB962C8B-B14F-4D97-AF65-F5344CB8AC3E}">
        <p14:creationId xmlns:p14="http://schemas.microsoft.com/office/powerpoint/2010/main" val="9007796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107270-BFAD-4A23-AD4C-66916611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1B284-371F-41B2-ABAE-A75AD8E5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02E7D-AF1D-464E-BD38-CEA5D81E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our demo assumes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A0D13-7D98-42DE-AD18-6A70EB45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E6E5F-0E9F-4F14-90E5-F4D3AA9B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15F3E0-6818-408F-842B-3410967A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AAAAB-144B-4DEC-BCF1-5D59F094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55644-B114-41E9-A475-74E7FB4F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9D3FB-285A-4247-8F6A-33DF6EA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811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4FFCD8-3C71-44ED-824A-C4CA822E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430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Hospital size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5BDFC-F4D9-4C4C-B4D6-29738CDB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7049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working scope represents a 20 to 50 bed hospital.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FABC0-ECB6-412C-91F6-80E3E044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6C84E-794A-4F2B-95B5-3B59E46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26C52-E23B-40B2-8388-759FFD60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193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87295-579D-4EBD-8951-A7A343F7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CD1D8-A944-4060-AE04-897F5AFB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431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All patients, prices, identifiers and clinical notes are invented.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687BB5-2F5F-4D75-A1B3-6516B275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935B17-881C-4BB3-92CA-5F94365C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C9DEF-52D8-4C0E-997E-0356356A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FA5566-BB97-4C6D-8BCA-17032CFD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194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External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4CC234-5224-4D9B-9C83-1973F213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813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events are local API calls. TPA and PM-JAY replies are simulated.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39812C-683E-468F-93E6-31809C6A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225697-B0F6-4CFB-92A5-CF53A1D4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5A27FA-9E09-4831-82E3-D4FE4E9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F67629-454F-4936-9F64-AA3A0300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576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GST master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33F2E7-26ED-4984-90B1-3F233665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2195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rates illustrate rules. A real hospital must verify product HSN and current tariff.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7511CB-20A3-45D1-98A0-91F07BA0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B56F6-1389-4F28-A001-8E349CD6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027EA6-0A0B-4405-9EFA-761A270F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61F67B-80EB-40D9-B232-9BFAD0D9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Diagram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C72168-EAEF-43FE-8361-EF4C4D69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0577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supplied Chen diagram also shows LIS and RIS as conceptual modules.</a:t>
            </a:r>
          </a:p>
        </p:txBody>
      </p:sp>
    </p:spTree>
    <p:extLst>
      <p:ext uri="{BB962C8B-B14F-4D97-AF65-F5344CB8AC3E}">
        <p14:creationId xmlns:p14="http://schemas.microsoft.com/office/powerpoint/2010/main" val="157738431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D4189B-9279-44CA-91FB-D61A9547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75CAE-4F74-4A5F-9F75-B1018DAE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35B3E-0406-4774-A269-F068930D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46EF3-BFBF-473F-A311-4DD74C16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5265E-254C-486F-BE20-0E70C019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EB752-12E4-4FA7-898F-53AD1C5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D5F780-15AB-402C-A25C-9720C58B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E2A28-2DF5-4E49-B004-10355958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16D38-1564-4E90-B4F4-1DD9E610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FA39E-5A56-4CF8-AD90-B6D9ACF2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07238-6393-4198-AB5B-1FF02DC0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Role screens for doctor, pharmacy and billing.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4141B-3A6B-413A-94D2-D02DFE19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BAAC1-4A81-4D01-A177-E4907A84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E30B3D-061B-4FB4-9197-F99731F0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F226D-0727-48D7-9200-AF1AAAF7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C7677-376A-4F0F-903B-71710927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Validates care events, dispensing, tax and payer steps.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9AFF5D-0902-4FBF-88E2-335F0598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6B27C8-184D-40DF-8F83-589D93E4F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53A22-2C01-4DA7-9890-10FD897A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5B7F8-1A06-400D-8EDD-44DB6213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CCE7B4-187D-49E9-91DB-0640D54C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Links patients, encounters, charges and receipts.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4924F5-DBD5-4DD8-9C60-CF3504DB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Core API 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7156FE-3268-442E-8E38-3960F10F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005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/api/his/events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5A92AB-637E-4C13-B093-DE2A624B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4005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delivered care item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20E537-6EF0-428F-A041-993F21E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/api/pharmacy/dispense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670252-65F1-4320-AABF-59B65000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7244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plus charge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4A2D89-3E4A-4CAD-862C-93CA3F05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482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/api/invoices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198E31-E46F-44D4-BA4C-607698DB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0482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final bill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83AD0F-A0A7-4659-9EC5-645C6D5F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721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/api/claims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1F1B66-1646-4B99-8F66-6FB45F4A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3721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submission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70BEBC-9242-4755-86A9-4AC5DD8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/api/receipts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CEDB4A-45AC-49E1-8298-5D6CD272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6959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money received</a:t>
            </a:r>
          </a:p>
        </p:txBody>
      </p:sp>
    </p:spTree>
    <p:extLst>
      <p:ext uri="{BB962C8B-B14F-4D97-AF65-F5344CB8AC3E}">
        <p14:creationId xmlns:p14="http://schemas.microsoft.com/office/powerpoint/2010/main" val="13962047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80EAD9-4E03-4092-AA47-5D292344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E1F03-775F-4534-9467-4DA03275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A2A56-A23A-4462-94E1-8EC00F63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Backend rules that prevent common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812EC-0D13-486A-BDEE-8F7DF2D4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C146D-1562-41CB-847A-FAFB6EF0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FD4F5-59B0-4A09-881F-2BE3F5C2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5B18F6-B34F-47F0-9387-31194A0E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507ED-8A19-4011-AB39-17CD8F87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08622-1526-4712-BE62-967B3DC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85607-409E-4FE1-BFF6-E9E717D4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E93259-017B-48EC-9242-CBE2C5D6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source event ID can create one charge. The same retry returns it; a changed retry fails.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95E6F-86A3-4AEE-A4B3-3817C54F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33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01B56-C964-4D5B-A9CE-97F1BA57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9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EE22F7-9B1B-47E3-89B7-74ED48C5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670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7B248-F9DC-49AA-B2F3-875E4BCE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717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F19C0-99AB-4743-AE75-7B74CB15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622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prescribed item needs an open order and available unexpired batch stock.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4379C-10FE-4D54-83AC-04D8AD3A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909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64604E-8D68-4BF2-8098-923E0AEA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671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2AC86E-663F-4858-910B-216C692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242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7192F9-AB67-4EE3-BEB2-1389A371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Final invoice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5B4FD4-8256-4F55-8493-11F47810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system copies charge details into invoice lines and locks the encounter.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DBF867-B9B6-4776-A486-89B5D71C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48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8A049-B298-4FB8-BB5E-699FB66E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11BF1C-F52B-4E0A-80A9-9451E497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815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D10634-25C3-475C-98E4-6CDEFC35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863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6B2133-3D02-4837-B8C9-F988ABFB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768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An approved claim does not settle the bill. Only a posted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17927891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95B783-50FD-4BBF-93BE-ABC315F2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A5985-E8C2-4BA2-8F66-F05DAC4F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BEC87-9958-4257-B4FF-7EAF7BE6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example: Ananya Rao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6B4FB-BDC7-4F3E-88C6-656B944A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C94FB-7AE6-4BC0-98F2-CDE0E6C4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D327D-D321-4484-B04A-7FF2B7FA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0C5B5-8108-4967-979D-470E5C6E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52575"/>
            <a:ext cx="10210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invented OPD visit begins with ₹500 consultation and ₹350 CBC already captured.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EDFBA-0CFA-45E2-B6AB-D4068830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14F7A-E39F-45A3-815C-08608A8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F5073-0977-42B4-B837-3080DCC0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67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2517C-52BB-4F36-B749-9FF93C75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5908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9E497A-FF58-42F8-8074-8545E035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Prescribes 2 training medicine units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AE44E-BC99-4668-975F-3D737218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14D78-3C54-4B52-BD18-58B5EC0B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00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BD52C-1E23-401C-AF98-14C0FAD5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76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85B0A-A6D0-4BD5-ADD8-085FA778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4004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842259-1B3C-4D12-9206-E93261FC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0042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Dispenses 2 × ₹100 from a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71D6F9-2F5C-450E-B3CD-24EDA046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E3D335-216C-409F-B1C5-7A4674C2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0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497108-A52C-49B7-977D-C611CCE3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86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A84CEF-1CFA-4E49-898B-21220BA0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21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6DA97D-1CFD-4DEF-B7E7-61535812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Adds ₹10 GST on this separate OPD sale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BFFA10-B192-4238-8C71-D8FBFAF0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A862C8-133B-45EF-AE70-5DC0DCBF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C1397A-EA27-4EA4-A828-0286CDF8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95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931AF3-DF76-4ED0-B4C9-847E8809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0196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36A398-256F-46BC-9626-B877912F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1967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₹500 + ₹350 + ₹200 + ₹10 = ₹1,060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2C18E4-17B8-4289-ABEB-632AA6CA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Same encounter ID links the note, prescription, dispense, charge and invoice.</a:t>
            </a:r>
          </a:p>
        </p:txBody>
      </p:sp>
    </p:spTree>
    <p:extLst>
      <p:ext uri="{BB962C8B-B14F-4D97-AF65-F5344CB8AC3E}">
        <p14:creationId xmlns:p14="http://schemas.microsoft.com/office/powerpoint/2010/main" val="5278643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14F5E8-006C-446D-B0B6-25850D65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6CD4A-5FAE-44F8-B814-51402C0D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17042-B1AB-4A7E-8D6A-F0DF1A27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IPD insurance and PM-JAY flows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4D3157-BF47-499B-BB62-AA5320EE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D3365D-4F79-4719-8911-0B3F8D37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B0AB5-D371-4D49-9BBB-6E3AA17A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E610C-6A0D-45EC-B482-B08A683F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23A23-E24D-49AF-89BB-9BCE732D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11A48-EF4B-431B-8AF4-EDEFDE38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39044-60EC-4A9C-A168-64BB0779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446AB-4B4A-4606-9B09-70D203B1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9B8F1-5BA5-4A4D-BC9C-EE21580D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BF8F0-8F1D-4268-901C-9E8E1999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574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Coverage and payer rate linked to encounter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8B5E5C-2325-4897-9A9A-4A9D9DEB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19CFE-FD89-44B2-BA66-DD395EDA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6B46B-DC18-48B5-9504-6D6FB812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and approved limit recorded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AB3BD-5B8C-4E77-B5FF-EA65CD32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1296C3-5D75-4BCD-B105-1F59C1EC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DA6D6-1228-4019-A545-837F25BE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9570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room, procedure and medicine charges accumulate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7083B9-15E8-4F1D-B93D-8B130BF9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809627-7485-4241-B26C-9292BBE1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E30914-1B9E-44FC-84A4-4C2D0C20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1482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ICD-10, procedure code and documents join the claim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5DC665-710B-44F5-8A57-441B7E7B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269BEB-A244-4993-82DA-8D64C4E4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7513C-3145-43A2-A49D-759D9D3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 receipt reduces the outstanding balance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92535C-EB2F-4B76-BB54-83AB46CE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EC6195-16C2-4343-B64A-FBFD20C0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45A86-8000-43C0-946B-BDB979E3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574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Beneficiary check is simulated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879C07-FA42-4137-A63A-B742F332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F0CA89-CEA6-4CDB-B1E6-F40A0ACD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2600E9-9A31-42DF-AC53-99238546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7657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HBP package linked to encounter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BBD574-C32A-453A-85CC-86A7585E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FF913B-EAF9-4429-B263-798F4BF2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0EF6D9-FA2A-4DDE-A90B-17807BEA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is recorded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7436A5-5F88-4DDF-A4B9-5A6EC150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8C375A-BA51-4B9F-B9FD-DCF3FF55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8FD01B-7E64-46CA-9161-54591913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1482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Package invoice and claim are prepared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B19EDB-84D4-4B51-97AF-E2683D0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49C58E-B0C3-47A8-8158-E2F499C4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519826-6660-4911-B37B-F73C0B3D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339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collection is blocked in the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75C7C7-EC6C-44FC-B880-5513BEFA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NHA HBP manual and IRDAI health insurance guidance informed the state sequence. Portal responses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57328171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62E8F9-7CB5-40F6-8001-7A95BF46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671E1-69B8-4A30-B82D-7568D3EA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8AA88-5D79-483D-AF92-9CE2BD38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Finance outputs after invoicing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532A1-DA5A-4627-A0BC-2C31FBEC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09188-5F8E-4DE9-9C41-14B0C5C7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77FAF-90E4-4011-82D4-8426005D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0A7AD-EB72-41D5-9016-B3A5F29C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1042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invoice records the amount due. Claims and receipts determine who still owes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CE50C-D515-4D2E-BEB4-D787F849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24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5A3F1-407D-428C-925B-6B82B273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00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29DB4-4425-45CB-99D5-9013CA54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2574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E40ED-078A-4E93-8D6E-FEEA979C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52E13-24C7-4EBA-AA4F-81CD4FD9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526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Separates taxable B2B, taxable B2C and exempt or nil supplies. Includes HSN summary.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CDCB3-77A7-469B-B6AA-2DB99F1B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90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9D787-83F1-4487-9D9A-03C44FC9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67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253DA-74FC-4C2E-8D62-ED3E5910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24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C98BE-2CCB-4864-BB9B-3A88522A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28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Insurance receivable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3F4823-BC5A-41B5-93E4-694D1813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19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Tracks submitted claims, partial settlement and remaining insurer balance.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7A2941-E985-431E-87D2-244CF4B1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57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09620-8E52-4B38-856F-979D0E04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1338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EDF33F-BC5F-4CAA-8CE9-E0B78AB1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9909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7A206E-4145-42C5-B9C7-7DE30BCC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balance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06169D-4099-4779-BD8B-86F0C6C3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advances and receipts separately from the total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645D6-93DD-4A31-928C-5206C3D0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46E5C-1886-4F81-9D7A-4E406B19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0ADBCF-B2DA-4637-B785-00A74EDC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57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30B2C1-06B1-4359-9301-EE22FF73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62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9BE528-ABDD-4666-8849-7470BF3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Shows collections and payer mix from posted records.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3FE5BC-8D15-43C3-A14B-A416622E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The GSTR-1 screen is a review packet for this prototype. It does not file or upload a return to the GST portal.</a:t>
            </a:r>
          </a:p>
        </p:txBody>
      </p:sp>
    </p:spTree>
    <p:extLst>
      <p:ext uri="{BB962C8B-B14F-4D97-AF65-F5344CB8AC3E}">
        <p14:creationId xmlns:p14="http://schemas.microsoft.com/office/powerpoint/2010/main" val="161048518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607EDD-EEA2-4065-919E-8F950421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AC2F1-9D8E-4C44-8FC3-A0B20DE6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061C9-96D6-4BA7-9735-9BEF90FB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FD157-FCA1-43ED-B4E9-26F89AD7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0E596-C5A3-4582-85D2-6DC49665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31556-2B9F-4DC0-A37F-0AFF5CA3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F60A7-2A26-49C6-B496-EF96E040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live demo follows one encounter across doctor, pharmacy and billing roles.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06FD4-82B7-4052-9870-B318123E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2407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96492-6E9B-4651-B149-7923DAB6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4790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A898F-EBA5-45F0-B974-0598E229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2383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OPD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90A71-B01C-4E11-8ED3-5B20EEEC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22885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capture, medicine dispense and itemised invoice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A6DE74-391E-4B00-A80F-97A9A550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FAC7E-7601-4AE0-96A1-8D4C7484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86702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705292-00C5-4589-9623-25B345D5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575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IPD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B3808C-361B-4176-9BCD-E0CD22E9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4797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 stay, running account and discharge bill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8A344D-B44C-404A-A222-0F86E42F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7C4916-7E4F-4E8C-847D-2297EB9D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8615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C9CD3-6155-465F-B410-FE5B21C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7662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C6D8D0-0ED3-424E-B16D-F7F14510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6710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 and expiry check, tax on separate sale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F1DF28-C00B-4952-A007-80B01DE6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21942D-7E0E-4494-B2E7-022F7D92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0527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A99448-DA57-46D7-A4E4-03A0076A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957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Insurance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D6815-9187-4D25-B3CE-BDEB00BA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8622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Preauthorisation, claim and settlement ledger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819E1-4C43-4A51-8285-11347EDB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057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1A24CA-8201-4C3C-87B7-990B03D7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72440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C34648-B84C-4E83-A17C-3E79EBB4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148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C7795D-C439-4D57-9FAD-7C61B7E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0535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Simulated eligibility, package and zero patient collection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9FCF8-F97B-4F30-9CBD-87363BBA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D1DAEA-C42E-4EEC-974B-139E0EE7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34352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0C0C20-B06C-4B80-AEA5-CE9E597B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340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DD7FA9-9213-489C-AF70-029252B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32447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 and aged receivables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F300B2-19AC-4393-9453-46D3F277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Local API and browser flows were exercised with synthetic cases. External HIS and government or insurer portals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94179367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06EDE0-935F-4997-81AB-FB030729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5DA1F-503E-4AF8-965F-5FDEACD9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42626-F852-4763-930D-45AE009F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still a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9C425-6CE5-43A5-8BF2-0955F247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38D49-688C-4011-B3D9-8B4602EF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BD5A4-CBF7-4089-B348-B4DEF75A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84423-8C5B-43AB-9E66-68BD9B88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25924-2BE0-4D7A-B7DB-AF4033B1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76ADB-28B5-4094-9D7F-21E50394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DCE1F-448E-4B81-A4E0-87FE6AA0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No real portal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AAB9B-89A4-49B9-A9B5-29D9C199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Insurer, PM-JAY, CGHS and GST outputs use local simulation.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CC9B37-0EEE-4B8A-87D7-7EC85DFA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43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FB05D-8A75-4261-BA8F-F0F5E823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194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6E6F0-C68E-46A4-B9C6-D9062057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9FBEF9-16FA-4BEB-BDE4-A4171F9B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master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CA564-B6EC-4582-BED6-74B695FB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717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items, HSN, tariff and package examples need hospital review before 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4D3F0-4711-42D8-8ECC-CDCC157B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1D52B-E635-4847-A202-296B9552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86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85466D-A425-48E8-AC66-314B63FF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433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5FF331-EA24-4939-AD18-04AB1E8D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48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Classroom sign-in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59A5C-2386-4F33-9DD2-3B00CE31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38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Production needs staff identity, audit policy, security and backups.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954760-8E45-46B9-A0BB-12C500C0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D8715-28C1-4757-B60C-98C3D2AF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53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07500-EF57-4A0C-AC0B-5DAE830B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101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DE22CD-2717-46C5-9568-619EB7BC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149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Limited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6556E4-1EBD-4BEB-95F6-93BEB38D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053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ER image includes LIS and RIS, but the website only demonstrates selected HIS events.</a:t>
            </a:r>
          </a:p>
        </p:txBody>
      </p:sp>
    </p:spTree>
    <p:extLst>
      <p:ext uri="{BB962C8B-B14F-4D97-AF65-F5344CB8AC3E}">
        <p14:creationId xmlns:p14="http://schemas.microsoft.com/office/powerpoint/2010/main" val="9904915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2BABC-0ECC-4A9E-90F2-DC4C9FCF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09160-6085-44ED-9963-4D15D873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A7272-979F-41ED-809C-BB27D730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Conclusion and next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CE9EC-9B10-4CE3-B484-EC49A801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00EEB-5063-423C-AF0E-3C1B972C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4ED61-EE50-4C12-AEA8-2A19CFAD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E5FB8-9FC0-49C3-A047-E05E997B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1019175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A2B68-6FDF-4F0E-ADA4-AABC82ED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62125"/>
            <a:ext cx="1022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prototype shows how clinical work can produce a clear, itemised bill without retyping every charge.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AA9A2B-16D1-4036-9127-6AA75880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Next for a mid-sized hospital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EA4C4-B642-4A03-BEB5-95908AFE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5DD49-D16F-498E-8116-F6935F27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8EBE70-F7D9-4BDD-8B7D-B759AACC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0F9F3-11F2-451B-AE1A-DF139D9A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departments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A7FF00-5766-45FE-8A72-B01BA7F1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Connect lab, radiology and operation theatre results.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0DFCC-EE32-4C9E-84CA-D41753A3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9D6C5-24DF-4CF0-88F2-23D41ACA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BE0D0-90F6-4739-BB42-7156DE02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3C7E5-F7CE-455E-8D04-4CEBC6EC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payer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E181A-A383-471B-A979-C7A80B6B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 named TPA formats, CGHS and corporate review screens.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24E4A-AB38-47C8-A6E9-851A0C74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86364-426D-4F8D-B9DE-D16EE7FC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983C8F-3251-43B4-81C5-CE0661AC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E8B95C-928D-4F5C-BAA6-D6D28999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Production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CB5A05-0EEF-4C12-A02C-61E8CC30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approved portal links, stronger login, backups and tested tax masters.</a:t>
            </a:r>
          </a:p>
        </p:txBody>
      </p:sp>
    </p:spTree>
    <p:extLst>
      <p:ext uri="{BB962C8B-B14F-4D97-AF65-F5344CB8AC3E}">
        <p14:creationId xmlns:p14="http://schemas.microsoft.com/office/powerpoint/2010/main" val="121094261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4DF99C-1869-4FB1-9A90-E889AB3F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41139F-FBF6-4B3A-B81E-E0DC2CDC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81216-F7B2-4BD2-9297-384E03FB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E8285-4EF5-47DC-8E3F-EB8DF734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A242D-9322-46E4-A99C-DFE3ABF8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809B6-5137-48D0-8AE1-D045D85B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CE0BF-663B-4D80-940E-2A2AC365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B065-63D7-4C69-84DF-446119D4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Supplied bills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4B238-9D8E-4F8F-B0D1-6002C52C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5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19 KIMS and Apollo scanned pages; only de-identified crops appear in this deck.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CE6A9-4DFC-43E0-89B2-B0BC664A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66C23-C508-4300-8395-D992E385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D6E42-F13B-493A-9A2B-E06D6899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ER modelling, ICD-10 and LOINC, HL7 and healthcare database standards.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7813DE-561A-4EAE-8EBE-7B41B36C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A4AAD-39DA-40A2-B726-7B425ED3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3D6926-57B6-483C-A623-A521E62A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Patients’ Rights Charter, clinicalestablishments.mohfw.gov.in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9583A-E034-482F-B35F-B061C1B0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23F33-DFBA-4BA5-839A-5D1299F6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3EB0D5-5E82-40FC-A512-DDFD7A55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EHR standards for India: ICD, LOINC and optional licensed CPT mapping.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4267AA-B8C8-41E9-9E87-34C7A83D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AA8D1-1EF7-4F5E-BD07-B219BFEC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6922D2-11DF-4F2E-AE5E-9541382E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International Classification of Diseases, who.int/standards/classifications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1F7DAF-AABB-4C56-9E95-F13C6B0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F330F9-445D-42EF-9FF1-4D986E3D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HL7 FHIR R4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B2B81E-F2D8-4FE6-AEA1-AD01CD0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ChargeItem and Invoice resources, hl7.org/fhir/R4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7B961-9B19-49BE-874D-EC95BD57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0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65A37B-3230-46F2-A2BF-CE1619CB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415C7D-D1B5-48E9-BC64-D8C4B579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1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2025 medicine rates FAQ, gstcouncil.gov.in/sites/default/files/2025-09/faq_0.pdf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0622BB-EFC7-4521-A58A-6838A17E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794E6D-F33B-40CE-AC7A-A6770672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7FFCA4-5956-4EA3-A45A-AAA1B268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90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service rate entry 31A and healthcare exemption, cbic-gst.gov.in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11A283-81C3-4F9D-8CD5-C193EAED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D4AE10-1D6D-48A8-8AE6-052CE61F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80FFB1-F428-48EF-9E61-360565F5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Hospital inpatient composite supply AAR, gstcouncil.gov.in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597370-3DC3-4D36-9F4B-DEA9C8D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8302B4-0B92-4C92-BBBD-983C9B40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67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6A1274-E49E-47EB-AD33-1610ADFD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tables and HSN summary, tutorial.gst.gov.in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30D8F0-2A17-4644-A0B4-D23C7806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007ED2-AF9F-4B51-80BA-97F5BA43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29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IRDAI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F0C10B-BB7F-42EF-B708-D1FF5E7A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76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FAQs on health insurance regulations, irdai.gov.in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0298A6-D0F6-483E-8815-68C342EF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1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ADFF47-62EE-4DDD-A892-C3062BC2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9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NHA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C002CB-33BB-46D1-9C70-1EFA7BA4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3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PM-JAY Health Benefit Package 2.2 manual, nha.gov.in</a:t>
            </a:r>
          </a:p>
        </p:txBody>
      </p:sp>
    </p:spTree>
    <p:extLst>
      <p:ext uri="{BB962C8B-B14F-4D97-AF65-F5344CB8AC3E}">
        <p14:creationId xmlns:p14="http://schemas.microsoft.com/office/powerpoint/2010/main" val="2156500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2026-10-08T03:26:58.1160000Z</dcterms:created>
  <dcterms:modified xsi:type="dcterms:W3CDTF">2026-10-08T03:26:58.1170000Z</dcterms:modified>
</coreProperties>
</file>