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de132a4ee345f7" /><Relationship Type="http://schemas.openxmlformats.org/officeDocument/2006/relationships/extended-properties" Target="/docProps/app.xml" Id="Rc76f524b9b64490e" /><Relationship Type="http://schemas.openxmlformats.org/officeDocument/2006/relationships/officeDocument" Target="/ppt/presentation.xml" Id="R945b98a971aa45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138ff3d38b4122"/>
  </p:sldMasterIdLst>
  <p:notesMasterIdLst>
    <p:notesMasterId xmlns:r="http://schemas.openxmlformats.org/officeDocument/2006/relationships" r:id="Rf43e6dca2ae14ec8"/>
  </p:notesMasterIdLst>
  <p:sldIdLst>
    <p:sldId xmlns:r="http://schemas.openxmlformats.org/officeDocument/2006/relationships" id="256" r:id="R76318f9c4ca4414d"/>
    <p:sldId xmlns:r="http://schemas.openxmlformats.org/officeDocument/2006/relationships" id="257" r:id="Rb02701311ffc4f65"/>
    <p:sldId xmlns:r="http://schemas.openxmlformats.org/officeDocument/2006/relationships" id="258" r:id="R513f07252fb84038"/>
    <p:sldId xmlns:r="http://schemas.openxmlformats.org/officeDocument/2006/relationships" id="259" r:id="Rff570bbdac3c47b7"/>
    <p:sldId xmlns:r="http://schemas.openxmlformats.org/officeDocument/2006/relationships" id="260" r:id="R28ffac073d644fbd"/>
    <p:sldId xmlns:r="http://schemas.openxmlformats.org/officeDocument/2006/relationships" id="261" r:id="R4131c04047d94255"/>
    <p:sldId xmlns:r="http://schemas.openxmlformats.org/officeDocument/2006/relationships" id="262" r:id="Rfaef8501df6b4b2d"/>
    <p:sldId xmlns:r="http://schemas.openxmlformats.org/officeDocument/2006/relationships" id="263" r:id="Rd0efce415ab74240"/>
    <p:sldId xmlns:r="http://schemas.openxmlformats.org/officeDocument/2006/relationships" id="264" r:id="Rc1426490386947fc"/>
    <p:sldId xmlns:r="http://schemas.openxmlformats.org/officeDocument/2006/relationships" id="265" r:id="Redd4378435b048bf"/>
    <p:sldId xmlns:r="http://schemas.openxmlformats.org/officeDocument/2006/relationships" id="266" r:id="R1089d0079fd94fd6"/>
    <p:sldId xmlns:r="http://schemas.openxmlformats.org/officeDocument/2006/relationships" id="267" r:id="Rb022dcf73c6448dd"/>
    <p:sldId xmlns:r="http://schemas.openxmlformats.org/officeDocument/2006/relationships" id="268" r:id="Rcdc3d9c2a3d54d76"/>
    <p:sldId xmlns:r="http://schemas.openxmlformats.org/officeDocument/2006/relationships" id="269" r:id="R8f6fe9cd3dea4bb4"/>
    <p:sldId xmlns:r="http://schemas.openxmlformats.org/officeDocument/2006/relationships" id="270" r:id="Ra617fe884f3d439c"/>
    <p:sldId xmlns:r="http://schemas.openxmlformats.org/officeDocument/2006/relationships" id="271" r:id="Rea76b73536b4417a"/>
    <p:sldId xmlns:r="http://schemas.openxmlformats.org/officeDocument/2006/relationships" id="272" r:id="Rd178e0caf29c4931"/>
    <p:sldId xmlns:r="http://schemas.openxmlformats.org/officeDocument/2006/relationships" id="273" r:id="Rf3b3b908c768448b"/>
    <p:sldId xmlns:r="http://schemas.openxmlformats.org/officeDocument/2006/relationships" id="274" r:id="R364d9b4d5adc49fb"/>
    <p:sldId xmlns:r="http://schemas.openxmlformats.org/officeDocument/2006/relationships" id="275" r:id="R9fe8118d8ed246d7"/>
    <p:sldId xmlns:r="http://schemas.openxmlformats.org/officeDocument/2006/relationships" id="276" r:id="Ra9e9e116be3848f9"/>
    <p:sldId xmlns:r="http://schemas.openxmlformats.org/officeDocument/2006/relationships" id="277" r:id="R25fdff45f57f4f0c"/>
    <p:sldId xmlns:r="http://schemas.openxmlformats.org/officeDocument/2006/relationships" id="278" r:id="R3affa51d4d744838"/>
    <p:sldId xmlns:r="http://schemas.openxmlformats.org/officeDocument/2006/relationships" id="279" r:id="Rb22c7be89572474f"/>
    <p:sldId xmlns:r="http://schemas.openxmlformats.org/officeDocument/2006/relationships" id="280" r:id="Rcb23130f159c4fa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7f1a6f1010420b" /><Relationship Type="http://schemas.openxmlformats.org/officeDocument/2006/relationships/slideMaster" Target="/ppt/slideMasters/slideMaster1.xml" Id="R7f138ff3d38b4122" /><Relationship Type="http://schemas.openxmlformats.org/officeDocument/2006/relationships/notesMaster" Target="/ppt/notesMasters/notesMaster1.xml" Id="Rf43e6dca2ae14ec8" /><Relationship Type="http://schemas.openxmlformats.org/officeDocument/2006/relationships/presProps" Target="/ppt/presProps.xml" Id="R927fc0853d334ee9" /><Relationship Type="http://schemas.openxmlformats.org/officeDocument/2006/relationships/tableStyles" Target="/ppt/tableStyles.xml" Id="R084c5d9225fb4992" /><Relationship Type="http://schemas.openxmlformats.org/officeDocument/2006/relationships/slide" Target="/ppt/slides/slide1.xml" Id="R76318f9c4ca4414d" /><Relationship Type="http://schemas.openxmlformats.org/officeDocument/2006/relationships/slide" Target="/ppt/slides/slide2.xml" Id="Rb02701311ffc4f65" /><Relationship Type="http://schemas.openxmlformats.org/officeDocument/2006/relationships/slide" Target="/ppt/slides/slide3.xml" Id="R513f07252fb84038" /><Relationship Type="http://schemas.openxmlformats.org/officeDocument/2006/relationships/slide" Target="/ppt/slides/slide4.xml" Id="Rff570bbdac3c47b7" /><Relationship Type="http://schemas.openxmlformats.org/officeDocument/2006/relationships/slide" Target="/ppt/slides/slide5.xml" Id="R28ffac073d644fbd" /><Relationship Type="http://schemas.openxmlformats.org/officeDocument/2006/relationships/slide" Target="/ppt/slides/slide6.xml" Id="R4131c04047d94255" /><Relationship Type="http://schemas.openxmlformats.org/officeDocument/2006/relationships/slide" Target="/ppt/slides/slide7.xml" Id="Rfaef8501df6b4b2d" /><Relationship Type="http://schemas.openxmlformats.org/officeDocument/2006/relationships/slide" Target="/ppt/slides/slide8.xml" Id="Rd0efce415ab74240" /><Relationship Type="http://schemas.openxmlformats.org/officeDocument/2006/relationships/slide" Target="/ppt/slides/slide9.xml" Id="Rc1426490386947fc" /><Relationship Type="http://schemas.openxmlformats.org/officeDocument/2006/relationships/slide" Target="/ppt/slides/slide10.xml" Id="Redd4378435b048bf" /><Relationship Type="http://schemas.openxmlformats.org/officeDocument/2006/relationships/slide" Target="/ppt/slides/slide11.xml" Id="R1089d0079fd94fd6" /><Relationship Type="http://schemas.openxmlformats.org/officeDocument/2006/relationships/slide" Target="/ppt/slides/slide12.xml" Id="Rb022dcf73c6448dd" /><Relationship Type="http://schemas.openxmlformats.org/officeDocument/2006/relationships/slide" Target="/ppt/slides/slide13.xml" Id="Rcdc3d9c2a3d54d76" /><Relationship Type="http://schemas.openxmlformats.org/officeDocument/2006/relationships/slide" Target="/ppt/slides/slide14.xml" Id="R8f6fe9cd3dea4bb4" /><Relationship Type="http://schemas.openxmlformats.org/officeDocument/2006/relationships/slide" Target="/ppt/slides/slide15.xml" Id="Ra617fe884f3d439c" /><Relationship Type="http://schemas.openxmlformats.org/officeDocument/2006/relationships/slide" Target="/ppt/slides/slide16.xml" Id="Rea76b73536b4417a" /><Relationship Type="http://schemas.openxmlformats.org/officeDocument/2006/relationships/slide" Target="/ppt/slides/slide17.xml" Id="Rd178e0caf29c4931" /><Relationship Type="http://schemas.openxmlformats.org/officeDocument/2006/relationships/slide" Target="/ppt/slides/slide18.xml" Id="Rf3b3b908c768448b" /><Relationship Type="http://schemas.openxmlformats.org/officeDocument/2006/relationships/slide" Target="/ppt/slides/slide19.xml" Id="R364d9b4d5adc49fb" /><Relationship Type="http://schemas.openxmlformats.org/officeDocument/2006/relationships/slide" Target="/ppt/slides/slide20.xml" Id="R9fe8118d8ed246d7" /><Relationship Type="http://schemas.openxmlformats.org/officeDocument/2006/relationships/slide" Target="/ppt/slides/slide21.xml" Id="Ra9e9e116be3848f9" /><Relationship Type="http://schemas.openxmlformats.org/officeDocument/2006/relationships/slide" Target="/ppt/slides/slide22.xml" Id="R25fdff45f57f4f0c" /><Relationship Type="http://schemas.openxmlformats.org/officeDocument/2006/relationships/slide" Target="/ppt/slides/slide23.xml" Id="R3affa51d4d744838" /><Relationship Type="http://schemas.openxmlformats.org/officeDocument/2006/relationships/slide" Target="/ppt/slides/slide24.xml" Id="Rb22c7be89572474f" /><Relationship Type="http://schemas.openxmlformats.org/officeDocument/2006/relationships/slide" Target="/ppt/slides/slide25.xml" Id="Rcb23130f159c4f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49d93918fa46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6d682928744ea0" /><Relationship Type="http://schemas.openxmlformats.org/officeDocument/2006/relationships/notesMaster" Target="/ppt/notesMasters/notesMaster1.xml" Id="Rac24847f6e7548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aaba5c2d4fc44fb" /><Relationship Type="http://schemas.openxmlformats.org/officeDocument/2006/relationships/notesMaster" Target="/ppt/notesMasters/notesMaster1.xml" Id="R10117f8a679d4c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ec1b8a0d56e40be" /><Relationship Type="http://schemas.openxmlformats.org/officeDocument/2006/relationships/notesMaster" Target="/ppt/notesMasters/notesMaster1.xml" Id="R853fb1c173de41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5ef64dbf4ef4dce" /><Relationship Type="http://schemas.openxmlformats.org/officeDocument/2006/relationships/notesMaster" Target="/ppt/notesMasters/notesMaster1.xml" Id="R8f4f3d12c90343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7d95bb1a271413d" /><Relationship Type="http://schemas.openxmlformats.org/officeDocument/2006/relationships/notesMaster" Target="/ppt/notesMasters/notesMaster1.xml" Id="Rc51903fe32fe4b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ae0f53c4c448d9" /><Relationship Type="http://schemas.openxmlformats.org/officeDocument/2006/relationships/notesMaster" Target="/ppt/notesMasters/notesMaster1.xml" Id="R30333a8103aa45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650d7324ce54da4" /><Relationship Type="http://schemas.openxmlformats.org/officeDocument/2006/relationships/notesMaster" Target="/ppt/notesMasters/notesMaster1.xml" Id="Ra7fd6151b28345f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f5a88231aa043b2" /><Relationship Type="http://schemas.openxmlformats.org/officeDocument/2006/relationships/notesMaster" Target="/ppt/notesMasters/notesMaster1.xml" Id="Rdb6edb583ae546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1d45be9959c4f46" /><Relationship Type="http://schemas.openxmlformats.org/officeDocument/2006/relationships/notesMaster" Target="/ppt/notesMasters/notesMaster1.xml" Id="Rdff72d09e760488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d730cd39344a1e" /><Relationship Type="http://schemas.openxmlformats.org/officeDocument/2006/relationships/notesMaster" Target="/ppt/notesMasters/notesMaster1.xml" Id="R2b99b27b1007407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92a0dee8191403e" /><Relationship Type="http://schemas.openxmlformats.org/officeDocument/2006/relationships/notesMaster" Target="/ppt/notesMasters/notesMaster1.xml" Id="R34462462ee2a4d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1371dd08d1c42f9" /><Relationship Type="http://schemas.openxmlformats.org/officeDocument/2006/relationships/notesMaster" Target="/ppt/notesMasters/notesMaster1.xml" Id="R7c619c17902b4d9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5da8a7c2e434b7a" /><Relationship Type="http://schemas.openxmlformats.org/officeDocument/2006/relationships/notesMaster" Target="/ppt/notesMasters/notesMaster1.xml" Id="R6500d0acaf93493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0d85e28f9304709" /><Relationship Type="http://schemas.openxmlformats.org/officeDocument/2006/relationships/notesMaster" Target="/ppt/notesMasters/notesMaster1.xml" Id="R612d35b42b78471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5bd869870ac4f35" /><Relationship Type="http://schemas.openxmlformats.org/officeDocument/2006/relationships/notesMaster" Target="/ppt/notesMasters/notesMaster1.xml" Id="R995f5b09e5d542f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9cd072e4c8b4987" /><Relationship Type="http://schemas.openxmlformats.org/officeDocument/2006/relationships/notesMaster" Target="/ppt/notesMasters/notesMaster1.xml" Id="R65d111555be441f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e0c611e80294d93" /><Relationship Type="http://schemas.openxmlformats.org/officeDocument/2006/relationships/notesMaster" Target="/ppt/notesMasters/notesMaster1.xml" Id="R422c8bba3f74410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3ae1de169304c43" /><Relationship Type="http://schemas.openxmlformats.org/officeDocument/2006/relationships/notesMaster" Target="/ppt/notesMasters/notesMaster1.xml" Id="R97aad87865514e6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baeeafb569f4935" /><Relationship Type="http://schemas.openxmlformats.org/officeDocument/2006/relationships/notesMaster" Target="/ppt/notesMasters/notesMaster1.xml" Id="Rba15e07c7fce43f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40a5a0b206d45b0" /><Relationship Type="http://schemas.openxmlformats.org/officeDocument/2006/relationships/notesMaster" Target="/ppt/notesMasters/notesMaster1.xml" Id="Rdaee833f8655407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a50e29119064c7d" /><Relationship Type="http://schemas.openxmlformats.org/officeDocument/2006/relationships/notesMaster" Target="/ppt/notesMasters/notesMaster1.xml" Id="R85ed76c42e794d2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5a6d67d16614901" /><Relationship Type="http://schemas.openxmlformats.org/officeDocument/2006/relationships/notesMaster" Target="/ppt/notesMasters/notesMaster1.xml" Id="R1f242a687e104c7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30a4f4225ec4a5f" /><Relationship Type="http://schemas.openxmlformats.org/officeDocument/2006/relationships/notesMaster" Target="/ppt/notesMasters/notesMaster1.xml" Id="R5e8881fa834f4c1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f710afa396149c0" /><Relationship Type="http://schemas.openxmlformats.org/officeDocument/2006/relationships/notesMaster" Target="/ppt/notesMasters/notesMaster1.xml" Id="R7836cab16057417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77da288f3e8492f" /><Relationship Type="http://schemas.openxmlformats.org/officeDocument/2006/relationships/notesMaster" Target="/ppt/notesMasters/notesMaster1.xml" Id="Rb2dd798c6bf14d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c19cd3658e49c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da5c9f82824a7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e5b9e0b66149e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466cf14d9f49d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c828c01a3541b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ab95713a2845d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EE1F0F0-4CCF-4D6E-B7C7-65342A281B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EC17C33-5207-490E-A51C-971DF8F4C36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C8C2C5D-F339-43F3-914E-3D46EA7210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2790C3-F7AC-4C7C-871B-7BCAE38B8E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B619153-DB80-418F-A172-9DC4DEA1F2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11EF80E-53F0-4F41-973F-56A98771D8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7461323-8A1B-40D3-89FD-B511AF0124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E8E707E-5EFA-4F5F-85BF-F78288251DF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114E2D0-E32D-4A5F-9139-F1D97EA9B0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DAB0D84-399C-4D3A-927F-062EC8CE9F8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cdd05120d54e5b" /><Relationship Type="http://schemas.openxmlformats.org/officeDocument/2006/relationships/slideLayout" Target="/ppt/slideLayouts/slideLayout1.xml" Id="Rce9964a1db564566" /><Relationship Type="http://schemas.openxmlformats.org/officeDocument/2006/relationships/slideLayout" Target="/ppt/slideLayouts/slideLayout2.xml" Id="Rb810cdd14990462f" /><Relationship Type="http://schemas.openxmlformats.org/officeDocument/2006/relationships/slideLayout" Target="/ppt/slideLayouts/slideLayout3.xml" Id="R4a8736e62fdd4a14" /><Relationship Type="http://schemas.openxmlformats.org/officeDocument/2006/relationships/slideLayout" Target="/ppt/slideLayouts/slideLayout4.xml" Id="R0e0aeed102d44281" /><Relationship Type="http://schemas.openxmlformats.org/officeDocument/2006/relationships/slideLayout" Target="/ppt/slideLayouts/slideLayout5.xml" Id="R56fc2975e270441e" /><Relationship Type="http://schemas.openxmlformats.org/officeDocument/2006/relationships/slideLayout" Target="/ppt/slideLayouts/slideLayout6.xml" Id="Rbda2bbb3354a4c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9964a1db564566"/>
    <p:sldLayoutId xmlns:r="http://schemas.openxmlformats.org/officeDocument/2006/relationships" id="2147483650" r:id="Rb810cdd14990462f"/>
    <p:sldLayoutId xmlns:r="http://schemas.openxmlformats.org/officeDocument/2006/relationships" id="2147483651" r:id="R4a8736e62fdd4a14"/>
    <p:sldLayoutId xmlns:r="http://schemas.openxmlformats.org/officeDocument/2006/relationships" id="2147483652" r:id="R0e0aeed102d44281"/>
    <p:sldLayoutId xmlns:r="http://schemas.openxmlformats.org/officeDocument/2006/relationships" id="2147483653" r:id="R56fc2975e270441e"/>
    <p:sldLayoutId xmlns:r="http://schemas.openxmlformats.org/officeDocument/2006/relationships" id="2147483654" r:id="Rbda2bbb3354a4c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fea52b4a2241f4" /><Relationship Type="http://schemas.openxmlformats.org/officeDocument/2006/relationships/notesSlide" Target="/ppt/notesSlides/notesSlide1.xml" Id="R79c1e8c1388041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8efeb1c86648fd" /><Relationship Type="http://schemas.openxmlformats.org/officeDocument/2006/relationships/notesSlide" Target="/ppt/notesSlides/notesSlide2.xml" Id="R6082de766f144d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fa7a485636440c" /><Relationship Type="http://schemas.openxmlformats.org/officeDocument/2006/relationships/image" Target="/ppt/media/image.png" Id="R944b090ca4bd4ec7" /><Relationship Type="http://schemas.openxmlformats.org/officeDocument/2006/relationships/image" Target="/ppt/media/image2.png" Id="R51bcb24a9a594566" /><Relationship Type="http://schemas.openxmlformats.org/officeDocument/2006/relationships/notesSlide" Target="/ppt/notesSlides/notesSlide3.xml" Id="Rc6a383ef1c3e46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a59de39a2c4bb4" /><Relationship Type="http://schemas.openxmlformats.org/officeDocument/2006/relationships/image" Target="/ppt/media/image3.png" Id="Rac6a90b0e2744ff4" /><Relationship Type="http://schemas.openxmlformats.org/officeDocument/2006/relationships/image" Target="/ppt/media/image4.png" Id="R137f3705ade943f4" /><Relationship Type="http://schemas.openxmlformats.org/officeDocument/2006/relationships/image" Target="/ppt/media/image5.png" Id="Rc0e57e1b1fb649c1" /><Relationship Type="http://schemas.openxmlformats.org/officeDocument/2006/relationships/notesSlide" Target="/ppt/notesSlides/notesSlide4.xml" Id="R2ff57c69ecfa44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1d1f5589294480" /><Relationship Type="http://schemas.openxmlformats.org/officeDocument/2006/relationships/notesSlide" Target="/ppt/notesSlides/notesSlide5.xml" Id="R73d797ef119042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6d9e2cb85e408f" /><Relationship Type="http://schemas.openxmlformats.org/officeDocument/2006/relationships/notesSlide" Target="/ppt/notesSlides/notesSlide6.xml" Id="Rfeb59de3703647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c8aa70c9d24af4" /><Relationship Type="http://schemas.openxmlformats.org/officeDocument/2006/relationships/notesSlide" Target="/ppt/notesSlides/notesSlide7.xml" Id="R3ae57319a1e74b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4a729c5a3045e5" /><Relationship Type="http://schemas.openxmlformats.org/officeDocument/2006/relationships/notesSlide" Target="/ppt/notesSlides/notesSlide8.xml" Id="R9550e877698f4fb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d4c99452ba4e42" /><Relationship Type="http://schemas.openxmlformats.org/officeDocument/2006/relationships/notesSlide" Target="/ppt/notesSlides/notesSlide9.xml" Id="R75d3c0dfa0684b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17f59cc935479d" /><Relationship Type="http://schemas.openxmlformats.org/officeDocument/2006/relationships/notesSlide" Target="/ppt/notesSlides/notesSlide10.xml" Id="Rc881da681178448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06eb52f1974466" /><Relationship Type="http://schemas.openxmlformats.org/officeDocument/2006/relationships/notesSlide" Target="/ppt/notesSlides/notesSlide11.xml" Id="Rb0615d34a5104e6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68945a029343cb" /><Relationship Type="http://schemas.openxmlformats.org/officeDocument/2006/relationships/notesSlide" Target="/ppt/notesSlides/notesSlide12.xml" Id="R71930428a0ac485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37e6de0ada49a8" /><Relationship Type="http://schemas.openxmlformats.org/officeDocument/2006/relationships/image" Target="/ppt/media/image6.png" Id="R2d5b9e4373d74ee5" /><Relationship Type="http://schemas.openxmlformats.org/officeDocument/2006/relationships/notesSlide" Target="/ppt/notesSlides/notesSlide13.xml" Id="R86cc57db5fa142a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60415c247f4e4f" /><Relationship Type="http://schemas.openxmlformats.org/officeDocument/2006/relationships/image" Target="/ppt/media/image7.png" Id="R65763df475254aa5" /><Relationship Type="http://schemas.openxmlformats.org/officeDocument/2006/relationships/notesSlide" Target="/ppt/notesSlides/notesSlide14.xml" Id="Re35cf5494d8843f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4c1f35ff4246db" /><Relationship Type="http://schemas.openxmlformats.org/officeDocument/2006/relationships/image" Target="/ppt/media/image8.png" Id="Rbe281fb26eda4858" /><Relationship Type="http://schemas.openxmlformats.org/officeDocument/2006/relationships/notesSlide" Target="/ppt/notesSlides/notesSlide15.xml" Id="R405e1440913b46d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a48f58a3df4b8b" /><Relationship Type="http://schemas.openxmlformats.org/officeDocument/2006/relationships/notesSlide" Target="/ppt/notesSlides/notesSlide16.xml" Id="R3f114fe15b764ae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909980ba224014" /><Relationship Type="http://schemas.openxmlformats.org/officeDocument/2006/relationships/notesSlide" Target="/ppt/notesSlides/notesSlide17.xml" Id="R678d48411ebf426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fafaad7a234f5f" /><Relationship Type="http://schemas.openxmlformats.org/officeDocument/2006/relationships/notesSlide" Target="/ppt/notesSlides/notesSlide18.xml" Id="Rd0450be7e2e4415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51ecd2710d4959" /><Relationship Type="http://schemas.openxmlformats.org/officeDocument/2006/relationships/notesSlide" Target="/ppt/notesSlides/notesSlide19.xml" Id="Rda68c68a6b9947d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738ff2423a4511" /><Relationship Type="http://schemas.openxmlformats.org/officeDocument/2006/relationships/notesSlide" Target="/ppt/notesSlides/notesSlide20.xml" Id="Re6c470a95ada49e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13237d26004452" /><Relationship Type="http://schemas.openxmlformats.org/officeDocument/2006/relationships/notesSlide" Target="/ppt/notesSlides/notesSlide21.xml" Id="R8b17aa0e7db24ba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2561d5c9b54e19" /><Relationship Type="http://schemas.openxmlformats.org/officeDocument/2006/relationships/notesSlide" Target="/ppt/notesSlides/notesSlide22.xml" Id="Rfe0c145c45084ab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962379aa9b44e3" /><Relationship Type="http://schemas.openxmlformats.org/officeDocument/2006/relationships/notesSlide" Target="/ppt/notesSlides/notesSlide23.xml" Id="R8baa38d53aaf484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db212b7aeb46f3" /><Relationship Type="http://schemas.openxmlformats.org/officeDocument/2006/relationships/notesSlide" Target="/ppt/notesSlides/notesSlide24.xml" Id="Rb652f5879d794c3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0c1d73776748c5" /><Relationship Type="http://schemas.openxmlformats.org/officeDocument/2006/relationships/notesSlide" Target="/ppt/notesSlides/notesSlide25.xml" Id="R287cdb82173d492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70195A-B843-4FBF-8ADC-E7176048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4EE581-3F3A-4583-9E88-D6A9AA17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05C48-EF35-4575-843F-0651FEB9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600075" cy="600075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5CB41-BDA5-4019-94CF-C70CAAAC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8102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476"/>
          </a:bodyPr>
          <a:lstStyle xmlns:a="http://schemas.openxmlformats.org/drawingml/2006/main">
            <a:defPPr algn="ctr">
              <a:defRPr sz="26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6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EC4BD5-E589-4381-8BBF-C5CD1BFC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6191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DH 308  /  FINAL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CFBE8B-67CE-442A-8DEF-5B4CB936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962150"/>
            <a:ext cx="9810750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4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Designing a hospital</a:t>
            </a:r>
          </a:p>
          <a:p xmlns:a="http://schemas.openxmlformats.org/drawingml/2006/main">
            <a:pPr algn="l">
              <a:defRPr sz="4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billing system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1677AD-07A4-41E0-BCE0-0A82C908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81450"/>
            <a:ext cx="93821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A prototype for Indian hospitals that connects clinical care, lab tests, pharmacy and the final bill.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BEF919-5033-4320-BB76-0ED3CFF7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53025"/>
            <a:ext cx="10820400" cy="885825"/>
          </a:xfrm>
          <a:prstGeom xmlns:a="http://schemas.openxmlformats.org/drawingml/2006/main" prst="roundRect">
            <a:avLst>
              <a:gd name="adj" fmla="val 7527"/>
            </a:avLst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E7CA28-CE70-4A02-A12B-BF65D16B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00675"/>
            <a:ext cx="2619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Doctor encounter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736A7B-53E8-4557-AAD7-4127B3735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400675"/>
            <a:ext cx="2047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Lab result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684DC8-D4DC-49C8-9096-C7155379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400675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Pharmacy dispense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812AA9-C7E0-42CE-AB30-7A5E0C635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400675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Itemised bill</a:t>
            </a:r>
          </a:p>
        </p:txBody>
      </p:sp>
    </p:spTree>
    <p:extLst>
      <p:ext uri="{BB962C8B-B14F-4D97-AF65-F5344CB8AC3E}">
        <p14:creationId xmlns:p14="http://schemas.microsoft.com/office/powerpoint/2010/main" val="9274768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5B1E2C-8AF4-42F9-A27E-78A14570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A36AB5-1BDF-4D81-A46F-E15AAB01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DE15AF-C1F7-4CD7-A0CF-B58F55F6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Project scope and billing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339EA7-814B-4519-9BC8-FA05EF74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AEE80-C4AD-4085-B9FD-3E8E20A5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985F3D-4BBE-41CE-8D0A-5780E823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29516D-0858-410F-907B-81FE6EB4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9725"/>
            <a:ext cx="10287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>
            <a:defPPr algn="l">
              <a:defRPr sz="21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billing system receives completed work from the HIS and links every charge to one encounter.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8B94F2-C2E3-472C-B166-9101A451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67000"/>
            <a:ext cx="2524125" cy="2047875"/>
          </a:xfrm>
          <a:prstGeom xmlns:a="http://schemas.openxmlformats.org/drawingml/2006/main" prst="roundRect">
            <a:avLst>
              <a:gd name="adj" fmla="val 3256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217A2A-A979-47E1-A362-B969588F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175877-056E-4BBC-BCC6-F774DFE6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5D0D47-98CD-4851-AC6B-DD2C6BA1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67100"/>
            <a:ext cx="21812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2B1D56-E5DB-4A1A-9932-4A76775F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95725"/>
            <a:ext cx="21812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Records the admission, diagnosis and orders.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C65C4D-E50B-49D1-BB23-214FC35F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667000"/>
            <a:ext cx="2524125" cy="2047875"/>
          </a:xfrm>
          <a:prstGeom xmlns:a="http://schemas.openxmlformats.org/drawingml/2006/main" prst="roundRect">
            <a:avLst>
              <a:gd name="adj" fmla="val 325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9C1CFF-29FD-422D-890A-BFB21A62D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50C3E5-461D-4824-B33E-6AF7C479D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09782C-2825-4C0F-BE26-C19571B4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467100"/>
            <a:ext cx="21812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Lab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0650F8-C1CA-49BF-A09E-3CD63D64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895725"/>
            <a:ext cx="21812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Records the result and completed test.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23A29F-A4B1-4C73-9EE3-623E6D91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67000"/>
            <a:ext cx="2524125" cy="2047875"/>
          </a:xfrm>
          <a:prstGeom xmlns:a="http://schemas.openxmlformats.org/drawingml/2006/main" prst="roundRect">
            <a:avLst>
              <a:gd name="adj" fmla="val 3256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0E674F-9E50-4C37-A1AC-1D1C1D8E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970681-6B2D-4623-9CBF-B03173EB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3D1AD6-EB61-4A33-8595-A0D83ED4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67100"/>
            <a:ext cx="21812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01B533-A0E2-4229-8D77-ACDBFE5C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95725"/>
            <a:ext cx="21812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Dispenses against a prescription and stock batch.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F2F70F-1053-49C6-9A09-D10B2C4F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667000"/>
            <a:ext cx="2524125" cy="2047875"/>
          </a:xfrm>
          <a:prstGeom xmlns:a="http://schemas.openxmlformats.org/drawingml/2006/main" prst="roundRect">
            <a:avLst>
              <a:gd name="adj" fmla="val 325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1DB31C-341B-4D17-A673-D08E70F5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A637F2-C9BC-41FF-9032-E46194D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4FE1F2-C24F-4280-A17E-B4299457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3467100"/>
            <a:ext cx="21812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EDE1C9-0825-401B-A3AA-D8217717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3895725"/>
            <a:ext cx="21812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Adds the room stay and issues one invoice.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C92A81-F527-498E-94E3-D7CA4518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62550"/>
            <a:ext cx="10753725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BD3BCA-C8BA-4698-91CC-4917CBE7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14950"/>
            <a:ext cx="1019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key: one patient encounter</a:t>
            </a:r>
          </a:p>
        </p:txBody>
      </p:sp>
    </p:spTree>
    <p:extLst>
      <p:ext uri="{BB962C8B-B14F-4D97-AF65-F5344CB8AC3E}">
        <p14:creationId xmlns:p14="http://schemas.microsoft.com/office/powerpoint/2010/main" val="20087473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0EAEF2-3BA7-4162-8004-2292DC8D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F7FB29-975F-403A-9751-2B1589D4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7D454F-E372-42D1-B8FF-44C3F1D6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Source bills: OPD tests and pharmacy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758101-D0AA-4949-80AF-D37446B4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5FBD7-C023-4F1F-A882-822A3592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32C8AF-C887-4895-82CF-39C755BA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A95AB5-6D06-491E-BA0E-C9B86C06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52575"/>
            <a:ext cx="10382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KIMS bills show a service code and amount for each test, plus separate tax fields on a pharmacy invoice.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66B97D-9411-4D6A-976B-5799AD99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OPD diagnostics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722DB4-E5DF-42F3-BD98-5217328F6C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4b090ca4bd4ec7"/>
          <a:stretch xmlns:a="http://schemas.openxmlformats.org/drawingml/2006/main"/>
        </p:blipFill>
        <p:spPr>
          <a:xfrm xmlns:a="http://schemas.openxmlformats.org/drawingml/2006/main">
            <a:off x="1945645" y="2571750"/>
            <a:ext cx="8186410" cy="132397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3CD5C9-024D-452E-A205-82672BE5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428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CBC  ₹790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E58359-0C15-40AA-9E8C-1AAB6B59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000500"/>
            <a:ext cx="2333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CRP  ₹890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11AB42-BD93-4C75-BB4A-D610171C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00050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Dengue NS1  ₹2,490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FAD1B9-EAE9-43AA-A951-B8D6B322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6722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1886FC-8854-49A3-93C4-D86B14DA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Pharmacy GST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05E0D9-C655-4087-A1F2-35B9AAAA79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cb24a9a594566"/>
          <a:stretch xmlns:a="http://schemas.openxmlformats.org/drawingml/2006/main"/>
        </p:blipFill>
        <p:spPr>
          <a:xfrm xmlns:a="http://schemas.openxmlformats.org/drawingml/2006/main">
            <a:off x="2331944" y="4981575"/>
            <a:ext cx="7413812" cy="7620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DB8F3E-53BE-4F77-8F15-EA3C8EF1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53100"/>
            <a:ext cx="105251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Taxable value ₹4,801.38. CGST and SGST are 2.5% each. Receipt ₹5,041.45.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A11FA9-CAE2-400E-979D-FD0A4F5F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De-identified crops from the supplied KIMS bill pages. Values above are transcribed from the scanned documents.</a:t>
            </a:r>
          </a:p>
        </p:txBody>
      </p:sp>
    </p:spTree>
    <p:extLst>
      <p:ext uri="{BB962C8B-B14F-4D97-AF65-F5344CB8AC3E}">
        <p14:creationId xmlns:p14="http://schemas.microsoft.com/office/powerpoint/2010/main" val="1469044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ED5EDD-8AD7-4975-8C91-1B573C69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34A00C-C42E-44C6-9569-ED64C993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41E246-6B0E-4595-9476-15D70C81D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Source bills: Apollo inpatient account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EA53B-2BAF-4843-9F32-7C9D8A0B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9D6D68-C091-4726-BE5F-5508DE1F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74BFE9-2853-4B84-9A94-D815785F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4AEBD-A538-4CB6-956E-8C26689A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52575"/>
            <a:ext cx="104298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IPD account combines department charges, pharmacy lines, bed history and a separate payment receipt.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CDBFF2-0ABB-4471-966F-F147C61E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90750"/>
            <a:ext cx="6410325" cy="2219325"/>
          </a:xfrm>
          <a:prstGeom xmlns:a="http://schemas.openxmlformats.org/drawingml/2006/main" prst="roundRect">
            <a:avLst>
              <a:gd name="adj" fmla="val 2146"/>
            </a:avLst>
          </a:prstGeom>
          <a:solidFill xmlns:a="http://schemas.openxmlformats.org/drawingml/2006/main">
            <a:srgbClr val="F6F8F8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9F9D89-D64E-45BF-8A65-0C3B528F8B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6a90b0e2744ff4"/>
          <a:stretch xmlns:a="http://schemas.openxmlformats.org/drawingml/2006/main"/>
        </p:blipFill>
        <p:spPr>
          <a:xfrm xmlns:a="http://schemas.openxmlformats.org/drawingml/2006/main">
            <a:off x="755423" y="2238375"/>
            <a:ext cx="6328229" cy="20764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4DEC81-36F9-4873-9267-06D3333D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49580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Final payable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D7C085-2981-4A36-BFCB-6CF02A27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495800"/>
            <a:ext cx="2924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Separate receipt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05C86-2889-44EF-831E-0C416777BA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7f3705ade943f4"/>
          <a:stretch xmlns:a="http://schemas.openxmlformats.org/drawingml/2006/main"/>
        </p:blipFill>
        <p:spPr>
          <a:xfrm xmlns:a="http://schemas.openxmlformats.org/drawingml/2006/main">
            <a:off x="757775" y="4819650"/>
            <a:ext cx="2865950" cy="866775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CC3841-B73C-4117-ACC4-DF95CE4880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e57e1b1fb649c1"/>
          <a:stretch xmlns:a="http://schemas.openxmlformats.org/drawingml/2006/main"/>
        </p:blipFill>
        <p:spPr>
          <a:xfrm xmlns:a="http://schemas.openxmlformats.org/drawingml/2006/main">
            <a:off x="3924300" y="4885350"/>
            <a:ext cx="3067050" cy="735375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425643-FD7F-42A8-8A16-B5E671C9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76475"/>
            <a:ext cx="3876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01   Consultation charges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E2F85D-BDDF-482B-819D-D62F06C9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600325"/>
            <a:ext cx="3848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₹9,500 on the account page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81FA2A-F9DE-495C-B7E7-F5953D20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076575"/>
            <a:ext cx="3876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02   Emergency services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5E2F0D-9F15-4F23-A739-B40F3ECF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400425"/>
            <a:ext cx="3848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₹5,280, plus a ₹430 procedure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DF09D5-6EA8-4D81-8859-0089501E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3876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03   Pharmacy and bed history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FA192B-59BA-482B-A2AE-62900DD8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200525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Three medicine lines total ₹790.03.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E9C4C1-DEE6-4FB8-ABC6-147BC1A3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476750"/>
            <a:ext cx="3905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Bed dates and categories appear separately.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CF1A95-9E05-4078-8A12-477C1EBD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191125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payable and receipt remain distinct records.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B2FC0E-8617-454E-B646-BBDCBBC1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De-identified crops from supplied Apollo IPD bill and receipt pages. Values are transcribed from the scanned documents.</a:t>
            </a:r>
          </a:p>
        </p:txBody>
      </p:sp>
    </p:spTree>
    <p:extLst>
      <p:ext uri="{BB962C8B-B14F-4D97-AF65-F5344CB8AC3E}">
        <p14:creationId xmlns:p14="http://schemas.microsoft.com/office/powerpoint/2010/main" val="18513359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9B8CEBA-EBD3-463D-9EBF-BC00F4BE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8903B1-1504-48EE-8E24-88C24A00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766CE8-C3E5-4610-94B7-8791AFCA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Billing patterns in the 19 source pages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9FB690-C986-455E-8019-905C0413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614D63-B304-435A-BBE7-25156009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215EEA-8876-42BB-B046-3DCD9656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248CF3-CAF3-4E6A-A50A-4B7EE526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24000"/>
            <a:ext cx="1038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scans cover different visit and payment situations. Related pages are grouped below.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9AAC9F-FED2-4EFB-BDE8-08454E6F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57400"/>
            <a:ext cx="2476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SOURCE GROUP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5AD974-46EF-4A4B-874B-872D123B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057400"/>
            <a:ext cx="457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READABLE OBSERVATION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624D1E-BEC8-4CF1-B25B-DE90EA27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057400"/>
            <a:ext cx="34194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REQUIREMENT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9E0DEE-9C28-4ED2-B593-88A5C0B7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10725150" cy="51435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044466-C804-4D9E-A412-C8BFEF45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33650"/>
            <a:ext cx="2400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KIMS consultations (4)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5FB2B9-68E9-4787-A933-66E72046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514600"/>
            <a:ext cx="4467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₹650 and ₹750 consultation receipts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2C763F-06AA-4702-8412-61423B48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514600"/>
            <a:ext cx="3305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Doctor and visit tariff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B5EB43-A053-413D-8095-29A27CD8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10725150" cy="51435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26F5F2-03EA-4996-BBCA-6BF789B7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14675"/>
            <a:ext cx="2400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KIMS diagnostics (6)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7E66C3-3F52-4889-9951-8C10208D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095625"/>
            <a:ext cx="4467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Pelvic scan ₹1,880; CBC, CRP and NS1 total ₹4,170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0543FB-07C4-4553-85E7-2BD3B5D5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95625"/>
            <a:ext cx="3305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Service code and department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D7F274-C5D6-4F62-B533-F2690205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10725150" cy="51435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DECC9A-8FA5-4E1F-975E-CFD0F34E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695700"/>
            <a:ext cx="2400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KIMS pharmacy (2)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401DA8-E0AF-48EE-9599-8007E80A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676650"/>
            <a:ext cx="4467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₹40 and ₹5,041.45 receipts; HSN, batch and split GST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759FA3-B06F-4B13-9FFF-86EBF911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676650"/>
            <a:ext cx="3305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Stock and product tax rule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E00511-FA87-446F-9C58-D4A95BF1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62425"/>
            <a:ext cx="10725150" cy="51435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6E5CC5-5945-4B8E-9D9B-C7D02812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76725"/>
            <a:ext cx="2400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KIMS registration (1)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88F255-3AF4-4651-B394-68D7E6D7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257675"/>
            <a:ext cx="4467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₹150 receipt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C99C5A-4DE6-4886-BBDC-75EE2A95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257675"/>
            <a:ext cx="3305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Payment record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8ABBE1-D93A-4493-9CEC-011E0C7B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43450"/>
            <a:ext cx="10725150" cy="51435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25367D-D379-43B2-8F63-DC43A6D4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57750"/>
            <a:ext cx="2400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Apollo OPD (2)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B8D8F1-4661-4F71-B190-A013C954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838700"/>
            <a:ext cx="4467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₹1,000 consultation bills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FA4782-E04A-4A66-AF31-685EF9E4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838700"/>
            <a:ext cx="3305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OPD invoice and payment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464982-F07E-44C8-AE9E-D7A86EC6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24475"/>
            <a:ext cx="10725150" cy="51435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CEFA72-D9C9-4E30-B4F8-67FB5F32D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438775"/>
            <a:ext cx="2400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Apollo IPD (4)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FDE7B3-C963-4EB4-BFA4-3BD83748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5419725"/>
            <a:ext cx="4467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₹66,153 payable; separate ₹5,779 receipt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2091DCA-2062-4F56-BB10-C8EC0AAA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5419725"/>
            <a:ext cx="3305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Running bill and settlement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300326A-48F4-4150-BC3B-08CDA964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13 KIMS and 6 Apollo scanned pages supplied for the project. Amounts shown only where the scan is legible; no patient identifiers appear.</a:t>
            </a:r>
          </a:p>
        </p:txBody>
      </p:sp>
    </p:spTree>
    <p:extLst>
      <p:ext uri="{BB962C8B-B14F-4D97-AF65-F5344CB8AC3E}">
        <p14:creationId xmlns:p14="http://schemas.microsoft.com/office/powerpoint/2010/main" val="12873831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63AECF-118A-4022-AAA5-C29776E3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570FE-D01A-4469-B668-D2972690C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D9DD31-5B11-4F19-966B-518C463A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Problem statement and objectives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7FD7B9-617D-4DC6-99C8-DFB9CB65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CC15CB-1737-4C6E-95B0-1D825246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7E2E60-B32E-4200-9F55-12DA8373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04EA7C-443F-4C91-899D-8B18F3E2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734675" cy="895350"/>
          </a:xfrm>
          <a:prstGeom xmlns:a="http://schemas.openxmlformats.org/drawingml/2006/main" prst="roundRect">
            <a:avLst>
              <a:gd name="adj" fmla="val 7447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87FD61-9A86-4722-A20E-1943E194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430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FE063C-B3EF-4D42-9B54-DDAE81BE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704975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service can be missed, repeated, charged at the wrong tariff, or confused with a payer approval.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382B69-7F7D-4D4C-ABF1-D27C035D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129698-B916-4BBF-9AE8-F5E4BEB5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84615F-F720-4F9D-86E0-1BEEC5B2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BD5004-9542-4C53-8C99-E8DBB883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Capture once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1451E3-7FE0-4250-9844-2C6CA3F5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Reject a repeated HIS event ID.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CF8D28-47BC-4579-9183-22787ABA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3E6743-F626-468F-B938-2778E2A7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FFEC93-9183-410B-ACF1-3C031F584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6A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9227C4-37FD-4D27-90A7-010AFEE3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Use the right rate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0BFE1B-2ED4-4178-9435-E5D66010F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Snapshot the payer tariff on the charge.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7D6396-4150-417D-BA01-91C5F2BE7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660906-CA95-4817-A669-6DA3B21B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4F7D20-82E7-447C-B85E-235668A0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5B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F68979-A95E-46BB-8BEA-6831569C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Explain the bill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13CEF4-6176-45E0-81F3-04DEE471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Show item, quantity, GST and total.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4ACF1D-9E57-407F-A1BB-953219E6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455125-B787-4EE4-96A8-E1C3CF20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545ABC-3FEA-4BC4-8A2D-AAEA01BB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A3A4BD-5963-421B-8317-3E0674445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Track money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8E2A3B-5137-4770-B5C1-6AEA578F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Keep claims and actual receipts separate.</a:t>
            </a:r>
          </a:p>
        </p:txBody>
      </p:sp>
    </p:spTree>
    <p:extLst>
      <p:ext uri="{BB962C8B-B14F-4D97-AF65-F5344CB8AC3E}">
        <p14:creationId xmlns:p14="http://schemas.microsoft.com/office/powerpoint/2010/main" val="12885396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B17473-D588-494B-A923-CB6D815B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FC84FF-CC40-410E-A14D-39A93491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1C0859-46D7-4C27-94EB-C458DBDE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Existing gaps and why they occur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B04279-C70F-474F-BB17-1877840D2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41D350-9766-4717-8F56-FC4C752D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F74815-3D8B-4131-BA91-2A988529A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D213F1-345F-46E7-B129-0C8C8CC89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972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Gap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B7F03A-B694-47CF-BCEE-43D357F3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09725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Reason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3CB456-F69C-4AE2-B8A5-E63E4E4E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609725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Design response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8282FD-ADB4-401A-AC26-F5825437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28825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6F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11DBDA-62A7-4A39-9F69-BAECB0B6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D9F4E3-B8F6-4F84-8B75-06B361EA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860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F09980-5C47-4E25-8B52-24BB8EA0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383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Missing service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08403D-69EA-4CF3-9A95-8BF3E08E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71700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Manual handoff between care and billing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113118-2234-4293-9374-DE373501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171700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Doctor event posts a charge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61A080-55F2-4CF6-B69A-507FB724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814540-8ED4-4472-8D14-994C6E9F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52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73B8E6-F0B8-493F-8CEC-89638CCCC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2289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11CABC-1D5B-4A03-837B-CD3820CA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1813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Wrong amount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70562F-1543-41B6-B0C5-536C9BFB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1467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Different payer rate cards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3722D7-1D35-4B5E-A520-CA5564BA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114675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Rate chosen at capture time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131E59-3053-4424-968E-48882F441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14775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6F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0FB7F8-A9A5-45D2-80C0-8487E1FB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0957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573C95-059D-4796-867E-5DB91236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171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0E8B9D-2C2F-4C2C-96F3-8708B32A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243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Payment confusion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994831-C9DF-4875-B13F-7A49E3F6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57650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Approval treated as collection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36F732-5255-415A-A835-E53E9FD8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4057650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Claim and receipt stored separately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7FA4E7-89CF-4EA7-9928-D0CF3977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F9E505-C743-428C-981A-40C6EA79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387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24FD2D-BAC4-4072-B816-5C5C0ED2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149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E171AD-DA43-4550-A2C9-A355C3494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Discharge delay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503D77-9C90-42D7-A8B7-75CD5B80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00062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Charges assembled at the end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E32B1C-F2C1-4FB9-82D6-8B5025C2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5000625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Running bill stays current</a:t>
            </a:r>
          </a:p>
        </p:txBody>
      </p:sp>
    </p:spTree>
    <p:extLst>
      <p:ext uri="{BB962C8B-B14F-4D97-AF65-F5344CB8AC3E}">
        <p14:creationId xmlns:p14="http://schemas.microsoft.com/office/powerpoint/2010/main" val="8442281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75288-DEFB-45DC-B431-485C63BA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FF378C-48FD-41A8-92A2-222F8D8C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189515-D114-4867-9039-7F38DCDF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Evidence behind the billing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F1CFB-0064-4B36-8071-E46CC48A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07D18B-19BE-4243-9E9D-0B275402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769609-783D-414D-9E06-766D8B31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149A86-1EFF-45C0-84A7-9CCDF0ED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6668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F2CCB0-3B71-4BD3-8CD3-17366E46A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430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F4A274-69CF-4197-828B-D20C6708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60020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34D454-17E9-4036-9984-D4AE7D19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049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Itemised billing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B2B13F-FA6D-40A4-BF2C-827353E5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69545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Patients’ Rights Charter supports a clear charge list and receipt for the patient.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2CB20D-5E81-4E8E-BACF-47F82623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24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BE8020-11E8-41F0-B1D7-8CED2AE9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003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EA41A6-6C07-40AE-B081-D4EE4499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5747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4F8CDC-EECD-4965-AB50-0845B1F4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622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Charge versus invoice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DDE3AD-204D-4E4B-BD3A-A0251E6E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5272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HL7 FHIR separates a performed ChargeItem from the priced lines of an Invoice.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16D239-029C-4960-B57A-8E41B629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7814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85C7E0-78C1-42A3-8E22-1301CBD0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576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C4310C-5113-4EC8-A971-2C758C3F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1475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67038A-317C-4B5F-B206-20789F5F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1952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Payer workflow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F3A7F2-6817-4259-A406-7E0A13DE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000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IRDAI describes preauthorisation for cashless care; NHA uses package rules for PM-JAY.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5CF7F6-E22D-4061-9C3F-1FFA3C8B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38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0560D0-9BA6-4970-B166-59FE7BC0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14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B0C9CE-6D59-4D5D-8D33-1660D2BC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7720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62339E-38C6-4A58-8A69-E724A285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768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HIS data model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0DEC27-1A52-4761-93CF-D967F2B4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672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Course lectures on ER, ICD-10 and HL7 informed the encounter and code fields.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90724A-F813-4BE6-9DF3-7F755F4B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Sources: MoHFW, HL7 FHIR R4, IRDAI, NHA and DH 308 course material. Full references are on the final slide.</a:t>
            </a:r>
          </a:p>
        </p:txBody>
      </p:sp>
    </p:spTree>
    <p:extLst>
      <p:ext uri="{BB962C8B-B14F-4D97-AF65-F5344CB8AC3E}">
        <p14:creationId xmlns:p14="http://schemas.microsoft.com/office/powerpoint/2010/main" val="9122459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7417DC-B73D-4727-8958-037A61C6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CD2EF0-6E80-4873-9F27-E41991C6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C8B751-4796-421B-9077-8A720BA6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Clinical and billing codes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6E8CDC-8676-4221-81B3-11946B99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6C92A-A1D0-46B8-98E6-B2BA22C7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0D6BDF-327E-47C4-BA6D-95D8BAF16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306CD5-3A3A-4184-8A49-5ECB03F6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Different codes answer different questions. The system stores each code with its source.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4F4877-FBE2-4B67-8DDA-9938E770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95500"/>
            <a:ext cx="2286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E2116D-B277-435A-9D45-6AEA041A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95500"/>
            <a:ext cx="3619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MEANING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C13670-7C47-4EA9-9DB0-5743FD48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95500"/>
            <a:ext cx="419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USE IN THIS DESIGN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799274-61E3-49A2-BA4E-3B867DD5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2F4841-BAA4-4426-BE49-16C31B81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90800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ICD-10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C9ACFA-A0F2-4FDC-A3D5-892ECFBF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90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Why was care needed?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F00FE9-E544-458F-A47C-4A93B52C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71750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Doctor diagnosis and claim context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04871-0B5B-4DA1-9124-6E3D049B4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C26651-A0E4-4F99-8919-404DDC5B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52775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Service code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BB6493-B639-40A5-BBF3-7A775A37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5277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was done?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5027C-58D9-44D0-8091-3A1D086D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33725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KIMS bill examples: PAT0042, BIO0121, MIC0251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F77B78-BD63-4AC8-9345-23407137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03C59C-34D3-4AE4-B004-76E64ABD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714750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CPT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5D7707-6DCF-467A-AA22-F1B2A63F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14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External procedure mapping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4FF7AA-C279-4C1F-9D0A-F06B15E8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95700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Optional licensed mapping, not the default Indian tariff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B0B6FD-F94B-44A5-B850-2264E3B4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62425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077F96-1B58-4717-9CB1-C773E23E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76725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LOINC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B9DF38-383C-4E27-933F-F7CCA5F8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7672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Which lab observation?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681A75-AFA5-4735-8B56-432945DFE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257675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HbA1c result uses 4548-4 in the demo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1DE2E9-63C4-497C-BA22-A8AFF4F2F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24400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C223F3-3382-4ED7-BE04-3A51BCFC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38700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HSN / SAC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560911-2EAF-4645-B9F8-7F952410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387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is the GST class?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A9270E-FEF9-47ED-8DA1-65470F2D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19650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Pharmacy goods and billable service classification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982250-54B6-41E7-AF05-49A2FAAC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7E17EE-FF91-4AAB-81E8-FD34566B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400675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PM-JAY HBP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D8434C-5ED4-48B9-A3CF-BF7213D0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0067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Which scheme package?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C7819C-4D4D-491B-A92A-E631F7A0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381625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Rate and claim route for an empanelled case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872E39-C1F3-4E8A-8C83-E465F16D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WHO ICD; MoHFW EHR standards (CPT is optional and licensed); DH 308 ICD/LOINC lecture; NHA HBP manual. Service codes are from the supplied KIMS bill.</a:t>
            </a:r>
          </a:p>
        </p:txBody>
      </p:sp>
    </p:spTree>
    <p:extLst>
      <p:ext uri="{BB962C8B-B14F-4D97-AF65-F5344CB8AC3E}">
        <p14:creationId xmlns:p14="http://schemas.microsoft.com/office/powerpoint/2010/main" val="2178140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0F08D0-DDA1-4A6A-AD7D-B596A9A6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8F751D-70D8-4AA2-A2D5-693D545F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8E7BE9-8A7E-450B-AFA6-EA7CD8AC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GST rules the prototype applies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8BF33D-7384-4D8E-8769-6BCF9071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7E3302-F558-40E0-B408-005927AC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C6B77-F46D-40B4-9D3A-F4F3E856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12730A-F910-4F3A-BFEC-CBCF6364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tariff stores tax treatment by item and supply context.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FAE5B4-28A2-40CE-9972-66BA6549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43125"/>
            <a:ext cx="10744200" cy="6477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3E26FC-EE0E-452C-A951-00C2E4C4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05050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Clinical care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12ACA2-8F11-42A9-A4EB-76CEE2FB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2860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Qualifying consultation and treatment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3A188D-261B-4231-B239-8835217B5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95525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Exempt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658D59-6334-4796-865A-81DF22B1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24175"/>
            <a:ext cx="10744200" cy="6477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6BE3ED-437A-4D78-B620-7E808B12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Separate OPD medicine sale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78A8FA-0F98-41EF-8D65-C49B90B0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670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KIMS pharmacy sample: ₹4,801.38 taxable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B22FD7-0BDE-49E6-BA3F-72266A3F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076575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5% GST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8C7B2F-49D7-4B6B-98B2-7F1AC74F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05225"/>
            <a:ext cx="10744200" cy="6477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871B27-D968-4315-87E8-83AB910B5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67150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Notified nil-rated medicine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B294B3-4C8C-48A4-BF17-CA67D6BB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8481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Rate follows the product classification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AE942F-70D9-490D-A61E-C0294534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57625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Nil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17E46A-98E5-4133-B48F-D8A65534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10744200" cy="6477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32B9AB-BB25-47D6-BDA8-625F063E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48200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Specified non-ICU room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9068D5-0162-4DC4-B89C-F7E7A606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6291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Example: ₹6,000 per day, above ₹5,000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D1146A-5117-4651-921C-EB3CD002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38675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5%, ₹300 tax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FF437C-7BA3-4A2A-8098-812E3BCE5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81625"/>
            <a:ext cx="10620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Inpatient medicines supplied as part of qualifying hospital care need a composite-supply review; the OPD pharmacy rate is not applied automatically.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8704A3-FD21-45EB-ABB2-E870AA02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GST Council 2025 medicine FAQ; CBIC service rate entry 31A (5% without ITC); notification 12/2017 and inpatient AAR orders.</a:t>
            </a:r>
          </a:p>
        </p:txBody>
      </p:sp>
    </p:spTree>
    <p:extLst>
      <p:ext uri="{BB962C8B-B14F-4D97-AF65-F5344CB8AC3E}">
        <p14:creationId xmlns:p14="http://schemas.microsoft.com/office/powerpoint/2010/main" val="213584679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1C6CE9-0489-4AB2-BD11-B07230E8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324FFA-BA4A-4901-86D9-400B695E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9CFC1-6BDB-41DA-9BFE-D2CAE547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System modules and integration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9BBAEB-EC59-433E-9395-A3D91A77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F023B7-44E7-4D9A-8EF1-FF5901E8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07ABF1-B557-4972-8808-474AF5C9B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08E8D3-3C0A-4930-9298-347B02D3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81150"/>
            <a:ext cx="10363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Four desks work on the same encounter. FastAPI checks each write before PostgreSQL stores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27D757-C18C-4AD5-9F30-17C0AEB5B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3276600" cy="1057275"/>
          </a:xfrm>
          <a:prstGeom xmlns:a="http://schemas.openxmlformats.org/drawingml/2006/main" prst="roundRect">
            <a:avLst>
              <a:gd name="adj" fmla="val 6306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E5AF9-2ABD-4B6E-9539-DC4B78FC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306CD5-4A15-4487-9EBC-B8B5CFAF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Note, ICD-10, service, prescription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DB749C-1CEB-4968-95A1-868627E3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495550"/>
            <a:ext cx="3276600" cy="1057275"/>
          </a:xfrm>
          <a:prstGeom xmlns:a="http://schemas.openxmlformats.org/drawingml/2006/main" prst="roundRect">
            <a:avLst>
              <a:gd name="adj" fmla="val 630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13277B-943E-4221-B12F-DFD8A1E1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260CBF-21FC-4816-9FB7-34AD52DC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76575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Prescription, batch, dispense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5D6B4A-6D0B-4BA0-B4E2-F9F8430A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95550"/>
            <a:ext cx="3276600" cy="1057275"/>
          </a:xfrm>
          <a:prstGeom xmlns:a="http://schemas.openxmlformats.org/drawingml/2006/main" prst="roundRect">
            <a:avLst>
              <a:gd name="adj" fmla="val 630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B6E5C2-9027-44AB-9C53-BE127C6E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6247DB-C5F2-496D-A6F2-324EE19A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76575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Room, payer, invoice, receipt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F7C73A-2B38-4B27-9409-934B08E4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100965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6DACD2-E710-451B-A9F2-AE383CEC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1719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FastAPI: access checks, charge capture, tax rules, claim state and invoice lock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7B5A29-8E34-4AAE-9CAD-68C872D7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153025"/>
            <a:ext cx="6315075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899A48-59C0-40E5-83B2-88230539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334000"/>
            <a:ext cx="5962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PostgreSQL: linked records and audit events</a:t>
            </a:r>
          </a:p>
        </p:txBody>
      </p:sp>
    </p:spTree>
    <p:extLst>
      <p:ext uri="{BB962C8B-B14F-4D97-AF65-F5344CB8AC3E}">
        <p14:creationId xmlns:p14="http://schemas.microsoft.com/office/powerpoint/2010/main" val="5242262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D347E7C-5105-49F3-947B-820BB5D6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5A10C7-9BA2-4C28-9C0C-ACC08A8A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6FB9BC-2A77-41B4-9144-18D02AC0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Database schema: the useful links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EFDD81-CCBD-4132-8A9F-F4217D4A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C1FAB1-05B9-4629-AEBE-DA3C0B33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DADCFA-E515-4CD9-88BA-D03F3B3C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00098-7BE9-4210-9C25-9A359BCB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CARE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5871FB-4135-4C5E-A35D-2D91A221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6692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E1A468-6084-4756-BAA6-E6341767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6217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patients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8800D1-F9A7-4D03-82F9-EB10B0F5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patient_id (PK)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473115-C276-449A-A566-88728C6B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F3FA1D-57D0-46C2-B393-4A49BA0B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encounters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94CCE2-E818-4347-95A1-7D0EB66F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8612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(PK), patient_id (FK)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CCD583-3DE2-4960-B84D-2BDB2B23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04F137-ED3E-41B3-955F-69B8F59B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5762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clinical_notes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675ABC-4D7C-4C7D-A2BE-F9C2526F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ICD-10, procedure code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039573-2D47-416B-B9CC-62405C5EB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7C541B-0B8C-4D17-ADF2-938D209A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prescriptions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06BC75-86CC-41F0-BDF2-DCF3D149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815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pharmacy item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76363E-2C10-4BB9-80B3-E11454E7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638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186415-F3C0-41D6-95AD-8106A74CC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06692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90B851-AF2B-4FCD-9941-B691A88E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6217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services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315F86-D2E6-4CF9-80E7-543D8463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3840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service_code (PK), tariff, tax rule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35BFAD-86CA-4360-BCAA-ABDF3090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91465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C3D6C9-95C0-465E-9E7A-70128E94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00990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charges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411B5C-A3BA-4486-82A5-6257016D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28612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charge_id (PK), encounter_id (FK), event 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14435A-988E-4521-81C8-485E1C21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76237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45D3ED-D4EE-4B62-BDBF-091F7412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85762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invoices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E70D7E-5BCA-4BF2-9D4B-F0DFE6B9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13385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(PK), encounter_id (FK)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28389C-1674-4730-B93D-F560758D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61010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18C7E2-E62C-40D6-80BF-6A34E8FA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70535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invoice_lines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BD0DB9-B284-4D28-B9FC-3470CFBD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815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(FK), charge and tax snapshot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AA6EEF-AA38-4BD5-A466-0B4AF6CE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PAYER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4CF264-6DAE-4B7B-92D4-BC3F8826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6692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F25D78-C9EB-42F6-AF0E-30242872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6217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coverages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CDA02F7-43AC-494A-B7CB-74415F6D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3840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payer route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AA764BE-D448-4139-81FB-206D602C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1465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CE15F8-39E8-4452-A7CA-FDA91AD0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990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preauths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FE53AD2-1B6F-4FC7-B899-BDC671E5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8612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approved amount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715AA9E-C520-46EC-80E4-CC4D1F7A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6237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6C23493-7DB8-44B1-A6FE-4CA70067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5762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claims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2A019EA-96E4-4B75-832B-7A801559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13385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(FK), diagnosis and status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F4B080C-6823-4737-ACE2-3C1DD8D9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1010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EE9D917-7B0B-48A0-AB1E-91315A09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70535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receipts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434D01A-73AB-4A3A-8783-4ABC4A81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9815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(FK), payer and amount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F83772-4001-4913-992B-B95B2D2D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43575"/>
            <a:ext cx="10744200" cy="390525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A744B0E-17ED-43E7-B741-DC267662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819775"/>
            <a:ext cx="103536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One encounter has many charges and at most one final invoice.</a:t>
            </a:r>
          </a:p>
        </p:txBody>
      </p:sp>
    </p:spTree>
    <p:extLst>
      <p:ext uri="{BB962C8B-B14F-4D97-AF65-F5344CB8AC3E}">
        <p14:creationId xmlns:p14="http://schemas.microsoft.com/office/powerpoint/2010/main" val="16395973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A42BB6-C37F-46F0-BF64-3D7A17D6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8E79AB-D870-440D-8DD7-CE25436C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1F00E5-3E8F-4D2B-BB85-D3998DBE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Chen notation ER diagram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756C0-D19D-41DB-90A7-08FB605C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E2D485-5326-48C2-8D03-3ECC89CA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3C07E9-DB2C-4C34-8660-BCDF6C2B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ECE7D4-3C77-452B-B02D-CEA6CA9BD9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b9e4373d74ee5"/>
          <a:stretch xmlns:a="http://schemas.openxmlformats.org/drawingml/2006/main"/>
        </p:blipFill>
        <p:spPr>
          <a:xfrm xmlns:a="http://schemas.openxmlformats.org/drawingml/2006/main">
            <a:off x="2036296" y="1514475"/>
            <a:ext cx="8109883" cy="4286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153517-9609-4EDF-94C8-CC979897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0072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This conceptual diagram was supplied for the project. It links HIS, pharmacy, billing and external payer entities.</a:t>
            </a:r>
          </a:p>
        </p:txBody>
      </p:sp>
    </p:spTree>
    <p:extLst>
      <p:ext uri="{BB962C8B-B14F-4D97-AF65-F5344CB8AC3E}">
        <p14:creationId xmlns:p14="http://schemas.microsoft.com/office/powerpoint/2010/main" val="2757685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BD014F-8CF6-4670-AC6F-57BEC25C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760F61-F332-4EE8-B44F-7EDA302F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FBDC6E-49EE-4E74-80B0-FD53F3C1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ER detail: patient and registration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7FCA6C-4839-4939-899E-2B85CD5BB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F21264-DEA1-4627-956A-9313D16C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2E7BF5-F294-419E-870F-DEC7004D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7E8E97-3DDF-4E18-B515-19A52A2B13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763df475254aa5"/>
          <a:stretch xmlns:a="http://schemas.openxmlformats.org/drawingml/2006/main"/>
        </p:blipFill>
        <p:spPr>
          <a:xfrm xmlns:a="http://schemas.openxmlformats.org/drawingml/2006/main">
            <a:off x="2433309" y="1504950"/>
            <a:ext cx="7258707" cy="4210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557981-157A-4E90-9219-FD93A7C5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53100"/>
            <a:ext cx="1052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One patient can have many registrations. Each registration connects to the doctor and later bill.</a:t>
            </a:r>
          </a:p>
        </p:txBody>
      </p:sp>
    </p:spTree>
    <p:extLst>
      <p:ext uri="{BB962C8B-B14F-4D97-AF65-F5344CB8AC3E}">
        <p14:creationId xmlns:p14="http://schemas.microsoft.com/office/powerpoint/2010/main" val="79001542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018B1A-45C9-41BD-BF33-2496B5DE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27C70-52C5-4D5C-8578-AC49DB04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E19195-B7EE-4998-983C-50A227F1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ER detail: claim and insurance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5D0D0A-74CB-43AE-9B1E-DA1BB36F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70E8C6-B68D-4506-A02D-37D48F7B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2D46A2-76A5-43ED-B555-AAE4127A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12F428-2247-4CB1-96BC-3CB2988FAF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281fb26eda4858"/>
          <a:stretch xmlns:a="http://schemas.openxmlformats.org/drawingml/2006/main"/>
        </p:blipFill>
        <p:spPr>
          <a:xfrm xmlns:a="http://schemas.openxmlformats.org/drawingml/2006/main">
            <a:off x="1120802" y="1504950"/>
            <a:ext cx="9940871" cy="4095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3E43A8-8212-4F4D-A3A4-20DE7010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54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claim records its approved amount and status; it belongs to an insurer. The full diagram links it back to a bill.</a:t>
            </a:r>
          </a:p>
        </p:txBody>
      </p:sp>
    </p:spTree>
    <p:extLst>
      <p:ext uri="{BB962C8B-B14F-4D97-AF65-F5344CB8AC3E}">
        <p14:creationId xmlns:p14="http://schemas.microsoft.com/office/powerpoint/2010/main" val="1303820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80AB32-117B-49A3-A4B1-A1DF904D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E7F98B-3978-4A39-BED1-AF94A41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PROTOTYPE ASSUMPTIONS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261F7-522C-47F1-A345-FE60B546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our demo assumes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B52286-0452-4DCF-ACD8-D1812BA8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F0D191-52F6-4CA9-8CBE-ED113947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E574FA-ACF5-4557-B570-08EC13D09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6767FA-EE98-4B09-8E07-DCFFA841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BED269-C9E1-43FC-B5C3-19004629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451DE-FE9C-4C06-B432-4BA54048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5811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8F9510-CEE3-4DE0-A574-2E57D662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430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Hospital size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21BC95-4B1C-4859-80E5-E8F883607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17049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working scope represents a 20 to 50 bed hospital.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0462E-F485-4977-9C59-3F80C51F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52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C9905-1B9C-4225-B1D1-DF6992D5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28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503A9D-9CBB-4D54-8F0A-18854D0D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4193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9C311F-307F-4B40-BFC2-72C82745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812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Patient records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D0919A-FA9E-41BA-843F-24FAEAF7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25431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All patients, prices, identifiers and clinical notes are invented.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1404FB-51BF-40C6-A664-7F3F0583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0BE5AF-F103-4564-99FC-CB2A529A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7B609D-AF7A-4F2B-8C2C-E289F3B2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2575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9A0918-DFF8-4323-BB48-EFE0187F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194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External systems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1DFD93-770D-4AC4-91FE-C1789B84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3813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Lab events are local API calls. TPA and PM-JAY replies are simulated.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C665C-ABCF-48A1-9F83-B3A71892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E3ECBD-AABD-4B86-B268-69441E62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807897-9FC1-4F8C-8738-7389873D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0957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4E8E8C-14B4-4831-B909-1267A824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576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GST master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0BF5CD-02A2-44D0-B5C6-DB1EC9AFA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2195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Training rates illustrate rules. A real hospital must verify product HSN and current tariff.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A39592-9D53-43A5-8403-DAB25482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121804-E0BA-497E-97AF-3537C012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A94F47-93C6-445D-835E-18BC71DE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339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B01922-0CEB-47DC-B6F5-EE7584C3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958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Diagram scope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121F2D-6191-4B5D-A8B2-C1B56196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50577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Chen diagram is broader than the demo. RIS and wider LIS links remain conceptual.</a:t>
            </a:r>
          </a:p>
        </p:txBody>
      </p:sp>
    </p:spTree>
    <p:extLst>
      <p:ext uri="{BB962C8B-B14F-4D97-AF65-F5344CB8AC3E}">
        <p14:creationId xmlns:p14="http://schemas.microsoft.com/office/powerpoint/2010/main" val="204667143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525E31B-8C2D-47AC-AACA-33A6FCEC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3F11CF-E5C3-4AD2-B754-8E62823B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0E40E-B75D-463F-AF70-E8308EEF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Prototype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9CF5F-DADB-470A-8FA7-804189CA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81814C-1C54-4D00-BFDA-05709062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53A52E-BE82-4134-A41E-C5379897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AE2AA9-ADF4-4942-95FA-B3BA7A85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24025"/>
            <a:ext cx="3333750" cy="1695450"/>
          </a:xfrm>
          <a:prstGeom xmlns:a="http://schemas.openxmlformats.org/drawingml/2006/main" prst="roundRect">
            <a:avLst>
              <a:gd name="adj" fmla="val 3933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F67059-393D-4703-B0E9-9573EB57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24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17BF05-7881-4682-8B9E-F2B197C69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E1F81-7C05-457A-9311-8FEFF415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28875"/>
            <a:ext cx="2886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Next.js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A3AD82-6601-49AB-ACC1-3A50E9AF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146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Role screens for doctor, lab, pharmacy and billing.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6F020C-DE5F-43D3-BB83-888F3CEB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724025"/>
            <a:ext cx="3333750" cy="1695450"/>
          </a:xfrm>
          <a:prstGeom xmlns:a="http://schemas.openxmlformats.org/drawingml/2006/main" prst="roundRect">
            <a:avLst>
              <a:gd name="adj" fmla="val 393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4ED382-726F-49CE-980A-A90B5E001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924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DEB1FD-6F32-4D3E-B40E-FB3E0683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00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EBD326-E832-45F6-9414-FDDB6E48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28875"/>
            <a:ext cx="2886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FastAPI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72FB40-877D-4761-82DE-2C4DA18F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146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Validates orders, results, dispensing and billing.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357557-C1A2-4AF0-BCE8-AE4A8C72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24025"/>
            <a:ext cx="3333750" cy="1695450"/>
          </a:xfrm>
          <a:prstGeom xmlns:a="http://schemas.openxmlformats.org/drawingml/2006/main" prst="roundRect">
            <a:avLst>
              <a:gd name="adj" fmla="val 393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955268-CED8-47CC-ABF9-A6C11447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24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BD3FD3-4102-4499-8506-AD06C197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00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EB6912-9749-4790-B807-D2B79008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428875"/>
            <a:ext cx="2886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7B1F6C-0EE2-4F2B-BB06-52BBA25F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9146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Links encounters, orders, charges and receipts.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3FC9E7-2EA9-4590-ADD0-61AADAB5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33825"/>
            <a:ext cx="333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Core API calls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21F822-0952-4331-A69C-F241483E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276725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/api/clinical/demo-encounters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A5E998-156B-43BD-A508-9A6A9B25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276725"/>
            <a:ext cx="52101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doctor confirms mapped case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97D95E-1BDE-4E27-BD13-9CB1F69F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57200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/api/lab/orders/{id}/complete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65C847-72EC-4B36-B385-FA90D033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572000"/>
            <a:ext cx="52101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result plus one lab charge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575759-EEB4-404A-AF9C-26C70882D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867275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/api/pharmacy/dispense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A85847-B071-400A-8457-6AC49720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867275"/>
            <a:ext cx="52101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stock plus charge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46E8A5-D660-46E2-A50C-F5F03BAA0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16255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/api/encounters/{id}/room-stays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F314B4-9A27-4133-B88B-32DC48E2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162550"/>
            <a:ext cx="52101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bed stay plus charge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58223C-13FF-444B-8215-2AB4C816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457825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/api/invoices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6C5048-4C1C-4507-A142-631C8EAA0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457825"/>
            <a:ext cx="52101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one final bill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D8385F-D229-4FD1-9E7B-776F3747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75310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/api/claims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0846B4C-8F1F-4222-B3A5-67BA752F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753100"/>
            <a:ext cx="52101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payer submission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05C527-A4E4-4DC3-8C15-534A6A67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6048375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/api/receipts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5DE6B9-CCB8-4A05-B081-D508D982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6048375"/>
            <a:ext cx="52101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money received</a:t>
            </a:r>
          </a:p>
        </p:txBody>
      </p:sp>
    </p:spTree>
    <p:extLst>
      <p:ext uri="{BB962C8B-B14F-4D97-AF65-F5344CB8AC3E}">
        <p14:creationId xmlns:p14="http://schemas.microsoft.com/office/powerpoint/2010/main" val="193537775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0102B9-E404-4CBF-860C-3E0330DA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3E1696-FAC7-4C79-B661-169017067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96501C-3319-413D-A8D6-3C1A4C4F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Backend rules that prevent common errors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264F9D-4CAD-4B3A-8F44-69C52119D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350F04-D79E-4275-9855-FCC305A5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565D34-1E5A-4A90-BDAC-78F4F65D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9F584B-A866-4ECB-9105-D3B39EE9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638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DC7EA9-C305-4130-AED3-E665A33D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145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6EF6BB-4E7A-4334-99D3-93F47EB45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5716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1A9665-E4C6-451F-87CE-3535DF2D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764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73F047-CB96-4A24-B183-9B78C9E3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6668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Confirms the pathway; diagnosis code comes from the selected case, not free text.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9D9BD4-4701-4D11-94FA-D17990BA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533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86A8DE-73F5-4CE8-ADBA-99FD54F7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6098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CBD33A-6153-4344-B09F-68541FB9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46697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B3682F-CA71-4FE9-A5AD-C33BAEA3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717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Lab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E9EA6D-1280-4F31-9418-04E71A9E7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6222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completed order posts one charge. A repeated result does not add another.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EAFD01-E3A2-494D-8FAB-8817ECD2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429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56C563-0D35-4842-8370-BC88BDF3F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5052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D495E5-7621-422A-9628-293C2C983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3623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080088-65FA-421B-BF41-87C0E622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671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C1E77-CC88-4C56-B0BC-32F4D370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575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dispense needs a prescription and available unexpired batch stock.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1772D0-145F-40B9-AB34-3B4877DA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324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760D20-ADC2-490B-8C6E-FC39E527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4005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4F617E-757E-450B-A439-70C4A662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25767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1A24A8-5DF8-4A0E-9B5D-D0612928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624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Invoice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1B491F-C111-41E3-B234-55C58F77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5292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system copies charge details into invoice lines and locks the encounter.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2ABA0E-3E08-4A1F-86F1-1AAF9412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19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E8906C-B4E1-4F5C-BFCF-3BAE5731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95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D8AF33-7121-47E9-8F0C-23D53D44F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51530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F4BBD6-426B-4A6C-994F-9C4158D5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578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Receipt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048CA4-4B57-479D-8528-7DD9AB84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482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claim approval does not settle the bill. A receipt reduces the balance.</a:t>
            </a:r>
          </a:p>
        </p:txBody>
      </p:sp>
    </p:spTree>
    <p:extLst>
      <p:ext uri="{BB962C8B-B14F-4D97-AF65-F5344CB8AC3E}">
        <p14:creationId xmlns:p14="http://schemas.microsoft.com/office/powerpoint/2010/main" val="159675127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7650DD-EB9D-48F2-A2DD-D7FF383DB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E8EB2C-6907-4241-B703-1F1496ED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86E214-B8E5-4095-95CF-65B22D93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Admission example: Asha Kulkarni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3AAB7C-2D0D-4F67-B06B-AD73DA78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383E78-71C6-41E2-AC1B-96219264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E2719E-1801-4EF9-9940-77AD0704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29CF9-A166-48A8-AC5C-2CC49601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04950"/>
            <a:ext cx="10210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A short admission links clinical work and one room day to the final bill.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346B31-4FB0-42CE-B96B-16FE543E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43125"/>
            <a:ext cx="10734675" cy="600075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0E72F7-5BFD-4B94-9CEB-4EE81A67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574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AEE501-B39C-4AF5-BFE1-2ADE3F25E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3336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9C12A3-34B9-44BE-B0BE-351FB437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2669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E643B1-AE77-4174-A15B-D5420132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266950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ICD-10 E11.9; assessment ₹500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368958-A7DA-4B67-8340-63183280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0734675" cy="600075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A05131-20C4-4AC2-ABBE-0D78D49E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971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D74A90-6B54-47DD-BB58-81E1869B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480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CB8655-10B0-4233-8CD4-C57F5311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98132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Lab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25C573-742B-4C8B-B40E-232C7445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981325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HbA1c, LOINC 4548-4; test ₹650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54F49E-3341-44B0-811F-93FECDB7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10734675" cy="600075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71DDBF-66A8-4F62-9AD9-12AFE96D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6861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883433-D1C2-452D-B926-87AFB6CC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7623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3D15A7-D6A6-42A5-9079-8B5BBD3A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69570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953DE9-4194-4E48-8E28-2AAC60BF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695700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10 tablets × ₹6; ₹60 in the inpatient care bill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B2104B-C14A-4AB0-B3D7-DAFACA9E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10734675" cy="600075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0F19C4-788F-430E-9556-37BAEB20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400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CF19AE-8524-4264-931C-EE9E1885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476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3D262C-8E6B-4C26-B0D2-167A372B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41007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Bed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DE8B4C-A83E-4EFC-BF12-DE3D0852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410075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Private non-ICU room ₹6,000; GST ₹300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0CA6B5-3206-47CD-9906-72773DC0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00625"/>
            <a:ext cx="10734675" cy="600075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8CB34F-E633-44B2-A980-B5966A9C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149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B05C3D-2763-4D29-9FB7-2253D757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911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E84219-9F4F-47AC-ACD7-252CD349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1244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Invoice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BB1211-3B94-41FE-A46D-7AAF6868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124450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₹500 + ₹650 + ₹60 + ₹6,000 + ₹300 = ₹7,510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591D6D-38F2-4007-91AF-EB37D5EB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483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CPT 83036 is optional. The hospital HBA1C code sets the lab price. The room rule is a training assumption.</a:t>
            </a:r>
          </a:p>
        </p:txBody>
      </p:sp>
    </p:spTree>
    <p:extLst>
      <p:ext uri="{BB962C8B-B14F-4D97-AF65-F5344CB8AC3E}">
        <p14:creationId xmlns:p14="http://schemas.microsoft.com/office/powerpoint/2010/main" val="42666276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6554F2F-0E52-4E3A-9E23-6D547E05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38265-FEC3-4769-9F9C-E3508536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866081-B852-4C7D-92D2-D394A947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IPD insurance and PM-JAY flows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41C0E7-5785-4FFB-AD7C-F6172142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DAD049-2AAC-4A7B-84DE-38FA8DD8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16A1A8-5C8A-4F23-8015-FBB1BD3A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78BB04-6994-46A6-B3EE-1B251BB0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057775" cy="4076700"/>
          </a:xfrm>
          <a:prstGeom xmlns:a="http://schemas.openxmlformats.org/drawingml/2006/main" prst="roundRect">
            <a:avLst>
              <a:gd name="adj" fmla="val 163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7EBCE6-629C-4E40-BF11-1D76305A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00200"/>
            <a:ext cx="5057775" cy="4076700"/>
          </a:xfrm>
          <a:prstGeom xmlns:a="http://schemas.openxmlformats.org/drawingml/2006/main" prst="roundRect">
            <a:avLst>
              <a:gd name="adj" fmla="val 1636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32239-D8BA-4A2A-ACEA-45422CCF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8097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Private TPA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3DCE89-1F5B-4A7F-9F85-739C441F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18097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PM-JAY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F86B8-29E7-40D0-873D-6D1A9958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390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C5DD75-0FC7-4718-B97B-D950383D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669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8BF584-A095-4E34-8303-3EE2A3D2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457450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Coverage and payer rate linked to encounter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998714-4D18-4E49-B989-339781B2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09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BE4644-6973-4FC4-846C-50A28ED2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86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C4EA12-D8C3-4C51-B500-B5B5AA91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76575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Preauthorisation and approved limit recorded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BC481F-BB81-4F50-BCB7-F6E56CCB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6290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6FEF1C-E114-4380-BAF5-272AE272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7052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FE2DE8-FAF1-419A-8110-5DEFF781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95700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Daily room, procedure and medicine charges accumulate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3C5314-71FD-49F6-8553-CAFCDE4A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248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C68E3A-E4C8-4773-B0C7-51DE083E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3243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7C360A-EF1E-4EEA-AEBD-1E9C53F1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14825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ICD-10, procedure code and documents join the claim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1BEB74-BE51-4428-B27F-49D66F87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8672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43FB30-90E0-4196-BD9C-63FAEA72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9434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073AAF-3D50-4423-A19D-9325268F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33950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Insurer receipt reduces the outstanding balance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295D33-3E8F-4E51-8B17-69C6CD12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390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076DE3-E0A2-4DEA-AA98-21E1F53B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4669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E517F6-DA70-4A6A-83AD-32F20F22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57450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Beneficiary check is simulated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5BB66F-10DB-4550-8985-CF094539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9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3CD23C-174E-4A7D-8A56-EE18655E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86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78324C-D776-4984-95E5-5625F9E3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76575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Training HBP package linked to encounter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79665C-5E47-4DEC-9B3C-33308F02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6290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2254A0-B386-4AB0-BB56-CD1DD241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7052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679B8A-AA00-4C5C-AB51-E6007D90D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95700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Preauthorisation is recorded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C342BB-97B3-4ACB-A0CD-CD6A64BE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248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6C479C-2811-4765-89F5-1AEFB00C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243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529642-5D12-4084-A409-BDDEAD1A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314825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Package invoice and claim are prepared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F70A6F-9510-40E4-8FE3-06A987DD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8672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E0D45CE-25B2-4AC8-A7BA-19C74F67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9434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519D6DE-43C4-471A-A0EF-145BB3D6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933950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Patient collection is blocked in the demo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FBCCEE7-9D0D-4B2F-9361-DFBC4122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NHA HBP manual and IRDAI health insurance guidance informed the state sequence. Portal responses remain simulated.</a:t>
            </a:r>
          </a:p>
        </p:txBody>
      </p:sp>
    </p:spTree>
    <p:extLst>
      <p:ext uri="{BB962C8B-B14F-4D97-AF65-F5344CB8AC3E}">
        <p14:creationId xmlns:p14="http://schemas.microsoft.com/office/powerpoint/2010/main" val="180265096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A002C2-2492-41D0-B9F9-3BD6AFE8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D9B940-B880-4E7F-85AB-E1943875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56AA92-F822-4643-8302-E2372134C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Finance outputs after invoicing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C35834-1AEE-408D-9F97-17F8558D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A00B4-E467-48BD-B5A1-A745F89B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0C3EC-7295-486D-B5B0-2A82EA4A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F20464-24EA-4A1F-B7F8-4D5ADDB9F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71625"/>
            <a:ext cx="10420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invoice records the amount due. Claims and receipts determine who still owes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8137D4-173C-4260-9DE1-83C40450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3241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20ADAB-2347-4C1F-907F-44844367C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003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8BF9DE-A98A-4CA2-9183-76D53CDB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2574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375753-7526-4D1A-9F22-1FFA3B19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622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GSTR-1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56FBDE-71BC-4AE1-9B06-DEBD3B7A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526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Separates taxable B2B, taxable B2C and exempt or nil supplies. Includes HSN summary.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E4840C-FF30-48EA-A409-81F4EA2F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1908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4BC518-B431-454F-B83E-1F5551DE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2670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925ABC-722F-4C6B-A876-BAA1E2AF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12420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21A335-F02F-4803-BEBF-B327FD85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289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Insurance receivable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16629A-883D-4AED-BBF5-FC6EAA26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21945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Tracks submitted claims, partial settlement and remaining insurer balance.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40905C-6D90-474A-A2F0-8C249326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057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3C3860-E7EF-4D9B-A877-8C439499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1338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CACFC4-CCB2-44A6-A53D-6C38A36C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99097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161F7D-834D-4FF7-94EE-095B2A6F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Patient balance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E70025-3B58-4BD0-B306-35494215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8622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Records advances and receipts separately from the total invoice.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D90A0E-92AC-4554-9DE1-BC144AA1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244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0EFD45-3835-4F9F-99E7-6E42F08A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0006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6D7387-89AD-44BF-9A0A-0A81EB1F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85775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C8F206-B132-41BB-863F-B463C2C7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6252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Daily report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8B2820-6738-4711-9654-28346BE6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5300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Shows collections and payer mix from posted records.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252E86-4C06-45BB-93F6-8A08D307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The GSTR-1 screen is a review packet for this prototype. It does not file or upload a return to the GST portal.</a:t>
            </a:r>
          </a:p>
        </p:txBody>
      </p:sp>
    </p:spTree>
    <p:extLst>
      <p:ext uri="{BB962C8B-B14F-4D97-AF65-F5344CB8AC3E}">
        <p14:creationId xmlns:p14="http://schemas.microsoft.com/office/powerpoint/2010/main" val="56545783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6B30E6-8200-45ED-B2AF-AA7D68E2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C4251-0021-4295-A17A-915DEC45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A4DCA1-D81C-4E40-9246-29EE20D8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Prototype coverage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53D2A-F016-408C-BD36-CD1A941C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25AAEA-31A7-4E60-B595-60C4A599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B8ABBA-CF68-407C-AF17-B9E0505D1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D82BEE-4943-4669-9AAF-C65A7C21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10287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live demo follows Asha’s admission across four staff roles.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3AE52B-3AE4-471E-BBDC-DFE1ED52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10734675" cy="409575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0ECFCB-E5C6-4B70-B1BB-288BA1F4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133600"/>
            <a:ext cx="5048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4F1140-FD76-4875-82AB-0DE404D5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114550"/>
            <a:ext cx="2324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85EFEE-1025-4504-9BE5-CD8AEFB7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14550"/>
            <a:ext cx="7210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Admission, diagnosis, assessment charge and orders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0A3353-B09F-48D3-8F5D-47AE0A7E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05075"/>
            <a:ext cx="10734675" cy="409575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3F918B-5959-4463-A012-A186AB9B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600325"/>
            <a:ext cx="5048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5D1E2F-6878-4902-A471-02EEE683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581275"/>
            <a:ext cx="2324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Lab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B1FFAD-ACA3-4557-A477-DE4B2BB1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581275"/>
            <a:ext cx="7210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HbA1c result with LOINC 4548-4 and completed-test charge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E6E1A-0453-439A-B05B-D5594FD5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10734675" cy="409575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EEE0CE-B2C1-48B3-85A7-349F0064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67050"/>
            <a:ext cx="5048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EE980E-1432-4320-9F88-D3FFCB4D3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048000"/>
            <a:ext cx="2324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364B0B-2007-4FA9-9FD5-C4034684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048000"/>
            <a:ext cx="7210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Prescription, batch and expiry check, inpatient treatment supply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BA9443-1E06-4466-9573-1C66BDE1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38525"/>
            <a:ext cx="10734675" cy="409575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46E982-7CEE-45CF-8A89-089F0A72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533775"/>
            <a:ext cx="5048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07448A-2EA9-4079-9F46-10BBA2E3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514725"/>
            <a:ext cx="2324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Bed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FC86E1-B11C-4B69-A50F-D316ECFA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514725"/>
            <a:ext cx="7210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One private room day at ₹6,000, plus ₹300 GST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A8E939-2029-4DDC-B436-4C8EBF06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10734675" cy="409575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0CE223-EDA1-43ED-BD8C-95BE6E69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000500"/>
            <a:ext cx="5048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8054AA-5A0D-451E-8285-CA028FDE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981450"/>
            <a:ext cx="2324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Invoice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F197CF-F682-426D-BD23-F57A86E6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981450"/>
            <a:ext cx="7210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Four lines on one itemised ₹7,510 discharge bill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1E1A12-3612-4680-B3D1-A2426DD3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1975"/>
            <a:ext cx="10734675" cy="409575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01E7DB-F9FB-4BA1-B7EF-C9CAF8BF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467225"/>
            <a:ext cx="5048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091EE9-94BE-4498-8191-3BFDF556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448175"/>
            <a:ext cx="2324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Insurance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93E25F-E4D4-463A-AEE8-BABCAC2D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448175"/>
            <a:ext cx="7210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Preauthorisation, claim and settlement ledger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B2F138-4AFD-43AC-AF62-63AEFEA4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10734675" cy="409575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FD6C52-0A69-44F8-BF19-116D8083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933950"/>
            <a:ext cx="5048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42A339-6EA6-460B-B57E-E6F75D67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14900"/>
            <a:ext cx="2324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PM-JAY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87D096-7BB2-4779-BDBA-1423B528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914900"/>
            <a:ext cx="7210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Simulated eligibility, package and zero patient collection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2F0C6B-BBE3-4FD2-9E18-07639077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05425"/>
            <a:ext cx="10734675" cy="409575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6ECAE4E-1D85-450E-B9E9-0742D837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400675"/>
            <a:ext cx="5048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D11D202-F827-4399-B528-8C7CCB2B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381625"/>
            <a:ext cx="2324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B624AF-6BE2-4F3F-BFAC-6D08649A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381625"/>
            <a:ext cx="7210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GSTR-1 review and aged receivables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F20E733-5B88-4811-A5B8-2BE51A18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Local API and browser flows were exercised with synthetic cases. External HIS and government or insurer portals remain simulated.</a:t>
            </a:r>
          </a:p>
        </p:txBody>
      </p:sp>
    </p:spTree>
    <p:extLst>
      <p:ext uri="{BB962C8B-B14F-4D97-AF65-F5344CB8AC3E}">
        <p14:creationId xmlns:p14="http://schemas.microsoft.com/office/powerpoint/2010/main" val="179397535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A06181-1E17-4EF7-AFC5-C28DEA11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21D0F0-6482-42AB-B416-EE23AD67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153AC-32BE-4B0F-A641-5D691E0A2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is still a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5B846B-AE03-4DF7-AAE5-75DB0014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3C8FD9-D064-4FF8-A3CF-1394AACB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D5E6B0-879F-4033-B2C7-EA5C48A1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2198B0-CFA8-4BC2-B611-7CC48560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676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97F678-91E9-42EB-BC77-1623E999E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526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3D7A88-F406-410E-951F-ECACB2E9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6097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E4CAF4-4781-469C-84BB-359AD40BD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145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No real portal exchange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F369DF-56DF-4660-AA27-85BCBEE4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049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Insurer, PM-JAY, CGHS and GST outputs use local simulation.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9D0805-D684-4711-AD94-02C44865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432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E070BF-A76C-43FC-B535-0641C985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194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AA5218-826B-4E8C-9F9B-6E7D3DB3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765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FB341F-490A-4993-822B-A72971C1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813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Training master data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2A1870-9E4A-470A-A03A-D1FC8CD6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717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items, HSN, tariff and package examples need hospital review before use.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18305B-624F-4CEB-A21A-4B1FF7EE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732E0F-5BEE-41FC-B24E-D26FFBAAF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862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3CD548-F155-427B-B6D8-B025EA99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433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5C5CFF-E171-45B4-B84B-ACBCA655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481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Classroom sign-in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3E1858-A023-49F2-AE15-A88077FD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385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Production needs staff identity, audit policy, security and backups.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685862-4056-4B38-9357-8AFDD250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76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83CC44-165F-46FE-A160-B2E4403F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530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CE5E7F-F7E3-413C-97DE-C1F28C64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8101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750C4A-DFC4-4A67-9F8C-60E08221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149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Limited departments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E4B163-48F8-444F-861E-4B9F76D3A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053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website has one local lab test. RIS and wider LIS integration remain future work.</a:t>
            </a:r>
          </a:p>
        </p:txBody>
      </p:sp>
    </p:spTree>
    <p:extLst>
      <p:ext uri="{BB962C8B-B14F-4D97-AF65-F5344CB8AC3E}">
        <p14:creationId xmlns:p14="http://schemas.microsoft.com/office/powerpoint/2010/main" val="63197026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9565D5-0E28-4AAC-BED4-B3D6BAE18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11061E-D04F-4228-8773-019A29C8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CONCLUSION &amp; FUTURE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88B29-6364-432B-94D9-0F10824C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Conclusion and next build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864B00-C7A0-4828-9D3D-D5B69BE4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78B9DE-F791-46E7-A202-7036F701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D3F9F9-48E1-4EB0-AEF0-63402EE2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F779F0-A3F6-44B1-86B2-73CEC9E4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725150" cy="1019175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2CBDA-DC5D-45AB-B1E2-F1FE98A8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1762125"/>
            <a:ext cx="1022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prototype shows how clinical work can produce a clear, itemised bill without retyping every charge.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8C8FCB-E772-41A8-8852-31AAE699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813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Next for a mid-sized hospital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19C91F-A879-41BD-BD41-9D04698F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552825"/>
            <a:ext cx="3305175" cy="2114550"/>
          </a:xfrm>
          <a:prstGeom xmlns:a="http://schemas.openxmlformats.org/drawingml/2006/main" prst="roundRect">
            <a:avLst>
              <a:gd name="adj" fmla="val 315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788EDF-BDC5-4915-924E-7EC45FDE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62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A328D1-8AC4-4B57-9264-A198485B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385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00180B-5134-49D5-9B9B-ECAC4A8C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76725"/>
            <a:ext cx="292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More departments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3AE50-A239-4C9E-BFF8-09DBA50C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0125"/>
            <a:ext cx="2886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Extend the lab catalog and connect radiology and theatre results.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DAB1A6-41BC-40D5-A983-17F46988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52825"/>
            <a:ext cx="3305175" cy="2114550"/>
          </a:xfrm>
          <a:prstGeom xmlns:a="http://schemas.openxmlformats.org/drawingml/2006/main" prst="roundRect">
            <a:avLst>
              <a:gd name="adj" fmla="val 3153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8E0F78-77D2-40F9-8049-209B3641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62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8CC9BF-D2AB-46E8-9FBE-A9DD1AD2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385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F1906F-689B-4BDE-8EC5-D38554E4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292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More payer detail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9510A2-4247-41CD-83E5-3E7054C9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2886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Add named TPA formats, CGHS and corporate review screens.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AB91B6-9B04-4548-B199-7CD976E57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52825"/>
            <a:ext cx="3305175" cy="2114550"/>
          </a:xfrm>
          <a:prstGeom xmlns:a="http://schemas.openxmlformats.org/drawingml/2006/main" prst="roundRect">
            <a:avLst>
              <a:gd name="adj" fmla="val 315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D770CF-E4BC-43C4-8B3A-200A1653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762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1DA50C-0729-4C8D-9B98-8C56A85A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8385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BF4411-E0B7-47E1-A879-42C36B1C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76725"/>
            <a:ext cx="292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Production controls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1EE803-D4EC-4227-82FD-E2E6D188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10125"/>
            <a:ext cx="2886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Use approved portal links, stronger login, backups and tested tax masters.</a:t>
            </a:r>
          </a:p>
        </p:txBody>
      </p:sp>
    </p:spTree>
    <p:extLst>
      <p:ext uri="{BB962C8B-B14F-4D97-AF65-F5344CB8AC3E}">
        <p14:creationId xmlns:p14="http://schemas.microsoft.com/office/powerpoint/2010/main" val="31348549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B70FED9-111F-456B-9D27-2BD3743A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4D80C7-0AEE-48E3-84B9-B4335931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164060-15BF-4D74-86A5-20A3D622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C6A78B-F4C8-4E82-98CB-8940D9ED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19CFEA-0D9D-46D2-9825-054A9256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536898-3926-42FA-B546-C612692C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23AAD0-B423-4297-91FC-F7D6E0F9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38275"/>
            <a:ext cx="5200650" cy="5905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782552-1911-4805-86FA-A29F1FD4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9542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Supplied bills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C5A8B9-D1A1-4BBE-B70E-016DDC5D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24025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19 KIMS and Apollo scanned pages; only de-identified crops appear in this deck.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D015C3-403E-4264-8A58-5DD1AB58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200650" cy="5905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91ACB8-7CAE-4FD3-85CB-A6BF9412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52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DH 308 lectures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8B5CC6-0FCF-452E-8737-D9A1EEEC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81250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ER modelling, ICD-10 and LOINC, HL7 and healthcare database standards.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9CFE14-61FB-4785-8D2E-CF2322F4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52725"/>
            <a:ext cx="5200650" cy="5905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C0F07D-16F6-40F4-AF5E-9DDA1BEF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98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MoHFW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1C3C13-5897-40B0-BC54-EED912FC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38475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Patients’ Rights Charter, clinicalestablishments.mohfw.gov.in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E1692B-BA19-4F4C-BB62-A7F362AF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09950"/>
            <a:ext cx="5200650" cy="5905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16C986-AB8E-4873-96F5-402F1D3C9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67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MoHFW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382A6B-92B8-4B31-9641-CE46240F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EHR standards for India: ICD, LOINC and optional licensed CPT mapping.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72382B-EAB7-43F7-B6C1-56C1FD9C2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67175"/>
            <a:ext cx="5200650" cy="5905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12A2C3-69E2-48D0-ADA1-D430D232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2432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WHO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99FA55-D3BA-49BC-8CB7-B8C0B069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52925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188"/>
          </a:bodyPr>
          <a:lstStyle xmlns:a="http://schemas.openxmlformats.org/drawingml/2006/main">
            <a:def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ICD-10 E11.9 example, icd.who.int/browse10/Content/statichtml/ICD10Volume2_en_2019.pdf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1A4BF4-A4EB-41AE-9174-016DAF1C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24400"/>
            <a:ext cx="5200650" cy="5905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006DA3-10C4-4F17-95BA-D5D0C6E5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815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LOINC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A803A3-30F3-40D7-A73B-E9FADD37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0150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HbA1c blood observation 4548-4, loinc.org/4548-4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1CE094-13F2-4FBC-980C-B3395436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81625"/>
            <a:ext cx="5200650" cy="5905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588D54-E06C-4061-B7EF-A95609DD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387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HL7 FHIR R4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B45F2C-A23B-4A0A-84D0-67EC7C6C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67375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ChargeItem and Invoice resources, hl7.org/fhir/R4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FA9CA8-F941-4FDB-A900-C7CDA606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38275"/>
            <a:ext cx="5200650" cy="5905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987BA2-7FD0-417F-8AA5-151DF94B9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GST Council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120502-065E-4A36-948E-E3BF8331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24025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2025 medicine rates FAQ, gstcouncil.gov.in/sites/default/files/2025-09/faq_0.pdf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C5F4FB-550C-42C5-ACFB-D5147DAC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95500"/>
            <a:ext cx="5200650" cy="5905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1A9A39-11F7-4AFF-9385-D2E61864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52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CBIC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AE0E88-9658-4DC9-8971-5BD979FD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GST service rate entry 31A and healthcare exemption, cbic-gst.gov.in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0979DD-78AD-4FC4-B5A3-B2BAD3F1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52725"/>
            <a:ext cx="5200650" cy="5905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2F02E0-C7B6-422A-984C-007F06EA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098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GST Council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20452C-07C6-416D-9A9F-183C6AC0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38475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Hospital inpatient composite supply AAR, gstcouncil.gov.in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8762BB-3437-45E4-ADC8-E5D2FDC0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09950"/>
            <a:ext cx="5200650" cy="5905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45EF3B-C98F-4874-A891-F2620F54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67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GST portal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80DB299-194A-4EA5-B149-8266B128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GSTR-1 tables and HSN summary, tutorial.gst.gov.in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910B5CB-1DEC-49C2-826E-B4D625B0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67175"/>
            <a:ext cx="5200650" cy="5905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BF3B60D-571E-45D9-B0EC-1A2959AF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2432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IRDAI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A09CB00-00A4-4B66-87C6-70DE4ECB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52925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FAQs on health insurance regulations, irdai.gov.in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7FADAE7-BD0C-4EFB-B159-0E4C1580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724400"/>
            <a:ext cx="5200650" cy="5905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BACE81A-3142-4B2D-B8A1-8E6EE70C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815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NHA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693564A-2B05-4994-9ADE-1742D22C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10150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PM-JAY Health Benefit Package 2.2 manual, nha.gov.in</a:t>
            </a:r>
          </a:p>
        </p:txBody>
      </p:sp>
    </p:spTree>
    <p:extLst>
      <p:ext uri="{BB962C8B-B14F-4D97-AF65-F5344CB8AC3E}">
        <p14:creationId xmlns:p14="http://schemas.microsoft.com/office/powerpoint/2010/main" val="15024227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2026-10-08T04:22:16.1010000Z</dcterms:created>
  <dcterms:modified xsi:type="dcterms:W3CDTF">2026-10-08T04:22:16.1010000Z</dcterms:modified>
</coreProperties>
</file>