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</Types>
</file>

<file path=_rels/.rels><?xml version='1.0' encoding='utf-8'?>
<ns0:Relationships xmlns:ns0="http://schemas.openxmlformats.org/package/2006/relationships"><ns0:Relationship Type="http://schemas.openxmlformats.org/package/2006/relationships/metadata/core-properties" Target="/docProps/core.xml" Id="R037219f5f5554700" /><ns0:Relationship Type="http://schemas.openxmlformats.org/officeDocument/2006/relationships/extended-properties" Target="/docProps/app.xml" Id="R063062ab996647d4" /><ns0:Relationship Type="http://schemas.openxmlformats.org/officeDocument/2006/relationships/officeDocument" Target="/ppt/presentation.xml" Id="R2f43c34005364fd9" /></ns0:Relationships>
</file>

<file path=ppt/presentation.xml><?xml version="1.0" encoding="utf-8"?>
<ns0:presentation xmlns:ns0="http://schemas.openxmlformats.org/presentationml/2006/main" xmlns:ns1="http://schemas.openxmlformats.org/officeDocument/2006/relationships">
  <ns0:sldMasterIdLst>
    <ns0:sldMasterId id="2147483648" ns1:id="R41de15c969d34bef"/>
  </ns0:sldMasterIdLst>
  <ns0:sldIdLst>
    <ns0:sldId id="256" ns1:id="R1f4917d3a5964d3a"/>
    <ns0:sldId id="257" ns1:id="R8d89196d040a43d8"/>
    <ns0:sldId id="258" ns1:id="R7fa48a7daa664af2"/>
    <ns0:sldId id="259" ns1:id="R70cc84507d7d4558"/>
    <ns0:sldId id="260" ns1:id="R4331f9dcc8234f32"/>
    <ns0:sldId id="261" ns1:id="R59e38f9908364651"/>
    <ns0:sldId id="262" ns1:id="R14f0f498f2134d3d"/>
    <ns0:sldId id="263" ns1:id="R648d31bbd23942f1"/>
    <ns0:sldId id="264" ns1:id="R1c904c37e962423f"/>
    <ns0:sldId id="265" ns1:id="Rccab3b17282d48df"/>
    <ns0:sldId id="266" ns1:id="R7074ce02c5864224"/>
    <ns0:sldId id="267" ns1:id="Re3875a130df74f82"/>
    <ns0:sldId id="268" ns1:id="Rc2108e55bb2046b1"/>
    <ns0:sldId id="269" ns1:id="R8b4a5166cde04dc7"/>
    <ns0:sldId id="270" ns1:id="R47797c7a2bdb4627"/>
    <ns0:sldId id="271" ns1:id="R4799fc1fc26949b2"/>
    <ns0:sldId id="272" ns1:id="R4fc1c2c72da84181"/>
    <ns0:sldId id="273" ns1:id="R45c2adacb0a34168"/>
    <ns0:sldId id="274" ns1:id="R203a98c44bfe4399"/>
    <ns0:sldId id="275" ns1:id="Rf2616b7736814098"/>
    <ns0:sldId id="276" ns1:id="Raa5937080a074f7c"/>
    <ns0:sldId id="277" ns1:id="Rc184acf0c20644c1"/>
    <ns0:sldId id="278" ns1:id="R751234076d484b32"/>
    <ns0:sldId id="279" ns1:id="R57bcfa0aa8934f2f"/>
    <ns0:sldId id="280" ns1:id="R136be5cc821e4b69"/>
  </ns0:sldIdLst>
  <ns0:sldSz cx="12192000" cy="6858000"/>
  <ns0:notesSz cx="6858000" cy="9144000"/>
</ns0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ns0:Relationships xmlns:ns0="http://schemas.openxmlformats.org/package/2006/relationships"><ns0:Relationship Type="http://schemas.openxmlformats.org/officeDocument/2006/relationships/theme" Target="/ppt/theme/theme1.xml" Id="R9a83e02b90aa40fe" /><ns0:Relationship Type="http://schemas.openxmlformats.org/officeDocument/2006/relationships/slideMaster" Target="/ppt/slideMasters/slideMaster1.xml" Id="R41de15c969d34bef" /><ns0:Relationship Type="http://schemas.openxmlformats.org/officeDocument/2006/relationships/presProps" Target="/ppt/presProps.xml" Id="Rdf7080096ff54aef" /><ns0:Relationship Type="http://schemas.openxmlformats.org/officeDocument/2006/relationships/tableStyles" Target="/ppt/tableStyles.xml" Id="Raeaa1f66daff40b9" /><ns0:Relationship Type="http://schemas.openxmlformats.org/officeDocument/2006/relationships/slide" Target="/ppt/slides/slide1.xml" Id="R1f4917d3a5964d3a" /><ns0:Relationship Type="http://schemas.openxmlformats.org/officeDocument/2006/relationships/slide" Target="/ppt/slides/slide2.xml" Id="R8d89196d040a43d8" /><ns0:Relationship Type="http://schemas.openxmlformats.org/officeDocument/2006/relationships/slide" Target="/ppt/slides/slide3.xml" Id="R7fa48a7daa664af2" /><ns0:Relationship Type="http://schemas.openxmlformats.org/officeDocument/2006/relationships/slide" Target="/ppt/slides/slide4.xml" Id="R70cc84507d7d4558" /><ns0:Relationship Type="http://schemas.openxmlformats.org/officeDocument/2006/relationships/slide" Target="/ppt/slides/slide5.xml" Id="R4331f9dcc8234f32" /><ns0:Relationship Type="http://schemas.openxmlformats.org/officeDocument/2006/relationships/slide" Target="/ppt/slides/slide6.xml" Id="R59e38f9908364651" /><ns0:Relationship Type="http://schemas.openxmlformats.org/officeDocument/2006/relationships/slide" Target="/ppt/slides/slide7.xml" Id="R14f0f498f2134d3d" /><ns0:Relationship Type="http://schemas.openxmlformats.org/officeDocument/2006/relationships/slide" Target="/ppt/slides/slide8.xml" Id="R648d31bbd23942f1" /><ns0:Relationship Type="http://schemas.openxmlformats.org/officeDocument/2006/relationships/slide" Target="/ppt/slides/slide9.xml" Id="R1c904c37e962423f" /><ns0:Relationship Type="http://schemas.openxmlformats.org/officeDocument/2006/relationships/slide" Target="/ppt/slides/slide10.xml" Id="Rccab3b17282d48df" /><ns0:Relationship Type="http://schemas.openxmlformats.org/officeDocument/2006/relationships/slide" Target="/ppt/slides/slide11.xml" Id="R7074ce02c5864224" /><ns0:Relationship Type="http://schemas.openxmlformats.org/officeDocument/2006/relationships/slide" Target="/ppt/slides/slide12.xml" Id="Re3875a130df74f82" /><ns0:Relationship Type="http://schemas.openxmlformats.org/officeDocument/2006/relationships/slide" Target="/ppt/slides/slide13.xml" Id="Rc2108e55bb2046b1" /><ns0:Relationship Type="http://schemas.openxmlformats.org/officeDocument/2006/relationships/slide" Target="/ppt/slides/slide14.xml" Id="R8b4a5166cde04dc7" /><ns0:Relationship Type="http://schemas.openxmlformats.org/officeDocument/2006/relationships/slide" Target="/ppt/slides/slide15.xml" Id="R47797c7a2bdb4627" /><ns0:Relationship Type="http://schemas.openxmlformats.org/officeDocument/2006/relationships/slide" Target="/ppt/slides/slide16.xml" Id="R4799fc1fc26949b2" /><ns0:Relationship Type="http://schemas.openxmlformats.org/officeDocument/2006/relationships/slide" Target="/ppt/slides/slide17.xml" Id="R4fc1c2c72da84181" /><ns0:Relationship Type="http://schemas.openxmlformats.org/officeDocument/2006/relationships/slide" Target="/ppt/slides/slide18.xml" Id="R45c2adacb0a34168" /><ns0:Relationship Type="http://schemas.openxmlformats.org/officeDocument/2006/relationships/slide" Target="/ppt/slides/slide19.xml" Id="R203a98c44bfe4399" /><ns0:Relationship Type="http://schemas.openxmlformats.org/officeDocument/2006/relationships/slide" Target="/ppt/slides/slide20.xml" Id="Rf2616b7736814098" /><ns0:Relationship Type="http://schemas.openxmlformats.org/officeDocument/2006/relationships/slide" Target="/ppt/slides/slide21.xml" Id="Raa5937080a074f7c" /><ns0:Relationship Type="http://schemas.openxmlformats.org/officeDocument/2006/relationships/slide" Target="/ppt/slides/slide22.xml" Id="Rc184acf0c20644c1" /><ns0:Relationship Type="http://schemas.openxmlformats.org/officeDocument/2006/relationships/slide" Target="/ppt/slides/slide23.xml" Id="R751234076d484b32" /><ns0:Relationship Type="http://schemas.openxmlformats.org/officeDocument/2006/relationships/slide" Target="/ppt/slides/slide24.xml" Id="R57bcfa0aa8934f2f" /><ns0:Relationship Type="http://schemas.openxmlformats.org/officeDocument/2006/relationships/slide" Target="/ppt/slides/slide25.xml" Id="R136be5cc821e4b69" /></ns0:Relationships>
</file>

<file path=ppt/slideLayouts/_rels/slideLayout1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1.xml" Id="Radf7f6e78e2b4d9c" /></ns0:Relationships>
</file>

<file path=ppt/slideLayouts/_rels/slideLayout2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1.xml" Id="Rd3bd36518f6d48a0" /></ns0:Relationships>
</file>

<file path=ppt/slideLayouts/_rels/slideLayout3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1.xml" Id="R09d6f8f8a6514313" /></ns0:Relationships>
</file>

<file path=ppt/slideLayouts/_rels/slideLayout4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1.xml" Id="Rc8ddce117f7a4218" /></ns0:Relationships>
</file>

<file path=ppt/slideLayouts/_rels/slideLayout5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1.xml" Id="R3a2db4b80e5a491b" /></ns0:Relationships>
</file>

<file path=ppt/slideLayouts/_rels/slideLayout6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1.xml" Id="R199e155f218f4c11" /></ns0: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2485231-92F9-47A2-BF91-1513CF6D54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7CA9755-24F6-4042-B7D9-A5FF40566C5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093154D-85BC-4004-9792-4C62621F45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CA2627A-22EC-452E-B7D3-27E31AF9B9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3E436BF-7AB4-4DA3-85A5-D92F59BFE25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CC9AEB9-F254-4F97-A227-76CC1281E3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E9ED9FC-5D9F-43C1-A427-B257292156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C8DB53D-F4E0-4BED-8442-7228EBD782E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B08DC15-0986-4489-A41C-3BBB1AC0EE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9E8467A-A62A-4F16-9034-A8FDC3CE408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?>
<ns0:Relationships xmlns:ns0="http://schemas.openxmlformats.org/package/2006/relationships"><ns0:Relationship Type="http://schemas.openxmlformats.org/officeDocument/2006/relationships/theme" Target="/ppt/slideMasters/theme/theme2.xml" Id="R968f4d37ead64683" /><ns0:Relationship Type="http://schemas.openxmlformats.org/officeDocument/2006/relationships/slideLayout" Target="/ppt/slideLayouts/slideLayout1.xml" Id="Reb6e0dfd61ef494a" /><ns0:Relationship Type="http://schemas.openxmlformats.org/officeDocument/2006/relationships/slideLayout" Target="/ppt/slideLayouts/slideLayout2.xml" Id="Rcbd4cb9616e0432f" /><ns0:Relationship Type="http://schemas.openxmlformats.org/officeDocument/2006/relationships/slideLayout" Target="/ppt/slideLayouts/slideLayout3.xml" Id="Rcff63fe931984c55" /><ns0:Relationship Type="http://schemas.openxmlformats.org/officeDocument/2006/relationships/slideLayout" Target="/ppt/slideLayouts/slideLayout4.xml" Id="Radd8460ac7384834" /><ns0:Relationship Type="http://schemas.openxmlformats.org/officeDocument/2006/relationships/slideLayout" Target="/ppt/slideLayouts/slideLayout5.xml" Id="Rf72b348788c14561" /><ns0:Relationship Type="http://schemas.openxmlformats.org/officeDocument/2006/relationships/slideLayout" Target="/ppt/slideLayouts/slideLayout6.xml" Id="R186c838547a24982" /></ns0: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b6e0dfd61ef494a"/>
    <p:sldLayoutId xmlns:r="http://schemas.openxmlformats.org/officeDocument/2006/relationships" id="2147483650" r:id="Rcbd4cb9616e0432f"/>
    <p:sldLayoutId xmlns:r="http://schemas.openxmlformats.org/officeDocument/2006/relationships" id="2147483651" r:id="Rcff63fe931984c55"/>
    <p:sldLayoutId xmlns:r="http://schemas.openxmlformats.org/officeDocument/2006/relationships" id="2147483652" r:id="Radd8460ac7384834"/>
    <p:sldLayoutId xmlns:r="http://schemas.openxmlformats.org/officeDocument/2006/relationships" id="2147483653" r:id="Rf72b348788c14561"/>
    <p:sldLayoutId xmlns:r="http://schemas.openxmlformats.org/officeDocument/2006/relationships" id="2147483654" r:id="R186c838547a2498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4d9d598668814f3c" /></ns0:Relationships>
</file>

<file path=ppt/slides/_rels/slide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453d46bb520e4a05" /></ns0:Relationships>
</file>

<file path=ppt/slides/_rels/slide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3d3e2bcc4c7a4f2f" /><ns0:Relationship Type="http://schemas.openxmlformats.org/officeDocument/2006/relationships/image" Target="/ppt/media/image.png" Id="R42b7f26f83fd4f1f" /><ns0:Relationship Type="http://schemas.openxmlformats.org/officeDocument/2006/relationships/image" Target="/ppt/media/image2.png" Id="R248963bc66664adf" /></ns0:Relationships>
</file>

<file path=ppt/slides/_rels/slide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d557d820ddd54cd1" /><ns0:Relationship Type="http://schemas.openxmlformats.org/officeDocument/2006/relationships/image" Target="/ppt/media/image3.png" Id="R8d56bc44bf144373" /><ns0:Relationship Type="http://schemas.openxmlformats.org/officeDocument/2006/relationships/image" Target="/ppt/media/image4.png" Id="Rd890596953784d05" /><ns0:Relationship Type="http://schemas.openxmlformats.org/officeDocument/2006/relationships/image" Target="/ppt/media/image5.png" Id="Re8d1bd614a7f4f97" /></ns0:Relationships>
</file>

<file path=ppt/slides/_rels/slide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42d68cced4774f09" /></ns0:Relationships>
</file>

<file path=ppt/slides/_rels/slide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298361e61af14cb7" /></ns0:Relationships>
</file>

<file path=ppt/slides/_rels/slide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28760d8c55694f33" /></ns0:Relationships>
</file>

<file path=ppt/slides/_rels/slide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545778d68f5a478c" /></ns0:Relationships>
</file>

<file path=ppt/slides/_rels/slide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c07ba2cf894a4051" /></ns0:Relationships>
</file>

<file path=ppt/slides/_rels/slide1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13ed498622664695" /></ns0:Relationships>
</file>

<file path=ppt/slides/_rels/slide1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ca962eb9a1654f58" /></ns0:Relationships>
</file>

<file path=ppt/slides/_rels/slide1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9b957586cfed45b1" /></ns0:Relationships>
</file>

<file path=ppt/slides/_rels/slide1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b60752b5eee94b7b" /><ns0:Relationship Type="http://schemas.openxmlformats.org/officeDocument/2006/relationships/image" Target="/ppt/media/image6.png" Id="Ra6bdbd3c3c5d4d1a" /></ns0:Relationships>
</file>

<file path=ppt/slides/_rels/slide1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dbbc37ef91914587" /><ns0:Relationship Type="http://schemas.openxmlformats.org/officeDocument/2006/relationships/image" Target="/ppt/media/image7.png" Id="Ra219be0ba5ed4553" /></ns0:Relationships>
</file>

<file path=ppt/slides/_rels/slide1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d204b1a7a8344d11" /><ns0:Relationship Type="http://schemas.openxmlformats.org/officeDocument/2006/relationships/image" Target="/ppt/media/image8.png" Id="Rb27ddb7bc9674a1a" /></ns0:Relationships>
</file>

<file path=ppt/slides/_rels/slide1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f979f8624a3a484f" /></ns0:Relationships>
</file>

<file path=ppt/slides/_rels/slide1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98a6ea126e6e4844" /></ns0:Relationships>
</file>

<file path=ppt/slides/_rels/slide1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24c8d51e4e564344" /></ns0:Relationships>
</file>

<file path=ppt/slides/_rels/slide1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5c490d621bc64d28" /></ns0:Relationships>
</file>

<file path=ppt/slides/_rels/slide2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4075d60c641e404c" /></ns0:Relationships>
</file>

<file path=ppt/slides/_rels/slide2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4aeebe89e7ea4fdd" /></ns0:Relationships>
</file>

<file path=ppt/slides/_rels/slide2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b8989066922d450a" /></ns0:Relationships>
</file>

<file path=ppt/slides/_rels/slide2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505c1280935e4832" /></ns0:Relationships>
</file>

<file path=ppt/slides/_rels/slide2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7143dca8cf9244e6" /></ns0:Relationships>
</file>

<file path=ppt/slides/_rels/slide2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b385bf8be5a84b69" /></ns0: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50E76B-4CCA-42B9-8464-C83421117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4387FF-23A5-42A2-9193-5930F1809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F720FE-3562-4987-8931-046C409B4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600075" cy="600075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67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1A881D-3AD2-448A-BA79-909C8AD8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81025"/>
            <a:ext cx="323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476"/>
          </a:bodyPr>
          <a:lstStyle xmlns:a="http://schemas.openxmlformats.org/drawingml/2006/main">
            <a:defPPr algn="ctr"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264D8F-F151-4E63-91A0-6532A2996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6191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C5B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C5B6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C5B66"/>
                </a:solidFill>
                <a:latin typeface="Arial"/>
                <a:ea typeface="Arial"/>
                <a:cs typeface="Arial"/>
              </a:rPr>
              <a:t>DH 308  /  FINAL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645A10-BF6E-4BAD-BECB-2B0090F5C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62150"/>
            <a:ext cx="9810750" cy="172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4350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350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7323E"/>
                </a:solidFill>
                <a:latin typeface="Arial"/>
                <a:ea typeface="Arial"/>
                <a:cs typeface="Arial"/>
              </a:rPr>
              <a:t>Designing a hospital</a:t>
            </a:r>
          </a:p>
          <a:p xmlns:a="http://schemas.openxmlformats.org/drawingml/2006/main">
            <a:pPr algn="l">
              <a:defRPr sz="4350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7323E"/>
                </a:solidFill>
                <a:latin typeface="Arial"/>
                <a:ea typeface="Arial"/>
                <a:cs typeface="Arial"/>
              </a:rPr>
              <a:t>billing system with HIS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28E5D3-77E5-4AFB-A734-3230EDAB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981450"/>
            <a:ext cx="9382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A prototype for Indian hospitals that connects clinical care, lab tests, pharmacy and the final bill.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60AAB6-E593-4C41-AF6F-3863A40F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53025"/>
            <a:ext cx="10820400" cy="885825"/>
          </a:xfrm>
          <a:prstGeom xmlns:a="http://schemas.openxmlformats.org/drawingml/2006/main" prst="roundRect">
            <a:avLst>
              <a:gd name="adj" fmla="val 7527"/>
            </a:avLst>
          </a:prstGeom>
          <a:solidFill xmlns:a="http://schemas.openxmlformats.org/drawingml/2006/main">
            <a:srgbClr val="1732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5D8F98-E106-4EF8-9061-E2116071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00675"/>
            <a:ext cx="2619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Doctor encounter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396F1E-5274-4BA0-A50B-C52B979CA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400675"/>
            <a:ext cx="2047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Lab result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BE659C-A2BD-41F0-A5C3-DEF3D46C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400675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Pharmacy dispense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7338ED-63DE-4948-B261-0CB6B1083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5400675"/>
            <a:ext cx="255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Itemised bill</a:t>
            </a:r>
          </a:p>
        </p:txBody>
      </p:sp>
    </p:spTree>
    <p:extLst>
      <p:ext uri="{BB962C8B-B14F-4D97-AF65-F5344CB8AC3E}">
        <p14:creationId xmlns:p14="http://schemas.microsoft.com/office/powerpoint/2010/main" val="4799312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4806B8-53BE-4087-B634-C21D0B3C3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C5B0A2-C5D2-4010-BEB9-471E5E52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762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16A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216A7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16A75"/>
                </a:solidFill>
                <a:latin typeface="Arial"/>
                <a:ea typeface="Arial"/>
                <a:cs typeface="Arial"/>
              </a:rPr>
              <a:t>INTRODUCTION &amp; BACKGROUND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8D3C67-D00E-4041-9697-BAAD13F49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D303A"/>
                </a:solidFill>
                <a:latin typeface="Arial"/>
                <a:ea typeface="Arial"/>
                <a:cs typeface="Arial"/>
              </a:rPr>
              <a:t>Project scope and billing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D871CC-EF41-486F-993D-634BF74AC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668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60F374-28DC-4636-8BFC-ADA355E24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67475"/>
            <a:ext cx="3810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DH 308  /  HIS billing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CAA2D3-B235-46A9-A0AB-2DF6A934D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99F27D-58D8-4D25-AB08-905BE301B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9725"/>
            <a:ext cx="10287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100" b="0">
                <a:solidFill>
                  <a:srgbClr val="1732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323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23E"/>
                </a:solidFill>
                <a:latin typeface="Arial"/>
                <a:ea typeface="Arial"/>
                <a:cs typeface="Arial"/>
              </a:rPr>
              <a:t>The billing system receives completed work from the HIS and links every charge to one encounter.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6EBC1E-6AF6-481E-AEF7-6A080D20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67000"/>
            <a:ext cx="2524125" cy="2047875"/>
          </a:xfrm>
          <a:prstGeom xmlns:a="http://schemas.openxmlformats.org/drawingml/2006/main" prst="roundRect">
            <a:avLst>
              <a:gd name="adj" fmla="val 3256"/>
            </a:avLst>
          </a:prstGeom>
          <a:solidFill xmlns:a="http://schemas.openxmlformats.org/drawingml/2006/main">
            <a:srgbClr val="F2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F16341-34D2-4FA6-97BF-829681D84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8765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041151-3193-4E04-A846-C089D2F2D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9527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1407AF-38E1-47DE-89C2-D47BEB7C4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67100"/>
            <a:ext cx="2181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303A"/>
                </a:solidFill>
                <a:latin typeface="Arial"/>
                <a:ea typeface="Arial"/>
                <a:cs typeface="Arial"/>
              </a:rPr>
              <a:t>Doctor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F47B25-155C-4430-BD8B-4D803B48C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95725"/>
            <a:ext cx="21812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Records the encounter, diagnosis and orders.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A7DCD6-05DD-4B81-BCAA-22A266C3A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667000"/>
            <a:ext cx="2524125" cy="2047875"/>
          </a:xfrm>
          <a:prstGeom xmlns:a="http://schemas.openxmlformats.org/drawingml/2006/main" prst="roundRect">
            <a:avLst>
              <a:gd name="adj" fmla="val 3256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1C1476-AC31-44BE-AB10-30EF595F1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765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C86763-014D-4BCE-9555-05FE6AF16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527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0776E2-8140-4119-8A7B-E5642D5CE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467100"/>
            <a:ext cx="2181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303A"/>
                </a:solidFill>
                <a:latin typeface="Arial"/>
                <a:ea typeface="Arial"/>
                <a:cs typeface="Arial"/>
              </a:rPr>
              <a:t>Lab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07135C-74C1-4B33-B0D3-54498A91E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895725"/>
            <a:ext cx="21812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Records the result and completed test.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71FF70-98F1-47B9-9BB8-A5F8FAE62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67000"/>
            <a:ext cx="2524125" cy="2047875"/>
          </a:xfrm>
          <a:prstGeom xmlns:a="http://schemas.openxmlformats.org/drawingml/2006/main" prst="roundRect">
            <a:avLst>
              <a:gd name="adj" fmla="val 3256"/>
            </a:avLst>
          </a:prstGeom>
          <a:solidFill xmlns:a="http://schemas.openxmlformats.org/drawingml/2006/main">
            <a:srgbClr val="F2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D70653-9F66-4595-A60D-2804165E9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8765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4E6C3A-91E6-495C-A9AE-4216087F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9527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B8FD92-3B3C-4638-B0F3-364414274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67100"/>
            <a:ext cx="2181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303A"/>
                </a:solidFill>
                <a:latin typeface="Arial"/>
                <a:ea typeface="Arial"/>
                <a:cs typeface="Arial"/>
              </a:rPr>
              <a:t>Pharmacy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910EF3-6B5E-4333-A988-D23E11F22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95725"/>
            <a:ext cx="21812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Dispenses against a prescription and stock batch.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56BA86-5120-4D31-957F-B087B032F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67000"/>
            <a:ext cx="2524125" cy="2047875"/>
          </a:xfrm>
          <a:prstGeom xmlns:a="http://schemas.openxmlformats.org/drawingml/2006/main" prst="roundRect">
            <a:avLst>
              <a:gd name="adj" fmla="val 3256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EC3FEE-9332-4E57-B259-598E03464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765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D18F62-E8A8-46F2-975D-37F06BE1D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527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B8B873-76FC-44AC-8432-136E04B2C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467100"/>
            <a:ext cx="2181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303A"/>
                </a:solidFill>
                <a:latin typeface="Arial"/>
                <a:ea typeface="Arial"/>
                <a:cs typeface="Arial"/>
              </a:rPr>
              <a:t>Billing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D58246-65F1-4B3D-8809-69C6C0106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895725"/>
            <a:ext cx="21812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Prices completed work and issues one invoice.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437288-33E7-4FA4-8B55-098E4DC8E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162550"/>
            <a:ext cx="10753725" cy="59055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1732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C076CE-92C0-4886-9766-8F005D8BB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3149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Shared key: one patient encounter</a:t>
            </a:r>
          </a:p>
        </p:txBody>
      </p:sp>
    </p:spTree>
    <p:extLst>
      <p:ext uri="{BB962C8B-B14F-4D97-AF65-F5344CB8AC3E}">
        <p14:creationId xmlns:p14="http://schemas.microsoft.com/office/powerpoint/2010/main" val="1079334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95B868-5DA7-4F6C-81D5-195CCCB10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0D4196-3F1E-40F5-9122-31CBD7113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762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16A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216A7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16A75"/>
                </a:solidFill>
                <a:latin typeface="Arial"/>
                <a:ea typeface="Arial"/>
                <a:cs typeface="Arial"/>
              </a:rPr>
              <a:t>INTRODUCTION &amp; BACKGROUND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7E4B35-B228-469C-BB7A-2196B706B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D303A"/>
                </a:solidFill>
                <a:latin typeface="Arial"/>
                <a:ea typeface="Arial"/>
                <a:cs typeface="Arial"/>
              </a:rPr>
              <a:t>Source bills: OPD tests and pharmacy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0A4851-9F5F-4CEB-A949-E0CB17543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668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58C903-FFC6-4B88-9625-B07A31023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67475"/>
            <a:ext cx="3810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DH 308  /  HIS billing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27648F-F325-45E4-8939-E80257AD4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260AFF-46F1-4F33-9468-129725A06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52575"/>
            <a:ext cx="10382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KIMS bills show a service code and amount for each test, plus separate tax fields on a pharmacy invoice.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263809-EE11-4C26-82A9-82CC05B2E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23E"/>
                </a:solidFill>
                <a:latin typeface="Arial"/>
                <a:ea typeface="Arial"/>
                <a:cs typeface="Arial"/>
              </a:rPr>
              <a:t>OPD diagnostics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CB03E7-14A9-428D-BABE-642A00ABA9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b7f26f83fd4f1f"/>
          <a:stretch xmlns:a="http://schemas.openxmlformats.org/drawingml/2006/main"/>
        </p:blipFill>
        <p:spPr>
          <a:xfrm xmlns:a="http://schemas.openxmlformats.org/drawingml/2006/main">
            <a:off x="1945645" y="2571750"/>
            <a:ext cx="8186410" cy="132397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949A7F-7920-4036-BC0E-390A6481A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242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D303A"/>
                </a:solidFill>
                <a:latin typeface="Arial"/>
                <a:ea typeface="Arial"/>
                <a:cs typeface="Arial"/>
              </a:rPr>
              <a:t>CBC  ₹790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2914D3-DC87-4938-936B-CFF82530D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000500"/>
            <a:ext cx="2333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D303A"/>
                </a:solidFill>
                <a:latin typeface="Arial"/>
                <a:ea typeface="Arial"/>
                <a:cs typeface="Arial"/>
              </a:rPr>
              <a:t>CRP  ₹890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1E7DF7-027A-4170-B116-06EEC55E4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00050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D303A"/>
                </a:solidFill>
                <a:latin typeface="Arial"/>
                <a:ea typeface="Arial"/>
                <a:cs typeface="Arial"/>
              </a:rPr>
              <a:t>Dengue NS1  ₹2,490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E32527-1EC3-4193-8665-551DDB01E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67225"/>
            <a:ext cx="10734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A9DA81-00F3-4283-8253-D2F059D4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01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23E"/>
                </a:solidFill>
                <a:latin typeface="Arial"/>
                <a:ea typeface="Arial"/>
                <a:cs typeface="Arial"/>
              </a:rPr>
              <a:t>Pharmacy GST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B3D9BE-91C0-4EB1-A9B0-FF2753C377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8963bc66664adf"/>
          <a:stretch xmlns:a="http://schemas.openxmlformats.org/drawingml/2006/main"/>
        </p:blipFill>
        <p:spPr>
          <a:xfrm xmlns:a="http://schemas.openxmlformats.org/drawingml/2006/main">
            <a:off x="2331944" y="4981575"/>
            <a:ext cx="7413812" cy="7620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9B3C6B-D07D-49B6-A946-6A7E47A77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753100"/>
            <a:ext cx="10525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C5B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C5B6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C5B66"/>
                </a:solidFill>
                <a:latin typeface="Arial"/>
                <a:ea typeface="Arial"/>
                <a:cs typeface="Arial"/>
              </a:rPr>
              <a:t>Taxable value ₹4,801.38. CGST and SGST are 2.5% each. Receipt ₹5,041.45.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134FD1-83AC-47C7-9803-49B0296F5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De-identified crops from the supplied KIMS bill pages. Values above are transcribed from the scanned documents.</a:t>
            </a:r>
          </a:p>
        </p:txBody>
      </p:sp>
    </p:spTree>
    <p:extLst>
      <p:ext uri="{BB962C8B-B14F-4D97-AF65-F5344CB8AC3E}">
        <p14:creationId xmlns:p14="http://schemas.microsoft.com/office/powerpoint/2010/main" val="4412615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122971-46D1-4A51-88BE-83B8A321F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29991F-E9D2-4268-8482-FB4EE3F73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762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16A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216A7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16A75"/>
                </a:solidFill>
                <a:latin typeface="Arial"/>
                <a:ea typeface="Arial"/>
                <a:cs typeface="Arial"/>
              </a:rPr>
              <a:t>INTRODUCTION &amp; BACKGROUND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DCCBC8-98FD-422E-99F5-E7B2110D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D303A"/>
                </a:solidFill>
                <a:latin typeface="Arial"/>
                <a:ea typeface="Arial"/>
                <a:cs typeface="Arial"/>
              </a:rPr>
              <a:t>Source bills: Apollo inpatient account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3C7BE0-4333-4DA9-9EDD-881F3CE6A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668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7C3114-3869-4507-B129-AACC7C4BE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67475"/>
            <a:ext cx="3810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DH 308  /  HIS billing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76DFC8-5C53-4F67-BC51-9BF827B7F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040DCC-0206-4F0B-BA1F-E873CBE8F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52575"/>
            <a:ext cx="104298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The IPD account combines department charges, pharmacy lines, bed history and a separate payment receipt.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EBF4FC-781A-4F94-AC2B-D8B6EE4DA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6410325" cy="2219325"/>
          </a:xfrm>
          <a:prstGeom xmlns:a="http://schemas.openxmlformats.org/drawingml/2006/main" prst="roundRect">
            <a:avLst>
              <a:gd name="adj" fmla="val 2146"/>
            </a:avLst>
          </a:prstGeom>
          <a:solidFill xmlns:a="http://schemas.openxmlformats.org/drawingml/2006/main">
            <a:srgbClr val="F6F8F8"/>
          </a:solidFill>
          <a:ln xmlns:a="http://schemas.openxmlformats.org/drawingml/2006/main" w="9525">
            <a:solidFill>
              <a:srgbClr val="CED9DC"/>
            </a:solidFill>
            <a:prstDash val="solid"/>
          </a:ln>
        </p:spPr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B9A0E7-FD9C-4573-AC12-37DAF4E2EF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56bc44bf144373"/>
          <a:stretch xmlns:a="http://schemas.openxmlformats.org/drawingml/2006/main"/>
        </p:blipFill>
        <p:spPr>
          <a:xfrm xmlns:a="http://schemas.openxmlformats.org/drawingml/2006/main">
            <a:off x="755423" y="2238375"/>
            <a:ext cx="6328229" cy="20764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D610D6-7864-4B77-8A20-80A7A4E92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49580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C5B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C5B6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C5B66"/>
                </a:solidFill>
                <a:latin typeface="Arial"/>
                <a:ea typeface="Arial"/>
                <a:cs typeface="Arial"/>
              </a:rPr>
              <a:t>Final payable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9CDF0F-1FF6-4787-8DCC-740939906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495800"/>
            <a:ext cx="29241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C5B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C5B6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C5B66"/>
                </a:solidFill>
                <a:latin typeface="Arial"/>
                <a:ea typeface="Arial"/>
                <a:cs typeface="Arial"/>
              </a:rPr>
              <a:t>Separate receipt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2BFA30-1211-47B0-B0F6-866ECBB070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90596953784d05"/>
          <a:stretch xmlns:a="http://schemas.openxmlformats.org/drawingml/2006/main"/>
        </p:blipFill>
        <p:spPr>
          <a:xfrm xmlns:a="http://schemas.openxmlformats.org/drawingml/2006/main">
            <a:off x="757775" y="4819650"/>
            <a:ext cx="2865950" cy="866775"/>
          </a:xfrm>
          <a:prstGeom xmlns:a="http://schemas.openxmlformats.org/drawingml/2006/main" prst="rect">
            <a:avLst/>
          </a:prstGeom>
        </p:spPr>
      </p:pic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01ECCC-6B7D-4F23-A03D-7CC28DA3B0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d1bd614a7f4f97"/>
          <a:stretch xmlns:a="http://schemas.openxmlformats.org/drawingml/2006/main"/>
        </p:blipFill>
        <p:spPr>
          <a:xfrm xmlns:a="http://schemas.openxmlformats.org/drawingml/2006/main">
            <a:off x="3924300" y="4885350"/>
            <a:ext cx="3067050" cy="735375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B15D24-AB64-4B20-95B6-2127D6822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276475"/>
            <a:ext cx="3876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23E"/>
                </a:solidFill>
                <a:latin typeface="Arial"/>
                <a:ea typeface="Arial"/>
                <a:cs typeface="Arial"/>
              </a:rPr>
              <a:t>01   Consultation charges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FD7A43-160C-47A4-A19E-0155D10EF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600325"/>
            <a:ext cx="3848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₹9,500 on the account page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EA6526-7428-4B74-A329-F310F85A0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076575"/>
            <a:ext cx="3876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23E"/>
                </a:solidFill>
                <a:latin typeface="Arial"/>
                <a:ea typeface="Arial"/>
                <a:cs typeface="Arial"/>
              </a:rPr>
              <a:t>02   Emergency services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22E47D-70BC-4B51-95B6-D9932545F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400425"/>
            <a:ext cx="3848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₹5,280, plus a ₹430 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846350-4B0B-4077-B3DE-143FB8268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876675"/>
            <a:ext cx="3876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23E"/>
                </a:solidFill>
                <a:latin typeface="Arial"/>
                <a:ea typeface="Arial"/>
                <a:cs typeface="Arial"/>
              </a:rPr>
              <a:t>03   Pharmacy and bed history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967522-65E5-4FC6-864E-37640FDA7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200525"/>
            <a:ext cx="3857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Three medicine lines total ₹790.03.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C1180B-D00F-4A6B-9B6A-440AB5BB0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476750"/>
            <a:ext cx="3905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Bed dates and categories appear separately.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ABFF95-F262-491F-80E0-99DE6FDD0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191125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The payable and receipt remain distinct records.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E097AE-DAED-48AF-95E2-7A5E0EA7B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De-identified crops from supplied Apollo IPD bill and receipt pages. Values are transcribed from the scanned documents.</a:t>
            </a:r>
          </a:p>
        </p:txBody>
      </p:sp>
    </p:spTree>
    <p:extLst>
      <p:ext uri="{BB962C8B-B14F-4D97-AF65-F5344CB8AC3E}">
        <p14:creationId xmlns:p14="http://schemas.microsoft.com/office/powerpoint/2010/main" val="16071118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D3C4F63-79CB-40CC-AAC1-4A434473A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019709-0536-438E-8C42-807651104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762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16A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216A7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16A75"/>
                </a:solidFill>
                <a:latin typeface="Arial"/>
                <a:ea typeface="Arial"/>
                <a:cs typeface="Arial"/>
              </a:rPr>
              <a:t>INTRODUCTION &amp; BACKGROUND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48BB11-2452-47D1-A222-D40B63D30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D303A"/>
                </a:solidFill>
                <a:latin typeface="Arial"/>
                <a:ea typeface="Arial"/>
                <a:cs typeface="Arial"/>
              </a:rPr>
              <a:t>Billing patterns in the 19 source pages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077F59-62F2-47CE-BCDA-C270B97FF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668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B2BFB1-B1AF-41CC-AE9B-A1501D15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67475"/>
            <a:ext cx="3810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DH 308  /  HIS billing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C0E3B1-CA3D-476D-BEFC-47EC0631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1F1D1F-9323-4BA5-AA0E-0CEC68BB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24000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732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7323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23E"/>
                </a:solidFill>
                <a:latin typeface="Arial"/>
                <a:ea typeface="Arial"/>
                <a:cs typeface="Arial"/>
              </a:rPr>
              <a:t>The scans cover different visit and payment situations. Related pages are grouped below.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A519C0-A3C0-46D3-A4BA-C346C765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2476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16A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16A7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6A75"/>
                </a:solidFill>
                <a:latin typeface="Arial"/>
                <a:ea typeface="Arial"/>
                <a:cs typeface="Arial"/>
              </a:rPr>
              <a:t>SOURCE GROUP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AA1731-F333-4823-ADC4-A543EEED7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057400"/>
            <a:ext cx="457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16A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16A7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6A75"/>
                </a:solidFill>
                <a:latin typeface="Arial"/>
                <a:ea typeface="Arial"/>
                <a:cs typeface="Arial"/>
              </a:rPr>
              <a:t>READABLE OBSERVATION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E1FE82-2FDD-4B23-A9AE-5D956129E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057400"/>
            <a:ext cx="34194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16A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16A7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6A75"/>
                </a:solidFill>
                <a:latin typeface="Arial"/>
                <a:ea typeface="Arial"/>
                <a:cs typeface="Arial"/>
              </a:rPr>
              <a:t>SYSTEM REQUIREMENT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2CF1EA-6B21-4864-94D4-FCD00E6F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19350"/>
            <a:ext cx="10725150" cy="51435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2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731D71-DD72-483E-9444-0556B31E7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533650"/>
            <a:ext cx="2400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23E"/>
                </a:solidFill>
                <a:latin typeface="Arial"/>
                <a:ea typeface="Arial"/>
                <a:cs typeface="Arial"/>
              </a:rPr>
              <a:t>KIMS consultations (4)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5FA4BB-6E45-43F2-ABA5-EEF8C0BD5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514600"/>
            <a:ext cx="44672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₹650 and ₹750 consultation receipts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EF5356-F311-4CBB-B762-B4BE051D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514600"/>
            <a:ext cx="33051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Doctor and visit tariff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58DEA0-5D91-41FF-9AEE-81A4115D0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0375"/>
            <a:ext cx="10725150" cy="51435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30A789-8E13-4157-9A52-0A04EB354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114675"/>
            <a:ext cx="2400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23E"/>
                </a:solidFill>
                <a:latin typeface="Arial"/>
                <a:ea typeface="Arial"/>
                <a:cs typeface="Arial"/>
              </a:rPr>
              <a:t>KIMS diagnostics (6)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CE1729-02DC-48F4-ACED-6996DFF22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095625"/>
            <a:ext cx="44672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Pelvic scan ₹1,880; CBC, CRP and NS1 total ₹4,170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450B7E-2BC1-494E-B6E5-D9B0FD1EE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3095625"/>
            <a:ext cx="33051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Service code and department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510C6F-5723-48AA-9CC7-EB3FCE41E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10725150" cy="51435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2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3CC396-1D7D-45B1-A84B-A0C45B5F3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695700"/>
            <a:ext cx="2400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23E"/>
                </a:solidFill>
                <a:latin typeface="Arial"/>
                <a:ea typeface="Arial"/>
                <a:cs typeface="Arial"/>
              </a:rPr>
              <a:t>KIMS pharmacy (2)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F54314-F045-4066-9621-8B8755374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676650"/>
            <a:ext cx="44672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₹40 and ₹5,041.45 receipts; HSN, batch and split GST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2904DE-68EA-4583-AD81-8DBB878C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3676650"/>
            <a:ext cx="33051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Stock and product tax rule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35BE62-967C-4B61-B749-0C7074D58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62425"/>
            <a:ext cx="10725150" cy="51435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89F00C-3DB5-43B9-B27F-55DC30A0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276725"/>
            <a:ext cx="2400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23E"/>
                </a:solidFill>
                <a:latin typeface="Arial"/>
                <a:ea typeface="Arial"/>
                <a:cs typeface="Arial"/>
              </a:rPr>
              <a:t>KIMS registration (1)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F020AA-18CE-481A-94FE-E775C5F0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257675"/>
            <a:ext cx="44672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₹150 receipt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F95099-EACC-4A07-B5FE-5234189C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4257675"/>
            <a:ext cx="33051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Payment record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032097-5363-4AB6-B276-1AC3EF8C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43450"/>
            <a:ext cx="10725150" cy="51435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2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03458F-1070-4676-9E6D-61DEDA567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857750"/>
            <a:ext cx="2400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23E"/>
                </a:solidFill>
                <a:latin typeface="Arial"/>
                <a:ea typeface="Arial"/>
                <a:cs typeface="Arial"/>
              </a:rPr>
              <a:t>Apollo OPD (2)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6D4291-192E-48EA-9190-4E7D6F52C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838700"/>
            <a:ext cx="44672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₹1,000 consultation bills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C575BE-1E52-4BF4-AEE4-19AE5C2C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4838700"/>
            <a:ext cx="33051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OPD invoice and payment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4A9315-B9C2-485D-AB09-D4B875267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24475"/>
            <a:ext cx="10725150" cy="51435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BEBA0A-D909-47E3-92A2-C58A56009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438775"/>
            <a:ext cx="2400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23E"/>
                </a:solidFill>
                <a:latin typeface="Arial"/>
                <a:ea typeface="Arial"/>
                <a:cs typeface="Arial"/>
              </a:rPr>
              <a:t>Apollo IPD (4)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760266-7ABF-4A2F-BD4C-A70FFF141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5419725"/>
            <a:ext cx="44672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₹66,153 payable; separate ₹5,779 receipt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44256F4-75DB-4601-9534-43078240B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5419725"/>
            <a:ext cx="33051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Running bill and settlement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C5C308F-E48D-43C1-B961-DC768FF82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13 KIMS and 6 Apollo scanned pages supplied for the project. Amounts shown only where the scan is legible; no patient identifiers appear.</a:t>
            </a:r>
          </a:p>
        </p:txBody>
      </p:sp>
    </p:spTree>
    <p:extLst>
      <p:ext uri="{BB962C8B-B14F-4D97-AF65-F5344CB8AC3E}">
        <p14:creationId xmlns:p14="http://schemas.microsoft.com/office/powerpoint/2010/main" val="7934327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DEFEB4-172D-4687-8EA1-F5EFC368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60940A-009D-4F91-B3AA-2F6C43A5F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762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16A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216A7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16A75"/>
                </a:solidFill>
                <a:latin typeface="Arial"/>
                <a:ea typeface="Arial"/>
                <a:cs typeface="Arial"/>
              </a:rPr>
              <a:t>INTRODUCTION &amp; BACKGROUND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218BFB-B8F0-45C6-9966-E23C1B5F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D303A"/>
                </a:solidFill>
                <a:latin typeface="Arial"/>
                <a:ea typeface="Arial"/>
                <a:cs typeface="Arial"/>
              </a:rPr>
              <a:t>Problem statement and objectives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1507C4-4B41-4AA0-81AA-98C39B481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668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2C4C5B-6E43-4568-A8C5-7566CAB3D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67475"/>
            <a:ext cx="3810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DH 308  /  HIS billing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AFFB6C-1FA6-4F2C-B96B-14DAE6B7F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4EC95C-EF42-4AAF-9EF0-79C5F051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10734675" cy="895350"/>
          </a:xfrm>
          <a:prstGeom xmlns:a="http://schemas.openxmlformats.org/drawingml/2006/main" prst="roundRect">
            <a:avLst>
              <a:gd name="adj" fmla="val 7447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62505D-59AA-4FA9-806D-C95539110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430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C5B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C5B6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C5B66"/>
                </a:solidFill>
                <a:latin typeface="Arial"/>
                <a:ea typeface="Arial"/>
                <a:cs typeface="Arial"/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F85ADE-BB9F-4DCC-A6ED-7A94507DF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1704975"/>
            <a:ext cx="88392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A service can be missed, repeated, charged at the wrong tariff, or confused with a payer approval.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134897-CF14-432E-8B11-B82770701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337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701E75-661A-4A07-915B-D680DEDC1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A24DC0-44AF-4F29-A426-E1A57C89B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86150"/>
            <a:ext cx="23526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3FA4E3-015A-42B2-B29D-1D0EEBC17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23907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D303A"/>
                </a:solidFill>
                <a:latin typeface="Arial"/>
                <a:ea typeface="Arial"/>
                <a:cs typeface="Arial"/>
              </a:rPr>
              <a:t>Capture once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5658D8-0B28-4964-991D-3416A1DA0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235267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Reject a repeated HIS event ID.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77344F-702F-4886-A5C2-1031EAC13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337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DF5EB8-0D92-4234-9E36-273A4FC7A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099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871F7A-F3F6-4EB9-9C71-7A551EA66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486150"/>
            <a:ext cx="23526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6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59AAB6-3928-4E19-84B2-178AA7C70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733800"/>
            <a:ext cx="23907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D303A"/>
                </a:solidFill>
                <a:latin typeface="Arial"/>
                <a:ea typeface="Arial"/>
                <a:cs typeface="Arial"/>
              </a:rPr>
              <a:t>Use the right rate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91B8C0-35F5-451B-A860-749EA910E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362450"/>
            <a:ext cx="235267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Snapshot the payer tariff on the charge.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94FE82-3B5A-4275-85F2-4FDC2E153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337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5FB204-D201-490E-A74D-C1667279E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099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13EBA2-E8C2-4A92-8D47-62C731A4E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86150"/>
            <a:ext cx="23526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5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170D82-1E5B-4536-94D0-9C0ECC9FA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33800"/>
            <a:ext cx="23907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D303A"/>
                </a:solidFill>
                <a:latin typeface="Arial"/>
                <a:ea typeface="Arial"/>
                <a:cs typeface="Arial"/>
              </a:rPr>
              <a:t>Explain the bill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2D521F-32EC-438D-ADEC-839932E2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362450"/>
            <a:ext cx="235267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Show item, quantity, GST and total.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D73FB4-30CA-4AAF-BE99-368ED4C6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9337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0F97F2-2049-461F-AF62-F2341FE6E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0099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6664E3-A6D8-4D79-A6A2-1EBD587D1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486150"/>
            <a:ext cx="23526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DBE71B-C5CC-4C32-A300-BD0D3972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733800"/>
            <a:ext cx="23907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D303A"/>
                </a:solidFill>
                <a:latin typeface="Arial"/>
                <a:ea typeface="Arial"/>
                <a:cs typeface="Arial"/>
              </a:rPr>
              <a:t>Track money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7FFC99-7C4F-4D47-94A2-4A4B3A80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4362450"/>
            <a:ext cx="235267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Keep claims and actual receipts separate.</a:t>
            </a:r>
          </a:p>
        </p:txBody>
      </p:sp>
    </p:spTree>
    <p:extLst>
      <p:ext uri="{BB962C8B-B14F-4D97-AF65-F5344CB8AC3E}">
        <p14:creationId xmlns:p14="http://schemas.microsoft.com/office/powerpoint/2010/main" val="20034977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64370D-AE72-40E0-A734-90AFB79E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53A0A2-A25B-419A-A124-623D13C22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762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16A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216A7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16A75"/>
                </a:solidFill>
                <a:latin typeface="Arial"/>
                <a:ea typeface="Arial"/>
                <a:cs typeface="Arial"/>
              </a:rPr>
              <a:t>INTRODUCTION &amp; BACKGROUND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784C05-B551-41DC-AE99-637A9608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D303A"/>
                </a:solidFill>
                <a:latin typeface="Arial"/>
                <a:ea typeface="Arial"/>
                <a:cs typeface="Arial"/>
              </a:rPr>
              <a:t>Existing gaps and why they occur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A3F6CD-3ECA-4747-98F4-FDBBD4A77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668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8BB247-5003-4FA2-BC99-768437DBD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67475"/>
            <a:ext cx="3810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DH 308  /  HIS billing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B85667-9A31-4017-A3CC-63EBCDDC4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B85EBB-59FB-44CD-B23E-34F1794A6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972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16A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16A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16A75"/>
                </a:solidFill>
                <a:latin typeface="Arial"/>
                <a:ea typeface="Arial"/>
                <a:cs typeface="Arial"/>
              </a:rPr>
              <a:t>Gap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A74E76-3254-4DAA-94FE-AEEA6ECE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609725"/>
            <a:ext cx="300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16A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16A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16A75"/>
                </a:solidFill>
                <a:latin typeface="Arial"/>
                <a:ea typeface="Arial"/>
                <a:cs typeface="Arial"/>
              </a:rPr>
              <a:t>Reason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2AE86F-5EF4-4EEA-8AE1-3F5C7B9E9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1609725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16A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16A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16A75"/>
                </a:solidFill>
                <a:latin typeface="Arial"/>
                <a:ea typeface="Arial"/>
                <a:cs typeface="Arial"/>
              </a:rPr>
              <a:t>Design response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E494BB-C84B-45C3-BE92-46C86603A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28825"/>
            <a:ext cx="10734675" cy="752475"/>
          </a:xfrm>
          <a:prstGeom xmlns:a="http://schemas.openxmlformats.org/drawingml/2006/main" prst="roundRect">
            <a:avLst>
              <a:gd name="adj" fmla="val 8861"/>
            </a:avLst>
          </a:prstGeom>
          <a:solidFill xmlns:a="http://schemas.openxmlformats.org/drawingml/2006/main">
            <a:srgbClr val="F6F8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9FE0E0-E2E9-4207-AE54-B8EC44005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2098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73BA01-B5EA-45F3-A0FF-9DC3C2BD6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286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0A42CC-F1A4-4079-8D48-96E4152F7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2383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3E"/>
                </a:solidFill>
                <a:latin typeface="Arial"/>
                <a:ea typeface="Arial"/>
                <a:cs typeface="Arial"/>
              </a:rPr>
              <a:t>Missing service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67EBEB-3ACA-4B33-8FCA-4008669BB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71700"/>
            <a:ext cx="29432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Manual handoff between care and billing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7596BA-C55C-48DB-9F2C-695BDB334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171700"/>
            <a:ext cx="3095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Doctor event posts a charge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B1BC3A-26B6-4F8D-B269-66A55077C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71800"/>
            <a:ext cx="10734675" cy="752475"/>
          </a:xfrm>
          <a:prstGeom xmlns:a="http://schemas.openxmlformats.org/drawingml/2006/main" prst="roundRect">
            <a:avLst>
              <a:gd name="adj" fmla="val 8861"/>
            </a:avLst>
          </a:prstGeom>
          <a:solidFill xmlns:a="http://schemas.openxmlformats.org/drawingml/2006/main">
            <a:srgbClr val="F2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C57D5C-675C-43DC-B32F-C881D12B7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1527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A74BC9-C96E-45C7-A1D7-E8520AC9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2289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AE7B3A-4045-4BE1-8488-B8F8B888D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813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3E"/>
                </a:solidFill>
                <a:latin typeface="Arial"/>
                <a:ea typeface="Arial"/>
                <a:cs typeface="Arial"/>
              </a:rPr>
              <a:t>Wrong amount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AA0EA4-3E0B-4AE8-9235-2F28C9A0E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14675"/>
            <a:ext cx="29432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Different payer rate cards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389764-9B70-4D87-8E8A-6E2FEBBE4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114675"/>
            <a:ext cx="3095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Rate chosen at capture time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3B8ED0-862A-4CC2-A677-4FAF5DECA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14775"/>
            <a:ext cx="10734675" cy="752475"/>
          </a:xfrm>
          <a:prstGeom xmlns:a="http://schemas.openxmlformats.org/drawingml/2006/main" prst="roundRect">
            <a:avLst>
              <a:gd name="adj" fmla="val 8861"/>
            </a:avLst>
          </a:prstGeom>
          <a:solidFill xmlns:a="http://schemas.openxmlformats.org/drawingml/2006/main">
            <a:srgbClr val="F6F8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89A0D1-54C3-486E-AB0C-424B62F1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0957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3EEC14-3F1D-46F3-8B23-C4DC0F7B2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171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8307F6-61EE-4B1D-8BA1-956299E38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243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3E"/>
                </a:solidFill>
                <a:latin typeface="Arial"/>
                <a:ea typeface="Arial"/>
                <a:cs typeface="Arial"/>
              </a:rPr>
              <a:t>Payment confusion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EAC41C-1CEB-443C-AFB3-42D08B0DC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57650"/>
            <a:ext cx="29432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Approval treated as collection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70C260-105F-4CEE-BA84-B6701AA2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057650"/>
            <a:ext cx="3095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Claim and receipt stored separately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A78F81-1864-4E05-82DF-A41C61F99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10734675" cy="752475"/>
          </a:xfrm>
          <a:prstGeom xmlns:a="http://schemas.openxmlformats.org/drawingml/2006/main" prst="roundRect">
            <a:avLst>
              <a:gd name="adj" fmla="val 8861"/>
            </a:avLst>
          </a:prstGeom>
          <a:solidFill xmlns:a="http://schemas.openxmlformats.org/drawingml/2006/main">
            <a:srgbClr val="F2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38835F-633B-4760-AF23-49508931B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0387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3EBACE-7980-4C9E-B7FA-2415DD268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1149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336FDF-D9C9-48C0-8FC1-1BC71B1E2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673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3E"/>
                </a:solidFill>
                <a:latin typeface="Arial"/>
                <a:ea typeface="Arial"/>
                <a:cs typeface="Arial"/>
              </a:rPr>
              <a:t>Discharge delay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5D3A18-195F-4EF4-A5B8-BBD2D7D89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000625"/>
            <a:ext cx="29432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Charges assembled at the end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AE3873-4EBF-40E6-A553-840F12652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000625"/>
            <a:ext cx="3095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Running bill stays current</a:t>
            </a:r>
          </a:p>
        </p:txBody>
      </p:sp>
    </p:spTree>
    <p:extLst>
      <p:ext uri="{BB962C8B-B14F-4D97-AF65-F5344CB8AC3E}">
        <p14:creationId xmlns:p14="http://schemas.microsoft.com/office/powerpoint/2010/main" val="9702158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4BD051-6CA3-4FB8-A457-B24F66244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16F1E0-99BC-491F-84E1-63DAD813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762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16A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216A7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16A75"/>
                </a:solidFill>
                <a:latin typeface="Arial"/>
                <a:ea typeface="Arial"/>
                <a:cs typeface="Arial"/>
              </a:rPr>
              <a:t>LITERATURE REVIEW / STANDARDS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282131-777B-4479-B155-378CF1A8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D303A"/>
                </a:solidFill>
                <a:latin typeface="Arial"/>
                <a:ea typeface="Arial"/>
                <a:cs typeface="Arial"/>
              </a:rPr>
              <a:t>Evidence behind the billing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39FB34-9673-4686-A96B-0F2125547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668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D4BCD9-A656-41EC-9A6F-3FF6B8EF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67475"/>
            <a:ext cx="3810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DH 308  /  HIS billing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632869-FA22-4A5D-8C1B-5C9178D87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07B5E3-FE3B-46C1-B80C-C05817259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668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1B595B-9CFD-4C9A-9FE4-0569252F3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7430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DB5554-2D6A-4D44-86A1-34607B0B9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1600200"/>
            <a:ext cx="10077450" cy="6096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F2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077BCA-6CF5-453F-9525-C6DC58BCF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04975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D303A"/>
                </a:solidFill>
                <a:latin typeface="Arial"/>
                <a:ea typeface="Arial"/>
                <a:cs typeface="Arial"/>
              </a:rPr>
              <a:t>Itemised billing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87B97B-F26F-4E2A-AFA0-9E5162C89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695450"/>
            <a:ext cx="676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The Patients’ Rights Charter supports a clear charge list and receipt for the patient.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8B4A94-81BF-4D8A-9AAF-B7896BDA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7241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686A4E-30C4-42D4-A0CC-7E07DEBC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8003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F043E8-CFC1-4AE8-B4A8-BEE3B0E8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657475"/>
            <a:ext cx="10077450" cy="6096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FF8D34-1C0F-4042-B814-444E06A3B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62250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D303A"/>
                </a:solidFill>
                <a:latin typeface="Arial"/>
                <a:ea typeface="Arial"/>
                <a:cs typeface="Arial"/>
              </a:rPr>
              <a:t>Charge versus invoice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40004F-3FB4-4357-9DC9-E90EF7874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52725"/>
            <a:ext cx="676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HL7 FHIR separates a performed ChargeItem from the priced lines of an Invoice.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F5E243-18B8-415E-A94C-270963AEA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7814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04CAB6-F137-4FC6-AFA6-E0828D0E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8576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3AAD79-98B8-49B6-AEA4-226408455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714750"/>
            <a:ext cx="10077450" cy="6096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F2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7D1603-D1A7-4E71-9EAA-02641C12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19525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D303A"/>
                </a:solidFill>
                <a:latin typeface="Arial"/>
                <a:ea typeface="Arial"/>
                <a:cs typeface="Arial"/>
              </a:rPr>
              <a:t>Payer workflow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8B1714-4A2E-49A0-BABA-A0CCE9F1F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810000"/>
            <a:ext cx="676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IRDAI describes preauthorisation for cashless care; NHA uses package rules for PM-JAY.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D8AAB6-F9C6-418B-B263-30C28CE4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8387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0A02A2-719A-40C0-8A57-968021DB0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9149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956AE8-065D-467A-9B0D-60CB1F7E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772025"/>
            <a:ext cx="10077450" cy="6096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F55DDD-2E5D-47B7-AB40-F6E60147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76800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D303A"/>
                </a:solidFill>
                <a:latin typeface="Arial"/>
                <a:ea typeface="Arial"/>
                <a:cs typeface="Arial"/>
              </a:rPr>
              <a:t>HIS data model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91CAAE-36F3-4018-BB28-94B5BA697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867275"/>
            <a:ext cx="676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Course lectures on ER, ICD-10 and HL7 informed the encounter and code fields.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9FDD82-D743-441D-9812-7BAEBFE32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Sources: MoHFW, HL7 FHIR R4, IRDAI, NHA and DH 308 course material. Full references are on the final slide.</a:t>
            </a:r>
          </a:p>
        </p:txBody>
      </p:sp>
    </p:spTree>
    <p:extLst>
      <p:ext uri="{BB962C8B-B14F-4D97-AF65-F5344CB8AC3E}">
        <p14:creationId xmlns:p14="http://schemas.microsoft.com/office/powerpoint/2010/main" val="10118742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93A56DB-9068-4DBE-9F30-41E235696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2D7D7D-9FEB-4A63-ADC7-E40EE5BEA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762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16A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216A7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16A75"/>
                </a:solidFill>
                <a:latin typeface="Arial"/>
                <a:ea typeface="Arial"/>
                <a:cs typeface="Arial"/>
              </a:rPr>
              <a:t>LITERATURE REVIEW / STANDARDS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AEDDAC-5516-4756-8B1F-8F9157F8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D303A"/>
                </a:solidFill>
                <a:latin typeface="Arial"/>
                <a:ea typeface="Arial"/>
                <a:cs typeface="Arial"/>
              </a:rPr>
              <a:t>Clinical and billing codes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9FA8D8-8ACA-43E5-BFCF-14B868BD1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668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20DC85-5191-4A63-9EF3-01589E9C9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67475"/>
            <a:ext cx="3810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DH 308  /  HIS billing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D1A531-2279-4F41-9595-487373692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EB8575-C577-4D3D-BCF0-C46335258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4305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732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7323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23E"/>
                </a:solidFill>
                <a:latin typeface="Arial"/>
                <a:ea typeface="Arial"/>
                <a:cs typeface="Arial"/>
              </a:rPr>
              <a:t>Different codes answer different questions. The system stores each code with its source.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0E1F48-8F2B-4AE0-8696-0793C857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95500"/>
            <a:ext cx="228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16A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16A7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6A75"/>
                </a:solidFill>
                <a:latin typeface="Arial"/>
                <a:ea typeface="Arial"/>
                <a:cs typeface="Arial"/>
              </a:rPr>
              <a:t>CODE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286E9B-FABC-4169-82E0-0EE7A9F9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95500"/>
            <a:ext cx="3619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16A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16A7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6A75"/>
                </a:solidFill>
                <a:latin typeface="Arial"/>
                <a:ea typeface="Arial"/>
                <a:cs typeface="Arial"/>
              </a:rPr>
              <a:t>MEANING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A334EC-3576-48A7-A075-52854D822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95500"/>
            <a:ext cx="4191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16A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16A7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6A75"/>
                </a:solidFill>
                <a:latin typeface="Arial"/>
                <a:ea typeface="Arial"/>
                <a:cs typeface="Arial"/>
              </a:rPr>
              <a:t>USE IN THIS DESIGN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CC66E-ACC4-4B45-8E71-E278A9B6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10734675" cy="4953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2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91D4B1-50C8-4797-A025-8B701C849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590800"/>
            <a:ext cx="2181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23E"/>
                </a:solidFill>
                <a:latin typeface="Arial"/>
                <a:ea typeface="Arial"/>
                <a:cs typeface="Arial"/>
              </a:rPr>
              <a:t>ICD-10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0D650F-D2C7-4221-A02B-ECB9D199F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908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Why was care needed?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8D8E2F-18B4-4038-82E1-8983796BF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71750"/>
            <a:ext cx="400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Doctor diagnosis and claim context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B2D94F-1B7A-441B-B636-349C8FD4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38475"/>
            <a:ext cx="10734675" cy="4953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5EF1A0-F9C4-4037-83B2-A9EAA7EC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152775"/>
            <a:ext cx="2181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23E"/>
                </a:solidFill>
                <a:latin typeface="Arial"/>
                <a:ea typeface="Arial"/>
                <a:cs typeface="Arial"/>
              </a:rPr>
              <a:t>Service code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B78424-2250-4A02-BFF5-4566A5664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527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What was done?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9060F1-034F-4B40-B458-AE6C791B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33725"/>
            <a:ext cx="400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KIMS bill examples: PAT0042, BIO0121, MIC0251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3CF817-4FD1-4945-B245-966F801A6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00450"/>
            <a:ext cx="10734675" cy="4953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2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594944-BBE6-4E26-AE01-4C120E5A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714750"/>
            <a:ext cx="2181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23E"/>
                </a:solidFill>
                <a:latin typeface="Arial"/>
                <a:ea typeface="Arial"/>
                <a:cs typeface="Arial"/>
              </a:rPr>
              <a:t>CPT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25EAB0-5401-48A7-A655-29682D0F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147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External procedure mapping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53F156-F6B3-44BE-B3B7-1BD12276E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95700"/>
            <a:ext cx="400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Optional licensed mapping, not the default Indian tariff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3561F8-EEC8-4A30-BE6F-A111EEB80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62425"/>
            <a:ext cx="10734675" cy="4953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BA4BB8-A5B5-42FC-B516-90F0AB084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276725"/>
            <a:ext cx="2181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23E"/>
                </a:solidFill>
                <a:latin typeface="Arial"/>
                <a:ea typeface="Arial"/>
                <a:cs typeface="Arial"/>
              </a:rPr>
              <a:t>LOINC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63D0CD-E2B9-4096-B2B4-4FA0FAE5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7672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Which lab observation?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1C8499-048E-4FC5-AC90-CD7F745AF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257675"/>
            <a:ext cx="400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HbA1c result uses 4548-4 in the demo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E3C7F6-07D2-4CAC-8BC8-BD5B3AA8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24400"/>
            <a:ext cx="10734675" cy="4953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2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F2B63E-8B45-432A-892F-711C5F9CA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838700"/>
            <a:ext cx="2181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23E"/>
                </a:solidFill>
                <a:latin typeface="Arial"/>
                <a:ea typeface="Arial"/>
                <a:cs typeface="Arial"/>
              </a:rPr>
              <a:t>HSN / SAC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A93AB7-6AC3-44A0-B773-C748871B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387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What is the GST class?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95BC64-AD3C-463B-8EEC-0DFAC4322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819650"/>
            <a:ext cx="400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Pharmacy goods and billable service classification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B558F0-B1EC-478D-8E71-0C6B73217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10734675" cy="4953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1EA145E-43B4-4231-A7D3-93505EC3C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400675"/>
            <a:ext cx="2181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23E"/>
                </a:solidFill>
                <a:latin typeface="Arial"/>
                <a:ea typeface="Arial"/>
                <a:cs typeface="Arial"/>
              </a:rPr>
              <a:t>PM-JAY HBP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FC9610-8756-46A9-AD4B-FE04BF42D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4006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Which scheme package?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A2303F1-AE05-4EA3-AD9C-85FD092BC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381625"/>
            <a:ext cx="400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Rate and claim route for an empanelled case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6D37850-9E23-45A0-975F-BBBF5C90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WHO ICD; MoHFW EHR standards (CPT is optional and licensed); DH 308 ICD/LOINC lecture; NHA HBP manual. Service codes are from the supplied KIMS bill.</a:t>
            </a:r>
          </a:p>
        </p:txBody>
      </p:sp>
    </p:spTree>
    <p:extLst>
      <p:ext uri="{BB962C8B-B14F-4D97-AF65-F5344CB8AC3E}">
        <p14:creationId xmlns:p14="http://schemas.microsoft.com/office/powerpoint/2010/main" val="118198592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B092B5-5C8F-4DAF-90B9-E31EAD10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BBA7F7-FB5E-41C2-AA96-539360803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762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16A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216A7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16A75"/>
                </a:solidFill>
                <a:latin typeface="Arial"/>
                <a:ea typeface="Arial"/>
                <a:cs typeface="Arial"/>
              </a:rPr>
              <a:t>LITERATURE REVIEW / STANDARDS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38508D-096D-488C-893E-A94BF612C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D303A"/>
                </a:solidFill>
                <a:latin typeface="Arial"/>
                <a:ea typeface="Arial"/>
                <a:cs typeface="Arial"/>
              </a:rPr>
              <a:t>GST rules the prototype applies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2251CE-8B95-4BCA-AE04-DE95A964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668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5D9BD6-C75C-4507-BE3F-2481CF39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67475"/>
            <a:ext cx="3810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DH 308  /  HIS billing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1A3403-A3A2-48F8-B158-014113AB0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077283-7014-47CC-96FD-6DA2F4B1E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732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7323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23E"/>
                </a:solidFill>
                <a:latin typeface="Arial"/>
                <a:ea typeface="Arial"/>
                <a:cs typeface="Arial"/>
              </a:rPr>
              <a:t>The tariff stores tax treatment by item and supply context.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3FDB07-106A-4D79-9927-0E7843BA1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43125"/>
            <a:ext cx="10744200" cy="6477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F2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685A7B-F47F-416A-B04A-04C8C435E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05050"/>
            <a:ext cx="3143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23E"/>
                </a:solidFill>
                <a:latin typeface="Arial"/>
                <a:ea typeface="Arial"/>
                <a:cs typeface="Arial"/>
              </a:rPr>
              <a:t>Clinical care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44FC69-C94F-4AC6-8759-692BF0D2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2860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Qualifying consultation and treatment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80515C-1AF1-4C4A-8DB5-322E01A37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95525"/>
            <a:ext cx="1733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1425" b="1">
                <a:solidFill>
                  <a:srgbClr val="1C5B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425" b="1">
                <a:solidFill>
                  <a:srgbClr val="1C5B6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C5B66"/>
                </a:solidFill>
                <a:latin typeface="Arial"/>
                <a:ea typeface="Arial"/>
                <a:cs typeface="Arial"/>
              </a:rPr>
              <a:t>Exempt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DFC848-F96A-439C-A2DC-D02028E0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24175"/>
            <a:ext cx="10744200" cy="6477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A4306C-E485-471F-9DF3-D364C2AD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86100"/>
            <a:ext cx="3143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23E"/>
                </a:solidFill>
                <a:latin typeface="Arial"/>
                <a:ea typeface="Arial"/>
                <a:cs typeface="Arial"/>
              </a:rPr>
              <a:t>Separate OPD medicine sale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DC2445-0720-4EE3-812F-D80E37825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06705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KIMS pharmacy sample: ₹4,801.38 taxable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5BAE25-E2C8-4F0E-BE20-FB5F17CC9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76575"/>
            <a:ext cx="1733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1425" b="1">
                <a:solidFill>
                  <a:srgbClr val="1C5B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425" b="1">
                <a:solidFill>
                  <a:srgbClr val="1C5B6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C5B66"/>
                </a:solidFill>
                <a:latin typeface="Arial"/>
                <a:ea typeface="Arial"/>
                <a:cs typeface="Arial"/>
              </a:rPr>
              <a:t>5% GST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AAD13D-4402-4FB4-9681-354AD4340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05225"/>
            <a:ext cx="10744200" cy="6477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F2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813422-ABE3-4617-AEB0-06B908DF8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67150"/>
            <a:ext cx="3143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23E"/>
                </a:solidFill>
                <a:latin typeface="Arial"/>
                <a:ea typeface="Arial"/>
                <a:cs typeface="Arial"/>
              </a:rPr>
              <a:t>Notified nil-rated medicine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D139C5-93C5-4DA5-BF2F-E61B7354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8481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Rate follows the product classification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E5FBA5-81C3-4A70-8A9F-2B5418AB1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857625"/>
            <a:ext cx="1733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1425" b="1">
                <a:solidFill>
                  <a:srgbClr val="1C5B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425" b="1">
                <a:solidFill>
                  <a:srgbClr val="1C5B6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C5B66"/>
                </a:solidFill>
                <a:latin typeface="Arial"/>
                <a:ea typeface="Arial"/>
                <a:cs typeface="Arial"/>
              </a:rPr>
              <a:t>Nil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1DEFE9-A6D9-4FE6-84AC-0C466AC38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86275"/>
            <a:ext cx="10744200" cy="6477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D545D5-975D-47AB-8100-D4CFBB75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48200"/>
            <a:ext cx="3143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23E"/>
                </a:solidFill>
                <a:latin typeface="Arial"/>
                <a:ea typeface="Arial"/>
                <a:cs typeface="Arial"/>
              </a:rPr>
              <a:t>Specified non-ICU room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334B40-47C9-4FB3-B02A-E8457867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62915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Example: ₹6,000 per day, above ₹5,000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3883B6-6075-4FC8-847E-1B0420CE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638675"/>
            <a:ext cx="1733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1425" b="1">
                <a:solidFill>
                  <a:srgbClr val="1C5B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425" b="1">
                <a:solidFill>
                  <a:srgbClr val="1C5B6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C5B66"/>
                </a:solidFill>
                <a:latin typeface="Arial"/>
                <a:ea typeface="Arial"/>
                <a:cs typeface="Arial"/>
              </a:rPr>
              <a:t>5%, ₹300 tax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28829A-7717-413B-8D51-D34E3855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81625"/>
            <a:ext cx="10620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Inpatient medicines supplied as part of qualifying hospital care need a composite-supply review; the OPD pharmacy rate is not applied automatically.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3E1444-5851-48B4-9EDF-B9E851A1F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GST Council 2025 medicine FAQ; CBIC service rate entry 31A (5% without ITC); notification 12/2017 and inpatient AAR orders.</a:t>
            </a:r>
          </a:p>
        </p:txBody>
      </p:sp>
    </p:spTree>
    <p:extLst>
      <p:ext uri="{BB962C8B-B14F-4D97-AF65-F5344CB8AC3E}">
        <p14:creationId xmlns:p14="http://schemas.microsoft.com/office/powerpoint/2010/main" val="97645273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1A4270-C340-49DC-B93C-166053AFE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8078A4-9288-48CC-A13C-F3EC92107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762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16A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216A7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16A75"/>
                </a:solidFill>
                <a:latin typeface="Arial"/>
                <a:ea typeface="Arial"/>
                <a:cs typeface="Arial"/>
              </a:rPr>
              <a:t>SYSTEM DESIGN &amp;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BEA450-95F0-452F-A264-7AA67CF01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D303A"/>
                </a:solidFill>
                <a:latin typeface="Arial"/>
                <a:ea typeface="Arial"/>
                <a:cs typeface="Arial"/>
              </a:rPr>
              <a:t>System modules and integration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17B123-9884-48B7-B09B-629B4D442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668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8FDA50-54AA-40DF-8367-2D9BB4767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67475"/>
            <a:ext cx="3810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DH 308  /  HIS billing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6B11F0-5552-47ED-B61E-AF2B5E0E4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A54B6E-2DD0-41ED-933B-CC3F837D4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81150"/>
            <a:ext cx="103632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732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7323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23E"/>
                </a:solidFill>
                <a:latin typeface="Arial"/>
                <a:ea typeface="Arial"/>
                <a:cs typeface="Arial"/>
              </a:rPr>
              <a:t>Three desks work on the same encounter. FastAPI checks each write before PostgreSQL stores 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D88961-90FA-404C-AEFA-4EBE3735E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95550"/>
            <a:ext cx="3276600" cy="1057275"/>
          </a:xfrm>
          <a:prstGeom xmlns:a="http://schemas.openxmlformats.org/drawingml/2006/main" prst="roundRect">
            <a:avLst>
              <a:gd name="adj" fmla="val 6306"/>
            </a:avLst>
          </a:prstGeom>
          <a:solidFill xmlns:a="http://schemas.openxmlformats.org/drawingml/2006/main">
            <a:srgbClr val="F2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23DC5B-64FD-4E65-BB33-AC8171FB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C5B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C5B6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C5B66"/>
                </a:solidFill>
                <a:latin typeface="Arial"/>
                <a:ea typeface="Arial"/>
                <a:cs typeface="Arial"/>
              </a:rPr>
              <a:t>DOCTOR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0A676A-1F7A-4B99-B7D0-9E26C82C8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76575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Note, ICD-10, service, prescription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F5F901-2BEB-4CFA-B6BA-D74BF747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495550"/>
            <a:ext cx="3276600" cy="1057275"/>
          </a:xfrm>
          <a:prstGeom xmlns:a="http://schemas.openxmlformats.org/drawingml/2006/main" prst="roundRect">
            <a:avLst>
              <a:gd name="adj" fmla="val 6306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907EA-65DB-449B-BA63-C0635A94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6860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C5B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C5B6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C5B66"/>
                </a:solidFill>
                <a:latin typeface="Arial"/>
                <a:ea typeface="Arial"/>
                <a:cs typeface="Arial"/>
              </a:rPr>
              <a:t>PHARMACY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9C49F3-32B5-4539-9F5D-2FA27183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076575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Prescription, batch, dispense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E11BDE-AE0A-44B4-97D8-D89A2120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495550"/>
            <a:ext cx="3276600" cy="1057275"/>
          </a:xfrm>
          <a:prstGeom xmlns:a="http://schemas.openxmlformats.org/drawingml/2006/main" prst="roundRect">
            <a:avLst>
              <a:gd name="adj" fmla="val 6306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A01AEB-DC82-481E-91C1-24892B88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6860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C5B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C5B6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C5B66"/>
                </a:solidFill>
                <a:latin typeface="Arial"/>
                <a:ea typeface="Arial"/>
                <a:cs typeface="Arial"/>
              </a:rPr>
              <a:t>BILLING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DDBA77-62AB-4223-B834-182901AB6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76575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Room, payer, invoice, receipt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C8138D-BBB8-4091-8213-C077BB7F5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62400"/>
            <a:ext cx="10096500" cy="781050"/>
          </a:xfrm>
          <a:prstGeom xmlns:a="http://schemas.openxmlformats.org/drawingml/2006/main" prst="roundRect">
            <a:avLst>
              <a:gd name="adj" fmla="val 8537"/>
            </a:avLst>
          </a:prstGeom>
          <a:solidFill xmlns:a="http://schemas.openxmlformats.org/drawingml/2006/main">
            <a:srgbClr val="1732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F84F46-9232-492C-98A2-3075AD6CC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1719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FastAPI: access checks, charge capture, tax rules, claim state and invoice lock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FCA722-B857-4685-89A2-D5907EC5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53025"/>
            <a:ext cx="6315075" cy="666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67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E61327-55E7-4890-9B9D-9ED1D0762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5334000"/>
            <a:ext cx="5962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PostgreSQL: linked records and audit events</a:t>
            </a:r>
          </a:p>
        </p:txBody>
      </p:sp>
    </p:spTree>
    <p:extLst>
      <p:ext uri="{BB962C8B-B14F-4D97-AF65-F5344CB8AC3E}">
        <p14:creationId xmlns:p14="http://schemas.microsoft.com/office/powerpoint/2010/main" val="109329445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892B05B-259B-4689-AFB6-3D2B6BAA3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7079FD-7E80-4E93-8062-0559DC64C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762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16A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216A7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16A75"/>
                </a:solidFill>
                <a:latin typeface="Arial"/>
                <a:ea typeface="Arial"/>
                <a:cs typeface="Arial"/>
              </a:rPr>
              <a:t>SYSTEM DESIGN &amp;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AEA884-A64A-4886-B4B1-96EBB8BF3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D303A"/>
                </a:solidFill>
                <a:latin typeface="Arial"/>
                <a:ea typeface="Arial"/>
                <a:cs typeface="Arial"/>
              </a:rPr>
              <a:t>Database schema: the useful links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5824D5-1382-48B8-B6E1-485228FB6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668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679D25-272E-4DC3-9105-D2FED7DE8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67475"/>
            <a:ext cx="3810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DH 308  /  HIS billing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9C83E2-8CEB-4B03-AA84-DEAA63FB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6B7973-9F39-46E3-93F2-3E8DF2689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216A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16A7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16A75"/>
                </a:solidFill>
                <a:latin typeface="Arial"/>
                <a:ea typeface="Arial"/>
                <a:cs typeface="Arial"/>
              </a:rPr>
              <a:t>CARE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9165E4-BD1B-4309-BA49-7C312BCC2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66925"/>
            <a:ext cx="3305175" cy="685800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2AE468-C0CC-47E1-8871-7288A00F4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62175"/>
            <a:ext cx="30194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323E"/>
                </a:solidFill>
                <a:latin typeface="Arial"/>
                <a:ea typeface="Arial"/>
                <a:cs typeface="Arial"/>
              </a:rPr>
              <a:t>patients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ECAE2B-A2E4-4BD3-8992-1FFAEB91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3028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patient_id (PK)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BC0E87-085B-45C8-962A-4DFE8295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3305175" cy="685800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F2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FE1F9B-1E12-4990-A3C4-6D3A5C539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9900"/>
            <a:ext cx="30194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323E"/>
                </a:solidFill>
                <a:latin typeface="Arial"/>
                <a:ea typeface="Arial"/>
                <a:cs typeface="Arial"/>
              </a:rPr>
              <a:t>encounters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EF9CC5-59BE-4051-A3CD-FAA172B42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86125"/>
            <a:ext cx="3028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encounter_id (PK), patient_id (FK)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238885-AD64-44BD-8F5F-742FFA6F2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62375"/>
            <a:ext cx="3305175" cy="685800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5C1C33-DC81-4941-8F24-828999C3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57625"/>
            <a:ext cx="30194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323E"/>
                </a:solidFill>
                <a:latin typeface="Arial"/>
                <a:ea typeface="Arial"/>
                <a:cs typeface="Arial"/>
              </a:rPr>
              <a:t>clinical_notes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91104F-F504-40DD-A3FE-02710C23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3028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encounter_id (FK), ICD-10, procedure code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A350BB-7C9F-4C4C-8F26-AEB053093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0100"/>
            <a:ext cx="3305175" cy="685800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F2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454D72-658D-49B4-9D7E-EF29E50A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05350"/>
            <a:ext cx="30194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323E"/>
                </a:solidFill>
                <a:latin typeface="Arial"/>
                <a:ea typeface="Arial"/>
                <a:cs typeface="Arial"/>
              </a:rPr>
              <a:t>prescriptions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548CF0-57EC-4E88-82DB-719AE1DFB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81575"/>
            <a:ext cx="3028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encounter_id (FK), pharmacy item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546CFF-1AB2-4C69-8BEB-BF8A75985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6383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216A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16A7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16A75"/>
                </a:solidFill>
                <a:latin typeface="Arial"/>
                <a:ea typeface="Arial"/>
                <a:cs typeface="Arial"/>
              </a:rPr>
              <a:t>BILLING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07BF9A-2928-47E9-90F6-E1473AD11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066925"/>
            <a:ext cx="3305175" cy="685800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159904-FE24-492E-9957-B897D7A74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162175"/>
            <a:ext cx="30194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323E"/>
                </a:solidFill>
                <a:latin typeface="Arial"/>
                <a:ea typeface="Arial"/>
                <a:cs typeface="Arial"/>
              </a:rPr>
              <a:t>services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466D89-9445-4599-8200-5BAC9F997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438400"/>
            <a:ext cx="3028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service_code (PK), tariff, tax rule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B1779A-DD96-47A3-8072-FE94BA161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914650"/>
            <a:ext cx="3305175" cy="685800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F2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9F6B51-0611-43A6-B92B-007E7D464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009900"/>
            <a:ext cx="30194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323E"/>
                </a:solidFill>
                <a:latin typeface="Arial"/>
                <a:ea typeface="Arial"/>
                <a:cs typeface="Arial"/>
              </a:rPr>
              <a:t>charges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A0D3B0-D87B-4C6D-A464-7E63381B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286125"/>
            <a:ext cx="3028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charge_id (PK), encounter_id (FK), event ID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F1BF6B-3621-421F-A50B-D6CCD5A26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762375"/>
            <a:ext cx="3305175" cy="685800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078999-E009-4549-A3F8-D8336D91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857625"/>
            <a:ext cx="30194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323E"/>
                </a:solidFill>
                <a:latin typeface="Arial"/>
                <a:ea typeface="Arial"/>
                <a:cs typeface="Arial"/>
              </a:rPr>
              <a:t>invoices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A4073E-1967-47CA-8C87-543B62BDA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133850"/>
            <a:ext cx="3028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invoice_id (PK), encounter_id (FK)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3ADE69-F4ED-40A7-9ED5-127C1B9D9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4610100"/>
            <a:ext cx="3305175" cy="685800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F2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DFBE1B-80AE-4028-8644-5B42E5392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705350"/>
            <a:ext cx="30194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323E"/>
                </a:solidFill>
                <a:latin typeface="Arial"/>
                <a:ea typeface="Arial"/>
                <a:cs typeface="Arial"/>
              </a:rPr>
              <a:t>invoice_lines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114DDF-D231-4675-9012-9C0C20E7E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981575"/>
            <a:ext cx="3028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invoice_id (FK), charge and tax snapshot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8BD32B-2277-40A4-882B-DD10EC1B5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383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216A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16A7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16A75"/>
                </a:solidFill>
                <a:latin typeface="Arial"/>
                <a:ea typeface="Arial"/>
                <a:cs typeface="Arial"/>
              </a:rPr>
              <a:t>PAYER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A91BA0-5EA8-4AE5-9A4C-75EFC432F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66925"/>
            <a:ext cx="3305175" cy="685800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4F56C94-1473-40CD-B4A9-5259D5E98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62175"/>
            <a:ext cx="30194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323E"/>
                </a:solidFill>
                <a:latin typeface="Arial"/>
                <a:ea typeface="Arial"/>
                <a:cs typeface="Arial"/>
              </a:rPr>
              <a:t>coverages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D7B9C76-F449-4A8C-BFFB-03205C11D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38400"/>
            <a:ext cx="3028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encounter_id (FK), payer route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BFB3FF7-F1DF-48FB-86C5-9F4558398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914650"/>
            <a:ext cx="3305175" cy="685800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F2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E9432A3-5CCA-4B43-A5EE-909FEC2F6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09900"/>
            <a:ext cx="30194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323E"/>
                </a:solidFill>
                <a:latin typeface="Arial"/>
                <a:ea typeface="Arial"/>
                <a:cs typeface="Arial"/>
              </a:rPr>
              <a:t>preauths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68760C3-5BF2-4C85-9E35-D85B77361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86125"/>
            <a:ext cx="3028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encounter_id (FK), approved amount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2719CED-2195-4ECF-8A37-4C83863C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762375"/>
            <a:ext cx="3305175" cy="685800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40479C5-F859-423A-96C5-93262098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857625"/>
            <a:ext cx="30194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323E"/>
                </a:solidFill>
                <a:latin typeface="Arial"/>
                <a:ea typeface="Arial"/>
                <a:cs typeface="Arial"/>
              </a:rPr>
              <a:t>claims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17FDC35-3818-4574-9C21-6BBE3BD80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133850"/>
            <a:ext cx="3028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invoice_id (FK), diagnosis and status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64D7508-E8D9-4CD3-8017-B61B9BF5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10100"/>
            <a:ext cx="3305175" cy="685800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F2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90E9186-B589-4223-B08D-CECB31A7C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705350"/>
            <a:ext cx="30194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323E"/>
                </a:solidFill>
                <a:latin typeface="Arial"/>
                <a:ea typeface="Arial"/>
                <a:cs typeface="Arial"/>
              </a:rPr>
              <a:t>receipts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39A5AC9-1DC4-423C-A252-76FC0CC2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981575"/>
            <a:ext cx="3028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invoice_id (FK), payer and amount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3C07F0F-EAE7-4C84-B163-D33CC0A3B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43575"/>
            <a:ext cx="10744200" cy="390525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1839DD5-2334-4A78-BE00-B66DD0198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819775"/>
            <a:ext cx="10353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732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17323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3E"/>
                </a:solidFill>
                <a:latin typeface="Arial"/>
                <a:ea typeface="Arial"/>
                <a:cs typeface="Arial"/>
              </a:rPr>
              <a:t>One encounter has many charges and at most one final invoice.</a:t>
            </a:r>
          </a:p>
        </p:txBody>
      </p:sp>
    </p:spTree>
    <p:extLst>
      <p:ext uri="{BB962C8B-B14F-4D97-AF65-F5344CB8AC3E}">
        <p14:creationId xmlns:p14="http://schemas.microsoft.com/office/powerpoint/2010/main" val="109449457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751567-0890-463F-863E-CBAE821E2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6D68FD-1EC1-4CD3-999E-DBA443E98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762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16A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216A7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16A75"/>
                </a:solidFill>
                <a:latin typeface="Arial"/>
                <a:ea typeface="Arial"/>
                <a:cs typeface="Arial"/>
              </a:rPr>
              <a:t>SYSTEM DESIGN &amp;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C10185-D525-4981-B242-EC37A28A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D303A"/>
                </a:solidFill>
                <a:latin typeface="Arial"/>
                <a:ea typeface="Arial"/>
                <a:cs typeface="Arial"/>
              </a:rPr>
              <a:t>Chen notation ER diagram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8A37A4-93EA-4100-A0F1-C403E9AF7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668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7BAFD6-CF47-4C72-BD80-3E4E7DBE6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67475"/>
            <a:ext cx="3810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DH 308  /  HIS billing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6783A5-9FEA-4BA2-B39C-00EB6E31E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B16640-7D51-4BAD-9A71-46D7BB8044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bdbd3c3c5d4d1a"/>
          <a:stretch xmlns:a="http://schemas.openxmlformats.org/drawingml/2006/main"/>
        </p:blipFill>
        <p:spPr>
          <a:xfrm xmlns:a="http://schemas.openxmlformats.org/drawingml/2006/main">
            <a:off x="2036296" y="1514475"/>
            <a:ext cx="8109883" cy="4286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784968-5095-4491-B2FD-3791483B1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0072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This conceptual diagram was supplied for the project. It links HIS, pharmacy, billing and external payer entities.</a:t>
            </a:r>
          </a:p>
        </p:txBody>
      </p:sp>
    </p:spTree>
    <p:extLst>
      <p:ext uri="{BB962C8B-B14F-4D97-AF65-F5344CB8AC3E}">
        <p14:creationId xmlns:p14="http://schemas.microsoft.com/office/powerpoint/2010/main" val="14157569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57DBF2-FB8A-4511-BE25-F2181C3E6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9E2156-2A1F-492A-AA26-4ACBE487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762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16A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216A7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16A75"/>
                </a:solidFill>
                <a:latin typeface="Arial"/>
                <a:ea typeface="Arial"/>
                <a:cs typeface="Arial"/>
              </a:rPr>
              <a:t>SYSTEM DESIGN &amp;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3E7F0A-9BC7-40FD-91C0-9B8687439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D303A"/>
                </a:solidFill>
                <a:latin typeface="Arial"/>
                <a:ea typeface="Arial"/>
                <a:cs typeface="Arial"/>
              </a:rPr>
              <a:t>ER detail: patient and registration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A18948-D934-4B3F-B167-704CAA353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668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02ED35-6C57-4498-9F84-8F74C8F86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67475"/>
            <a:ext cx="3810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DH 308  /  HIS billing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CC70BE-D597-44B9-8A89-06D69553A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00609F-5E47-4E3F-BBCF-AA2290B87B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19be0ba5ed4553"/>
          <a:stretch xmlns:a="http://schemas.openxmlformats.org/drawingml/2006/main"/>
        </p:blipFill>
        <p:spPr>
          <a:xfrm xmlns:a="http://schemas.openxmlformats.org/drawingml/2006/main">
            <a:off x="2433309" y="1504950"/>
            <a:ext cx="7258707" cy="42100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75E714-8D45-494B-A8EF-8A1CF7F2A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53100"/>
            <a:ext cx="10525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One patient can have many registrations. Each registration connects to the doctor and later bill.</a:t>
            </a:r>
          </a:p>
        </p:txBody>
      </p:sp>
    </p:spTree>
    <p:extLst>
      <p:ext uri="{BB962C8B-B14F-4D97-AF65-F5344CB8AC3E}">
        <p14:creationId xmlns:p14="http://schemas.microsoft.com/office/powerpoint/2010/main" val="154884202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3A7951-E79C-477D-A3D8-3262F508A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AB2AFA-2B58-4858-A0B7-DE6ED4688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762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16A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216A7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16A75"/>
                </a:solidFill>
                <a:latin typeface="Arial"/>
                <a:ea typeface="Arial"/>
                <a:cs typeface="Arial"/>
              </a:rPr>
              <a:t>SYSTEM DESIGN &amp;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436B15-7FFD-41FF-A5F6-EBC6F524D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D303A"/>
                </a:solidFill>
                <a:latin typeface="Arial"/>
                <a:ea typeface="Arial"/>
                <a:cs typeface="Arial"/>
              </a:rPr>
              <a:t>ER detail: claim and insurance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9B1801-BE5E-4257-8C8C-4499A4DCD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668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21FE5E-4681-438C-B236-E4F5657A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67475"/>
            <a:ext cx="3810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DH 308  /  HIS billing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81B9BC-8897-43B4-87D7-BF8BF883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479B05-ABB0-4AD8-A5CF-DEAF5543A4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7ddb7bc9674a1a"/>
          <a:stretch xmlns:a="http://schemas.openxmlformats.org/drawingml/2006/main"/>
        </p:blipFill>
        <p:spPr>
          <a:xfrm xmlns:a="http://schemas.openxmlformats.org/drawingml/2006/main">
            <a:off x="1120802" y="1504950"/>
            <a:ext cx="9940871" cy="4095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64A293-3191-41CC-9D46-5465FD96C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62625"/>
            <a:ext cx="105441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A claim records its approved amount and status; it belongs to an insurer. The full diagram links it back to a bill.</a:t>
            </a:r>
          </a:p>
        </p:txBody>
      </p:sp>
    </p:spTree>
    <p:extLst>
      <p:ext uri="{BB962C8B-B14F-4D97-AF65-F5344CB8AC3E}">
        <p14:creationId xmlns:p14="http://schemas.microsoft.com/office/powerpoint/2010/main" val="137887335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8F8516C-59DD-484D-8C80-9D5D8EAFB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BFF3A3-BC72-4037-ADBA-6C13FBC7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762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16A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216A7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16A75"/>
                </a:solidFill>
                <a:latin typeface="Arial"/>
                <a:ea typeface="Arial"/>
                <a:cs typeface="Arial"/>
              </a:rPr>
              <a:t>PROTOTYPE ASSUMPTIONS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CA679A-050F-460D-8F30-E5834FA14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D303A"/>
                </a:solidFill>
                <a:latin typeface="Arial"/>
                <a:ea typeface="Arial"/>
                <a:cs typeface="Arial"/>
              </a:rPr>
              <a:t>What our demo assumes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5588FA-ADB9-4783-AEDF-E8A9BDE51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668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676A12-5417-4ECB-BCD2-15515C7E8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67475"/>
            <a:ext cx="3810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DH 308  /  HIS billing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A112AF-AFC2-485D-92D9-9BEB05B18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B5EB49-0ABE-484E-8BAA-59CAA91C9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2FF16E-E2ED-4486-A6E9-3C85870EB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5C3352-A597-4E19-8762-E01AC8DC5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1581150"/>
            <a:ext cx="10067925" cy="638175"/>
          </a:xfrm>
          <a:prstGeom xmlns:a="http://schemas.openxmlformats.org/drawingml/2006/main" prst="roundRect">
            <a:avLst>
              <a:gd name="adj" fmla="val 10448"/>
            </a:avLst>
          </a:prstGeom>
          <a:solidFill xmlns:a="http://schemas.openxmlformats.org/drawingml/2006/main">
            <a:srgbClr val="F2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0A8E11-F936-4376-A2BD-87341AAA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43075"/>
            <a:ext cx="23526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23E"/>
                </a:solidFill>
                <a:latin typeface="Arial"/>
                <a:ea typeface="Arial"/>
                <a:cs typeface="Arial"/>
              </a:rPr>
              <a:t>Hospital size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2CE301-3E5D-4F47-AA25-C8002CD06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1704975"/>
            <a:ext cx="716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The working scope represents a 20 to 50 bed hospital.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5F72D1-3414-4F48-88B7-B59F00E28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527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FBCFB7-034B-4250-8F14-781D70CE6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6C0322-B156-4FB9-AF34-625A90AEF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419350"/>
            <a:ext cx="10067925" cy="638175"/>
          </a:xfrm>
          <a:prstGeom xmlns:a="http://schemas.openxmlformats.org/drawingml/2006/main" prst="roundRect">
            <a:avLst>
              <a:gd name="adj" fmla="val 10448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2451D5-3821-448E-939D-6338BE6E5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81275"/>
            <a:ext cx="23526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23E"/>
                </a:solidFill>
                <a:latin typeface="Arial"/>
                <a:ea typeface="Arial"/>
                <a:cs typeface="Arial"/>
              </a:rPr>
              <a:t>Patient records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91F9BF-8355-4ED5-9A45-EBED2F97F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2543175"/>
            <a:ext cx="716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All patients, prices, identifiers and clinical notes are invented.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A245EF-E1A6-4B2F-ABFA-D551DEAB5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909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3BDE05-8792-44A6-BF32-607925627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671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15A3DA-C9BD-4667-A535-68CA9F75A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257550"/>
            <a:ext cx="10067925" cy="638175"/>
          </a:xfrm>
          <a:prstGeom xmlns:a="http://schemas.openxmlformats.org/drawingml/2006/main" prst="roundRect">
            <a:avLst>
              <a:gd name="adj" fmla="val 10448"/>
            </a:avLst>
          </a:prstGeom>
          <a:solidFill xmlns:a="http://schemas.openxmlformats.org/drawingml/2006/main">
            <a:srgbClr val="F2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500D23-B999-4210-89ED-A8AC17398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19475"/>
            <a:ext cx="23526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23E"/>
                </a:solidFill>
                <a:latin typeface="Arial"/>
                <a:ea typeface="Arial"/>
                <a:cs typeface="Arial"/>
              </a:rPr>
              <a:t>External systems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0E2F21-A104-4EE1-A7E7-022E8FDA0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3381375"/>
            <a:ext cx="716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Lab events are local API calls. TPA and PM-JAY replies are simulated.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3E01BC-6ED1-420D-85B3-77975CAA4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291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775283-E050-41DA-825D-535F14038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F06B32-CC0B-4CF6-AA4A-47602992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095750"/>
            <a:ext cx="10067925" cy="638175"/>
          </a:xfrm>
          <a:prstGeom xmlns:a="http://schemas.openxmlformats.org/drawingml/2006/main" prst="roundRect">
            <a:avLst>
              <a:gd name="adj" fmla="val 10448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96A93D-AE35-4EB5-BBD6-59C2E130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57675"/>
            <a:ext cx="23526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23E"/>
                </a:solidFill>
                <a:latin typeface="Arial"/>
                <a:ea typeface="Arial"/>
                <a:cs typeface="Arial"/>
              </a:rPr>
              <a:t>GST master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1CC844-BCBC-4A60-93CC-3700C6F30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4219575"/>
            <a:ext cx="716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Training rates illustrate rules. A real hospital must verify product HSN and current tariff.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58127B-BD43-4F81-AC67-A0259AAAD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673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E5B620-53CC-4D1C-89FB-51494AD5D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35B9A8-2BD1-49EE-9D90-FBF7C2D77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933950"/>
            <a:ext cx="10067925" cy="638175"/>
          </a:xfrm>
          <a:prstGeom xmlns:a="http://schemas.openxmlformats.org/drawingml/2006/main" prst="roundRect">
            <a:avLst>
              <a:gd name="adj" fmla="val 10448"/>
            </a:avLst>
          </a:prstGeom>
          <a:solidFill xmlns:a="http://schemas.openxmlformats.org/drawingml/2006/main">
            <a:srgbClr val="F2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6FECD5-2BEF-4DDE-BE08-CFCBE81A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95875"/>
            <a:ext cx="23526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23E"/>
                </a:solidFill>
                <a:latin typeface="Arial"/>
                <a:ea typeface="Arial"/>
                <a:cs typeface="Arial"/>
              </a:rPr>
              <a:t>Diagram scope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B033D0-B41D-440F-85B9-E69EE751F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5057775"/>
            <a:ext cx="716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The Chen diagram is broader than the demo. RIS and wider LIS links remain conceptual.</a:t>
            </a:r>
          </a:p>
        </p:txBody>
      </p:sp>
    </p:spTree>
    <p:extLst>
      <p:ext uri="{BB962C8B-B14F-4D97-AF65-F5344CB8AC3E}">
        <p14:creationId xmlns:p14="http://schemas.microsoft.com/office/powerpoint/2010/main" val="61987818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674539A-48BA-4E30-9999-94BBFA98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9BAC3D-0FA0-4029-93F9-E9BDE19FD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762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16A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216A7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16A75"/>
                </a:solidFill>
                <a:latin typeface="Arial"/>
                <a:ea typeface="Arial"/>
                <a:cs typeface="Arial"/>
              </a:rPr>
              <a:t>TECHNICAL IMPLEMENTATION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2D2D5D-0014-4242-8430-2EF54F138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D303A"/>
                </a:solidFill>
                <a:latin typeface="Arial"/>
                <a:ea typeface="Arial"/>
                <a:cs typeface="Arial"/>
              </a:rPr>
              <a:t>Prototype implementation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14F4A9-5EBD-4473-8390-8E1BDF1E2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668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1EA7AD-6674-49D0-8F0A-569620B6E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67475"/>
            <a:ext cx="3810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DH 308  /  HIS billing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7764F6-81E4-4EED-AA59-BEAABDFD4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EC644E-BF2B-46FC-8A0F-F571F0D6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24025"/>
            <a:ext cx="3333750" cy="1695450"/>
          </a:xfrm>
          <a:prstGeom xmlns:a="http://schemas.openxmlformats.org/drawingml/2006/main" prst="roundRect">
            <a:avLst>
              <a:gd name="adj" fmla="val 3933"/>
            </a:avLst>
          </a:prstGeom>
          <a:solidFill xmlns:a="http://schemas.openxmlformats.org/drawingml/2006/main">
            <a:srgbClr val="F2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80C30C-E8C1-4B23-85D5-DA2879D76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240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FAF7EC-619E-4093-A1C9-2353CDBE8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002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637745-9D12-4776-BAD5-3D070775B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28875"/>
            <a:ext cx="28860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23E"/>
                </a:solidFill>
                <a:latin typeface="Arial"/>
                <a:ea typeface="Arial"/>
                <a:cs typeface="Arial"/>
              </a:rPr>
              <a:t>Next.js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043377-7159-4CD9-9F48-974896EB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146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>
            <a:defPPr algn="l">
              <a:defRPr sz="135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Role screens for doctor, lab, pharmacy and billing.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970DDE-965B-4870-A038-BD86D1DFC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724025"/>
            <a:ext cx="3333750" cy="1695450"/>
          </a:xfrm>
          <a:prstGeom xmlns:a="http://schemas.openxmlformats.org/drawingml/2006/main" prst="roundRect">
            <a:avLst>
              <a:gd name="adj" fmla="val 3933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B030B9-9777-4738-A748-F33150AF4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9240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80A554-49B9-4F95-AD07-6EC90AA0B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002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E73F2D-4DC4-403C-8097-60C207480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28875"/>
            <a:ext cx="28860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23E"/>
                </a:solidFill>
                <a:latin typeface="Arial"/>
                <a:ea typeface="Arial"/>
                <a:cs typeface="Arial"/>
              </a:rPr>
              <a:t>FastAPI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9535C1-7FAA-4AE7-9B71-FF52536F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9146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>
            <a:defPPr algn="l">
              <a:defRPr sz="135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Validates orders, results, dispensing and billing.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85E0AE-567C-4464-B824-BD2DB39F9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24025"/>
            <a:ext cx="3333750" cy="1695450"/>
          </a:xfrm>
          <a:prstGeom xmlns:a="http://schemas.openxmlformats.org/drawingml/2006/main" prst="roundRect">
            <a:avLst>
              <a:gd name="adj" fmla="val 3933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3768FC-2F86-4100-A0BD-F0FCD50E4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240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DBCCB2-3594-475A-82C0-142A06C5C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002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88E6E3-63D0-4262-A53D-C98B9E49D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428875"/>
            <a:ext cx="28860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23E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659DFC-83F3-448F-8BC5-AC2FCA51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9146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>
            <a:defPPr algn="l">
              <a:defRPr sz="135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Links encounters, orders, charges and receipts.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543A91-B288-40CD-BB17-B37CC7A58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33825"/>
            <a:ext cx="3333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216A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16A7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16A75"/>
                </a:solidFill>
                <a:latin typeface="Arial"/>
                <a:ea typeface="Arial"/>
                <a:cs typeface="Arial"/>
              </a:rPr>
              <a:t>Core API calls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99B07E-E023-442C-B42C-F9E6054B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276725"/>
            <a:ext cx="433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323E"/>
                </a:solidFill>
                <a:latin typeface="Arial"/>
                <a:ea typeface="Arial"/>
                <a:cs typeface="Arial"/>
              </a:rPr>
              <a:t>POST /api/clinical/demo-encounters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B97147-F54F-4D92-9222-7D802ADEF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4276725"/>
            <a:ext cx="52101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doctor confirms mapped case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4EB114-46D9-4E8F-A755-2DE355378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572000"/>
            <a:ext cx="433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323E"/>
                </a:solidFill>
                <a:latin typeface="Arial"/>
                <a:ea typeface="Arial"/>
                <a:cs typeface="Arial"/>
              </a:rPr>
              <a:t>POST /api/lab/orders/{id}/complete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5D1E20-A4FD-4F74-9BC1-12F777CEC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4572000"/>
            <a:ext cx="52101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result plus one lab charge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51ED60-57E9-4B3A-B4BE-A8DC3113D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867275"/>
            <a:ext cx="433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323E"/>
                </a:solidFill>
                <a:latin typeface="Arial"/>
                <a:ea typeface="Arial"/>
                <a:cs typeface="Arial"/>
              </a:rPr>
              <a:t>POST /api/pharmacy/dispense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C8E50C-C47C-465B-943E-90938A0C9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4867275"/>
            <a:ext cx="52101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stock plus charge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F3E0C5-8EA5-4300-B3EE-C3B521F52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162550"/>
            <a:ext cx="433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323E"/>
                </a:solidFill>
                <a:latin typeface="Arial"/>
                <a:ea typeface="Arial"/>
                <a:cs typeface="Arial"/>
              </a:rPr>
              <a:t>POST /api/invoices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4EEC5E-FFE5-4D9D-B5DC-5B14ABFD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5162550"/>
            <a:ext cx="52101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one final bill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DD44B8-3860-4ABA-836C-3CF34A3F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457825"/>
            <a:ext cx="433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323E"/>
                </a:solidFill>
                <a:latin typeface="Arial"/>
                <a:ea typeface="Arial"/>
                <a:cs typeface="Arial"/>
              </a:rPr>
              <a:t>POST /api/claims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6D4073-AA4B-4384-82E5-6D4469031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5457825"/>
            <a:ext cx="52101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payer submission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106BD41-6E72-413B-8612-B4D78D80D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753100"/>
            <a:ext cx="433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323E"/>
                </a:solidFill>
                <a:latin typeface="Arial"/>
                <a:ea typeface="Arial"/>
                <a:cs typeface="Arial"/>
              </a:rPr>
              <a:t>POST /api/receipts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E4A3A2E-6C15-4C0C-AECC-5EB193CEB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5753100"/>
            <a:ext cx="52101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money received</a:t>
            </a:r>
          </a:p>
        </p:txBody>
      </p:sp>
    </p:spTree>
    <p:extLst>
      <p:ext uri="{BB962C8B-B14F-4D97-AF65-F5344CB8AC3E}">
        <p14:creationId xmlns:p14="http://schemas.microsoft.com/office/powerpoint/2010/main" val="33020189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3D698EC-89F9-4305-A6AF-007D719AC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134837-493E-4DA5-B71E-0FDE5E6C7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762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16A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216A7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16A75"/>
                </a:solidFill>
                <a:latin typeface="Arial"/>
                <a:ea typeface="Arial"/>
                <a:cs typeface="Arial"/>
              </a:rPr>
              <a:t>TECHNICAL IMPLEMENTATION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75DAB0-11AE-4CF4-A561-3595884E6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D303A"/>
                </a:solidFill>
                <a:latin typeface="Arial"/>
                <a:ea typeface="Arial"/>
                <a:cs typeface="Arial"/>
              </a:rPr>
              <a:t>Backend rules that prevent common errors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3BA439-947B-4A8A-86A2-2C5DD48D1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668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AD9225-C1F5-4467-A8FC-08531E41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67475"/>
            <a:ext cx="3810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DH 308  /  HIS billing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2B7E83-E97B-4A0B-B8FE-E20829196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5561BC-06E5-46E3-875E-933E9DA0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383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C02EB1-60AD-4DA4-9EA0-C3272A5D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7145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C7E7B3-6209-4DC5-BD1F-29607A5BF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1571625"/>
            <a:ext cx="10077450" cy="6096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F2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F68CC5-5A38-40C1-A9BC-696664B7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76400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D303A"/>
                </a:solidFill>
                <a:latin typeface="Arial"/>
                <a:ea typeface="Arial"/>
                <a:cs typeface="Arial"/>
              </a:rPr>
              <a:t>Doctor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F9C033-838E-43AB-81E8-F74A7F1E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666875"/>
            <a:ext cx="676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Confirms the pathway; diagnosis code comes from the selected case, not free text.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43FF37-DD63-4066-ABDB-8D70A09A7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5336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B1A74C-F48D-46E4-805F-20215D1F4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6098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31D6F7-5EA0-4918-AC4C-F82A01F4C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466975"/>
            <a:ext cx="10077450" cy="6096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53328A-85E8-45C0-8D89-CCDCEBF5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71750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D303A"/>
                </a:solidFill>
                <a:latin typeface="Arial"/>
                <a:ea typeface="Arial"/>
                <a:cs typeface="Arial"/>
              </a:rPr>
              <a:t>Lab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460420-3346-4603-9761-39BFD6923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562225"/>
            <a:ext cx="676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A completed order posts one charge. A repeated result does not add another.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85C0E7-CC11-4C3E-B714-F8CB17CFA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4290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DF467E-F1F1-4EFA-B77A-805C0911D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5052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91D953-2FE0-4186-83C0-22D5A7830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362325"/>
            <a:ext cx="10077450" cy="6096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F2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8888D6-8BC8-42C2-94EA-D297A1559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67100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D303A"/>
                </a:solidFill>
                <a:latin typeface="Arial"/>
                <a:ea typeface="Arial"/>
                <a:cs typeface="Arial"/>
              </a:rPr>
              <a:t>Pharmacy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CE1B0A-BC13-4A3E-B657-B108F55BA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457575"/>
            <a:ext cx="676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A dispense needs a prescription and available unexpired batch stock.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35BF92-9EDA-4AD8-91D2-1FF15BFB8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3243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58C466-3A69-45BB-BA56-913806E6A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4005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B0468C-65A7-4F3E-A0B4-75C81541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257675"/>
            <a:ext cx="10077450" cy="6096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5DC1AC-2E05-471C-B535-E2302E134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62450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D303A"/>
                </a:solidFill>
                <a:latin typeface="Arial"/>
                <a:ea typeface="Arial"/>
                <a:cs typeface="Arial"/>
              </a:rPr>
              <a:t>Invoice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88442D-A4E8-40EE-A141-835826EBD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352925"/>
            <a:ext cx="676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The system copies charge details into invoice lines and locks the encounter.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421915-C7C8-4992-A1CD-511C3796A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2197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C5570C-25F8-409E-BBD6-B89366C74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2959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F1E083-76B3-4440-909E-D822B3EC8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5153025"/>
            <a:ext cx="10077450" cy="6096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F2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BBEC7E-1101-4570-8408-FC3A4F242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57800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D303A"/>
                </a:solidFill>
                <a:latin typeface="Arial"/>
                <a:ea typeface="Arial"/>
                <a:cs typeface="Arial"/>
              </a:rPr>
              <a:t>Receipt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A35408-D142-4BA2-975F-D2173B723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248275"/>
            <a:ext cx="676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A claim approval does not settle the bill. A receipt reduces the balance.</a:t>
            </a:r>
          </a:p>
        </p:txBody>
      </p:sp>
    </p:spTree>
    <p:extLst>
      <p:ext uri="{BB962C8B-B14F-4D97-AF65-F5344CB8AC3E}">
        <p14:creationId xmlns:p14="http://schemas.microsoft.com/office/powerpoint/2010/main" val="100471989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EB24FB-A4D6-4B00-9270-D9CB4CD85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02AF2B-C136-4239-94AB-4F7E44534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762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16A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216A7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16A75"/>
                </a:solidFill>
                <a:latin typeface="Arial"/>
                <a:ea typeface="Arial"/>
                <a:cs typeface="Arial"/>
              </a:rPr>
              <a:t>DATA FLOW &amp; INTEGRATION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701D6E-608A-4509-9E3F-E3D84EAD7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D303A"/>
                </a:solidFill>
                <a:latin typeface="Arial"/>
                <a:ea typeface="Arial"/>
                <a:cs typeface="Arial"/>
              </a:rPr>
              <a:t>OPD example: Asha Kulkarni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CE254D-5B44-4541-8A11-1C6E4A19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668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9F28E1-76CE-42BC-8C06-5B621B739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67475"/>
            <a:ext cx="3810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DH 308  /  HIS billing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D52A7B-F107-4C79-8488-6CD13354B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2ADF13-458E-4E18-9D19-AD56721DC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552575"/>
            <a:ext cx="10210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732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7323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323E"/>
                </a:solidFill>
                <a:latin typeface="Arial"/>
                <a:ea typeface="Arial"/>
                <a:cs typeface="Arial"/>
              </a:rPr>
              <a:t>One invented follow-up visit shows how completed work becomes a bill.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71B622-EE88-4597-8792-F1EA13B4B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47925"/>
            <a:ext cx="10734675" cy="657225"/>
          </a:xfrm>
          <a:prstGeom xmlns:a="http://schemas.openxmlformats.org/drawingml/2006/main" prst="roundRect">
            <a:avLst>
              <a:gd name="adj" fmla="val 10145"/>
            </a:avLst>
          </a:prstGeom>
          <a:solidFill xmlns:a="http://schemas.openxmlformats.org/drawingml/2006/main">
            <a:srgbClr val="F2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B20A92-0A3B-4002-9787-65DB42083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5908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E74641-6B15-4835-ABD9-2A530549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66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EBB989-5468-4F37-A00A-D49DC99E3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590800"/>
            <a:ext cx="259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3E"/>
                </a:solidFill>
                <a:latin typeface="Arial"/>
                <a:ea typeface="Arial"/>
                <a:cs typeface="Arial"/>
              </a:rPr>
              <a:t>Doctor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86836C-9217-456E-8E1E-502D5D70D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590800"/>
            <a:ext cx="701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Confirms ICD-10 E11.9; consultation ₹500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297DD5-4C15-4256-A535-98AFA9BBB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10734675" cy="657225"/>
          </a:xfrm>
          <a:prstGeom xmlns:a="http://schemas.openxmlformats.org/drawingml/2006/main" prst="roundRect">
            <a:avLst>
              <a:gd name="adj" fmla="val 10145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5D118D-2298-4691-A19B-2F6FD7F6E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4004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89C768-4E22-408B-8426-5E758A8F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4766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81C38E-D782-4149-A7A9-EE40FD71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400425"/>
            <a:ext cx="259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3E"/>
                </a:solidFill>
                <a:latin typeface="Arial"/>
                <a:ea typeface="Arial"/>
                <a:cs typeface="Arial"/>
              </a:rPr>
              <a:t>Lab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1E6B3F-08F8-418F-B5B5-2AF79606B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400425"/>
            <a:ext cx="701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HbA1c result, LOINC 4548-4; test ₹650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5EE284-33D2-4728-B8F0-E5BD97D4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67175"/>
            <a:ext cx="10734675" cy="657225"/>
          </a:xfrm>
          <a:prstGeom xmlns:a="http://schemas.openxmlformats.org/drawingml/2006/main" prst="roundRect">
            <a:avLst>
              <a:gd name="adj" fmla="val 10145"/>
            </a:avLst>
          </a:prstGeom>
          <a:solidFill xmlns:a="http://schemas.openxmlformats.org/drawingml/2006/main">
            <a:srgbClr val="F2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B0C181-3B07-42D9-B24D-26B3FD8E1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2100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C652B9-7F96-402C-977E-32A2C4ED5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2862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A8B20C-E7CD-46C4-B409-02C90060F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210050"/>
            <a:ext cx="259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3E"/>
                </a:solidFill>
                <a:latin typeface="Arial"/>
                <a:ea typeface="Arial"/>
                <a:cs typeface="Arial"/>
              </a:rPr>
              <a:t>Pharmacy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0AFCBD-F3F5-430B-8867-31DDF2197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210050"/>
            <a:ext cx="701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10 training tablets × ₹6; GST ₹3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04A145-0EA0-446B-AFD0-EBBD99C1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10734675" cy="657225"/>
          </a:xfrm>
          <a:prstGeom xmlns:a="http://schemas.openxmlformats.org/drawingml/2006/main" prst="roundRect">
            <a:avLst>
              <a:gd name="adj" fmla="val 10145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2C1EDD-434C-4792-95DF-96AE00B39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0196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4E4685-A15D-46F9-B345-85C324021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0958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E6F20C-A5BB-4637-8067-7D3AF3F53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5019675"/>
            <a:ext cx="259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3E"/>
                </a:solidFill>
                <a:latin typeface="Arial"/>
                <a:ea typeface="Arial"/>
                <a:cs typeface="Arial"/>
              </a:rPr>
              <a:t>Invoice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5B9694-A78C-4881-B038-6372CE789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019675"/>
            <a:ext cx="701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₹500 + ₹650 + ₹60 + ₹3 = ₹1,213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B234E9-7DE5-48C8-B7AA-5DFAD4467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864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C5B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C5B6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C5B66"/>
                </a:solidFill>
                <a:latin typeface="Arial"/>
                <a:ea typeface="Arial"/>
                <a:cs typeface="Arial"/>
              </a:rPr>
              <a:t>CPT 83036 is an optional reference. HBA1C is the hospital code that sets the lab price.</a:t>
            </a:r>
          </a:p>
        </p:txBody>
      </p:sp>
    </p:spTree>
    <p:extLst>
      <p:ext uri="{BB962C8B-B14F-4D97-AF65-F5344CB8AC3E}">
        <p14:creationId xmlns:p14="http://schemas.microsoft.com/office/powerpoint/2010/main" val="173027881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A418E37-4BA8-42EC-A0C5-B42528630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A3FBE7-9B2C-4FB6-B848-220A0B7B8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762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16A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216A7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16A75"/>
                </a:solidFill>
                <a:latin typeface="Arial"/>
                <a:ea typeface="Arial"/>
                <a:cs typeface="Arial"/>
              </a:rPr>
              <a:t>DATA FLOW &amp; INTEGRATION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59FC39-2A80-44B0-9497-8A008FA5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D303A"/>
                </a:solidFill>
                <a:latin typeface="Arial"/>
                <a:ea typeface="Arial"/>
                <a:cs typeface="Arial"/>
              </a:rPr>
              <a:t>IPD insurance and PM-JAY flows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8E039F-B7F8-4AC5-BDE7-300D0F79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668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242D0A-529B-461C-B61D-CCB855784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67475"/>
            <a:ext cx="3810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DH 308  /  HIS billing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65CDCB-660C-4ECB-AD13-CE647201A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59C7A2-9547-4E1C-96EB-F5C79A29F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5057775" cy="4076700"/>
          </a:xfrm>
          <a:prstGeom xmlns:a="http://schemas.openxmlformats.org/drawingml/2006/main" prst="roundRect">
            <a:avLst>
              <a:gd name="adj" fmla="val 1636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D4D16F-B09A-4EF1-BD91-FEA9F71FA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00200"/>
            <a:ext cx="5057775" cy="4076700"/>
          </a:xfrm>
          <a:prstGeom xmlns:a="http://schemas.openxmlformats.org/drawingml/2006/main" prst="roundRect">
            <a:avLst>
              <a:gd name="adj" fmla="val 1636"/>
            </a:avLst>
          </a:prstGeom>
          <a:solidFill xmlns:a="http://schemas.openxmlformats.org/drawingml/2006/main">
            <a:srgbClr val="F2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8DEDD9-7B97-4B59-AC1E-122DDF81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8097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323E"/>
                </a:solidFill>
                <a:latin typeface="Arial"/>
                <a:ea typeface="Arial"/>
                <a:cs typeface="Arial"/>
              </a:rPr>
              <a:t>Private TPA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565D7C-DAC7-4BF1-88DD-44D3E845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18097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323E"/>
                </a:solidFill>
                <a:latin typeface="Arial"/>
                <a:ea typeface="Arial"/>
                <a:cs typeface="Arial"/>
              </a:rPr>
              <a:t>PM-JAY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6C7E4E-36E8-4868-8F00-A8969F27A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3907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54921F-1128-448D-A1A8-3C7B06F1D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4669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9DB564-EC14-4904-B266-023797215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57450"/>
            <a:ext cx="39719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Coverage and payer rate linked to encounter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872E9F-7F25-44F0-8041-A3FE3F8C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0099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9881B1-1795-4BA1-805C-DB1F626B5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0861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3C49CA-27F4-47CE-85C9-43D48DA7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076575"/>
            <a:ext cx="39719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Preauthorisation and approved limit recorded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0CC586-BDAC-4493-9A45-940E57915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6290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D5FC99-837B-42C2-BA31-F21ED69CF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7052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DA65A5-0BB3-465C-B593-E16B4081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95700"/>
            <a:ext cx="39719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Daily room, procedure and medicine charges accumulate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2F5E34-EF4E-49A6-AE13-F8B6822B0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2481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2EAF66-F068-4AE7-B503-CB051DED6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3243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5F4DEA-27EE-44C0-8AAD-3720FD3CD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14825"/>
            <a:ext cx="39719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ICD-10, procedure code and documents join the claim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9B778D-E51C-4C78-AFCE-B06BE1E6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8672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72D53A-584B-4DA6-805D-49EA1E118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9434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B424F8-DE57-45DB-AFF3-B33B1006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933950"/>
            <a:ext cx="39719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Insurer receipt reduces the outstanding balance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EDD7CD-02D1-493D-8F2A-EC3555F66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3907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611286-8C5B-4597-BADE-6B191AE45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4669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EED71D-A37B-4CF1-BEE7-24D60B928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57450"/>
            <a:ext cx="3952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Beneficiary check is simulated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ABCE5D-3374-476F-8550-020C2F912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0099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3FE512-AE74-4905-90CF-F6C41D884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0861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599749-CAB3-4D9E-BA40-281B95A46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76575"/>
            <a:ext cx="3952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Training HBP package linked to encounter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AB4CA3-62CC-4CDB-8264-D51BC6BA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6290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A4DAD6-A40E-4B58-8818-A426E1D0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7052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E615968-565C-4789-90EC-E6BFCF15C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695700"/>
            <a:ext cx="3952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Preauthorisation is recorded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96809C3-B6F8-4AB2-AE3C-2545364A2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2481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C4D748A-F008-40E0-9AE8-79A7C888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3243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95B42E2-E486-4008-9EEF-FC0756BA7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314825"/>
            <a:ext cx="3952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Package invoice and claim are prepared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A1080CA-EB21-4078-89AE-41C4E804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8672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98E1CD3-E8D0-4C84-B69F-D23070623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9434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0BC1669-F497-4AEE-A70C-F2ACD02E4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933950"/>
            <a:ext cx="3952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Patient collection is blocked in the demo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D6D84C9-39CD-409C-8A8E-6373B4A97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NHA HBP manual and IRDAI health insurance guidance informed the state sequence. Portal responses remain simulated.</a:t>
            </a:r>
          </a:p>
        </p:txBody>
      </p:sp>
    </p:spTree>
    <p:extLst>
      <p:ext uri="{BB962C8B-B14F-4D97-AF65-F5344CB8AC3E}">
        <p14:creationId xmlns:p14="http://schemas.microsoft.com/office/powerpoint/2010/main" val="48446476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345442-F280-4270-ABA1-0083655F7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B7F33E-3FA3-4770-A33D-E1047BB3B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762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16A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216A7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16A75"/>
                </a:solidFill>
                <a:latin typeface="Arial"/>
                <a:ea typeface="Arial"/>
                <a:cs typeface="Arial"/>
              </a:rPr>
              <a:t>DATA FLOW &amp; INTEGRATION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3CF826-FA27-41AF-8B76-9C1215A33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D303A"/>
                </a:solidFill>
                <a:latin typeface="Arial"/>
                <a:ea typeface="Arial"/>
                <a:cs typeface="Arial"/>
              </a:rPr>
              <a:t>Finance outputs after invoicing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22E589-722E-4F9F-B64C-1115C1008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668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1CA959-78FA-46C0-991E-3BD2D30F9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67475"/>
            <a:ext cx="3810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DH 308  /  HIS billing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A1328E-84E6-42F7-8D6D-9D1A6BF3F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92635C-3E42-424B-9F91-CB58E326D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10420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732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7323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323E"/>
                </a:solidFill>
                <a:latin typeface="Arial"/>
                <a:ea typeface="Arial"/>
                <a:cs typeface="Arial"/>
              </a:rPr>
              <a:t>The invoice records the amount due. Claims and receipts determine who still owes 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C1989B-C502-4606-A97F-C9535F87C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3241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D0D824-DF3A-4C51-8BA2-FD7EDC9E1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4003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DA305D-D6D5-432A-9E26-0E99B7C84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257425"/>
            <a:ext cx="10077450" cy="6096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F2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035C74-4223-46AB-992B-3CA941B68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62200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D303A"/>
                </a:solidFill>
                <a:latin typeface="Arial"/>
                <a:ea typeface="Arial"/>
                <a:cs typeface="Arial"/>
              </a:rPr>
              <a:t>GSTR-1 review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4B1CAC-F186-41C5-83A4-75A75811B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52675"/>
            <a:ext cx="676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Separates taxable B2B, taxable B2C and exempt or nil supplies. Includes HSN summary.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2BBC9C-C3D8-4DA7-8F58-6D8A86FB1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1908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8BC72F-1C13-4E68-82E4-1658CDCF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2670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8F0970-EE80-4EE1-A554-8D63255C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124200"/>
            <a:ext cx="10077450" cy="6096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8F20D8-6CF5-4FF9-87E0-92511E52C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28975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D303A"/>
                </a:solidFill>
                <a:latin typeface="Arial"/>
                <a:ea typeface="Arial"/>
                <a:cs typeface="Arial"/>
              </a:rPr>
              <a:t>Insurance receivable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80A0B8-1088-4D8F-801C-0848D0EBC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219450"/>
            <a:ext cx="676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Tracks submitted claims, partial settlement and remaining insurer balance.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9DAAE2-1653-47C3-985E-3A16C309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0576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ADCEE1-41B7-4D4A-A7C5-692E536A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1338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F20B46-A16F-428E-9F4A-0BB7A9FC2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990975"/>
            <a:ext cx="10077450" cy="6096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F2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3481F2-23EE-43AE-A299-4FF87D5C5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95750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D303A"/>
                </a:solidFill>
                <a:latin typeface="Arial"/>
                <a:ea typeface="Arial"/>
                <a:cs typeface="Arial"/>
              </a:rPr>
              <a:t>Patient balance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6C8333-B94E-4FB1-A9C7-E92C2734D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086225"/>
            <a:ext cx="676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Records advances and receipts separately from the total invoice.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921CB6-0CDB-4BB7-9FA1-E2F95D2EB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9244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830E77-BE12-4E79-ABD1-1624F703E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0006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D0ADBB-5B67-4C12-8905-284E82B81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857750"/>
            <a:ext cx="10077450" cy="6096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F71AC9-F17F-4853-AFC5-522361FB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62525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D303A"/>
                </a:solidFill>
                <a:latin typeface="Arial"/>
                <a:ea typeface="Arial"/>
                <a:cs typeface="Arial"/>
              </a:rPr>
              <a:t>Daily report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427F52-165F-48A9-83CE-8F4F0E4EF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953000"/>
            <a:ext cx="676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Shows collections and payer mix from posted records.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F23340-F6A8-4131-A7DF-E914ECD65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The GSTR-1 screen is a review packet for this prototype. It does not file or upload a return to the GST portal.</a:t>
            </a:r>
          </a:p>
        </p:txBody>
      </p:sp>
    </p:spTree>
    <p:extLst>
      <p:ext uri="{BB962C8B-B14F-4D97-AF65-F5344CB8AC3E}">
        <p14:creationId xmlns:p14="http://schemas.microsoft.com/office/powerpoint/2010/main" val="160847367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B2460B7-8597-4318-9A3E-2C7A86E8F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C15267-3ABB-48F8-BE55-D8D9C8FDF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762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16A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216A7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16A75"/>
                </a:solidFill>
                <a:latin typeface="Arial"/>
                <a:ea typeface="Arial"/>
                <a:cs typeface="Arial"/>
              </a:rPr>
              <a:t>RESULTS &amp; PROTOTYPE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82653C-245E-45C6-8D0F-7F84581A6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D303A"/>
                </a:solidFill>
                <a:latin typeface="Arial"/>
                <a:ea typeface="Arial"/>
                <a:cs typeface="Arial"/>
              </a:rPr>
              <a:t>Prototype coverage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99A082-73E0-46A7-8C6F-E554AABB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668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03972D-8C0B-4001-9232-50D61233C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67475"/>
            <a:ext cx="3810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DH 308  /  HIS billing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B9B852-D7BE-4612-8D58-698CACFAB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73ACF3-C315-406B-B014-808E2574B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43050"/>
            <a:ext cx="10287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732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7323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23E"/>
                </a:solidFill>
                <a:latin typeface="Arial"/>
                <a:ea typeface="Arial"/>
                <a:cs typeface="Arial"/>
              </a:rPr>
              <a:t>The live demo follows Asha’s encounter across four staff roles.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4E7A72-4F86-45D4-AC0C-8BB2AEFE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10734675" cy="409575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07F762-3A5B-4BB1-9422-48C812CB3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133600"/>
            <a:ext cx="5048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C5B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C5B6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C5B6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07443F-D7C1-4DF4-9BA2-B6E5C56F7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114550"/>
            <a:ext cx="2324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23E"/>
                </a:solidFill>
                <a:latin typeface="Arial"/>
                <a:ea typeface="Arial"/>
                <a:cs typeface="Arial"/>
              </a:rPr>
              <a:t>Doctor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C06D15-E5EF-483D-855B-E1F7391AC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114550"/>
            <a:ext cx="72104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Encounter, diagnosis, consultation charge and orders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F1BDD7-C428-48DB-B5A4-CD615E7A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05075"/>
            <a:ext cx="10734675" cy="409575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2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E99E19-6761-4D02-BF71-BCBDECC7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600325"/>
            <a:ext cx="5048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C5B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C5B6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C5B6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8BDE8E-34AD-4EAF-87F8-7C41E57C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581275"/>
            <a:ext cx="2324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23E"/>
                </a:solidFill>
                <a:latin typeface="Arial"/>
                <a:ea typeface="Arial"/>
                <a:cs typeface="Arial"/>
              </a:rPr>
              <a:t>Lab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4E081F-07E8-4107-804C-4E86EE1DE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581275"/>
            <a:ext cx="72104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HbA1c result with LOINC 4548-4 and completed-test charge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1A93F2-0728-4C57-8529-84CDB9B4F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71800"/>
            <a:ext cx="10734675" cy="409575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BCCEC3-D232-4EF3-89ED-5C452DADB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067050"/>
            <a:ext cx="5048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C5B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C5B6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C5B6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AF3ADF-9385-424B-AE57-E7C33D336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048000"/>
            <a:ext cx="2324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23E"/>
                </a:solidFill>
                <a:latin typeface="Arial"/>
                <a:ea typeface="Arial"/>
                <a:cs typeface="Arial"/>
              </a:rPr>
              <a:t>Pharmacy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8AC332-258D-4497-B1FC-373B6251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048000"/>
            <a:ext cx="72104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Prescription, batch and expiry check, tax on separate sale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F967E9-35EA-4907-BF4B-EBD65F4A1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38525"/>
            <a:ext cx="10734675" cy="409575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2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E204A5-2A03-4982-B811-BB6E9F098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533775"/>
            <a:ext cx="5048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C5B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C5B6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C5B6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0E6F87-8BEC-412D-9D25-A90A386BD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514725"/>
            <a:ext cx="2324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23E"/>
                </a:solidFill>
                <a:latin typeface="Arial"/>
                <a:ea typeface="Arial"/>
                <a:cs typeface="Arial"/>
              </a:rPr>
              <a:t>Billing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A06791-EA69-4223-B36F-3752B2CA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514725"/>
            <a:ext cx="72104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Running account and itemised OPD invoice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EB7319-59AC-4311-907F-14A35CD70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10734675" cy="409575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01C9B3-7DFE-46D9-8517-B616CE11B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000500"/>
            <a:ext cx="5048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C5B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C5B6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C5B6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E7100F-96AB-4886-9A21-4E173C812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981450"/>
            <a:ext cx="2324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23E"/>
                </a:solidFill>
                <a:latin typeface="Arial"/>
                <a:ea typeface="Arial"/>
                <a:cs typeface="Arial"/>
              </a:rPr>
              <a:t>IPD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7861F5-1BF5-4B05-8114-A49EAD24A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981450"/>
            <a:ext cx="72104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Room stay, running account and discharge bill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5EF8F1-58A3-4C04-8EE5-B6A1A165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71975"/>
            <a:ext cx="10734675" cy="409575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2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CB8680-15DD-49BC-B87E-874E89D8A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467225"/>
            <a:ext cx="5048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C5B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C5B6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C5B6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F26CED-1E32-494A-BAE1-647A4F84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448175"/>
            <a:ext cx="2324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23E"/>
                </a:solidFill>
                <a:latin typeface="Arial"/>
                <a:ea typeface="Arial"/>
                <a:cs typeface="Arial"/>
              </a:rPr>
              <a:t>Insurance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C4DE47-BE7E-40D1-8939-BE353E9D4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48175"/>
            <a:ext cx="72104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Preauthorisation, claim and settlement ledger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DD0801-7C8A-420D-BB81-124B7540E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38700"/>
            <a:ext cx="10734675" cy="409575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7874E3F-4708-4121-9B92-3C926AF1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933950"/>
            <a:ext cx="5048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C5B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C5B6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C5B6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9C625C-7A6E-42A8-9957-06EF6CA1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914900"/>
            <a:ext cx="2324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23E"/>
                </a:solidFill>
                <a:latin typeface="Arial"/>
                <a:ea typeface="Arial"/>
                <a:cs typeface="Arial"/>
              </a:rPr>
              <a:t>PM-JAY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DBA5208-0645-4116-BD05-2E85CF9E7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914900"/>
            <a:ext cx="72104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Simulated eligibility, package and zero patient collection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9AB740A-52B9-47AA-AA66-48145560A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05425"/>
            <a:ext cx="10734675" cy="409575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2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48504E4-0745-4D8D-B3DE-D90A2EA19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400675"/>
            <a:ext cx="5048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C5B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C5B6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C5B6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FEBCD4E-48F9-4CBD-B704-9965A55AF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381625"/>
            <a:ext cx="2324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23E"/>
                </a:solidFill>
                <a:latin typeface="Arial"/>
                <a:ea typeface="Arial"/>
                <a:cs typeface="Arial"/>
              </a:rPr>
              <a:t>Finance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0876088-2DCD-4650-87F2-2BF896F57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381625"/>
            <a:ext cx="72104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GSTR-1 review and aged receivables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14352CC-69D0-4180-940F-BCA4980C9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Local API and browser flows were exercised with synthetic cases. External HIS and government or insurer portals remain simulated.</a:t>
            </a:r>
          </a:p>
        </p:txBody>
      </p:sp>
    </p:spTree>
    <p:extLst>
      <p:ext uri="{BB962C8B-B14F-4D97-AF65-F5344CB8AC3E}">
        <p14:creationId xmlns:p14="http://schemas.microsoft.com/office/powerpoint/2010/main" val="112439244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093027-032D-45BE-9E39-8E1A75EDE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CC24E3-A26D-454A-884B-60E774D4F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762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16A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216A7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16A75"/>
                </a:solidFill>
                <a:latin typeface="Arial"/>
                <a:ea typeface="Arial"/>
                <a:cs typeface="Arial"/>
              </a:rPr>
              <a:t>RESULTS &amp; PROTOTYPE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79431E-C5D1-47AF-840E-5F94DA376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D303A"/>
                </a:solidFill>
                <a:latin typeface="Arial"/>
                <a:ea typeface="Arial"/>
                <a:cs typeface="Arial"/>
              </a:rPr>
              <a:t>What is still a prototype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8B9A3E-0CE2-4A5E-91E4-C384EB551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668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0D40F2-5BBB-4451-9593-E35FE669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67475"/>
            <a:ext cx="3810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DH 308  /  HIS billing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20AD98-A1F9-434E-9BC1-AFEB5E11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A011EE-8CD9-4873-AFC4-936C887C5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764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32CF2B-62EB-4889-882C-ACD45F8A5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7526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A1E3E8-40AA-417D-AD93-ADBA71305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1609725"/>
            <a:ext cx="10077450" cy="6096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F2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F23DDB-E186-4EFF-B9A4-9ED74CA95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14500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D303A"/>
                </a:solidFill>
                <a:latin typeface="Arial"/>
                <a:ea typeface="Arial"/>
                <a:cs typeface="Arial"/>
              </a:rPr>
              <a:t>No real portal exchange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9CEF46-1C70-4A2B-AD98-D903063A3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704975"/>
            <a:ext cx="676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Insurer, PM-JAY, CGHS and GST outputs use local simulation.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2D5151-06BB-4DC9-A060-2CA77C22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7432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8DE999-4A82-496D-BC4E-641CDB015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8194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947860-22A1-4A1D-8E1C-6D4F08565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676525"/>
            <a:ext cx="10077450" cy="6096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384519-8C88-4247-BB77-0CB1EB1C8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81300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D303A"/>
                </a:solidFill>
                <a:latin typeface="Arial"/>
                <a:ea typeface="Arial"/>
                <a:cs typeface="Arial"/>
              </a:rPr>
              <a:t>Training master 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DDE67C-7B9B-4E62-A776-4C9F8189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71775"/>
            <a:ext cx="676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The items, HSN, tariff and package examples need hospital review before use.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74BC81-1395-4C1F-A75F-338822517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8100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133AA7-C03D-4CF1-BD2E-40585834D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8862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F595CE-9D3D-4E99-83C6-2286B6C62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743325"/>
            <a:ext cx="10077450" cy="6096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F2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07499A-C6A8-475F-9396-5FC669DA3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48100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D303A"/>
                </a:solidFill>
                <a:latin typeface="Arial"/>
                <a:ea typeface="Arial"/>
                <a:cs typeface="Arial"/>
              </a:rPr>
              <a:t>Classroom sign-in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84F43A-4E78-4FEE-B999-29B98BB87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838575"/>
            <a:ext cx="676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Production needs staff identity, audit policy, security and backups.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527286-FD9E-4C5A-9F7C-7728421B8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8768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3C4918-88A8-48FE-83B3-752E8EC6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953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66C6EE-7347-41DE-A0B4-F92CA7CBC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810125"/>
            <a:ext cx="10077450" cy="6096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E82B91-B66D-4CD2-80A8-371DB008B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14900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D303A"/>
                </a:solidFill>
                <a:latin typeface="Arial"/>
                <a:ea typeface="Arial"/>
                <a:cs typeface="Arial"/>
              </a:rPr>
              <a:t>Limited departments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935D54-042A-48C5-84EF-A9769A38C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905375"/>
            <a:ext cx="676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The website has one local lab test. RIS and wider LIS integration remain future work.</a:t>
            </a:r>
          </a:p>
        </p:txBody>
      </p:sp>
    </p:spTree>
    <p:extLst>
      <p:ext uri="{BB962C8B-B14F-4D97-AF65-F5344CB8AC3E}">
        <p14:creationId xmlns:p14="http://schemas.microsoft.com/office/powerpoint/2010/main" val="92787029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C712CE-E7D8-4313-B575-7553B9331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AF6E9C-E9D8-4E75-B4E9-8444A5ED2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762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16A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216A7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16A75"/>
                </a:solidFill>
                <a:latin typeface="Arial"/>
                <a:ea typeface="Arial"/>
                <a:cs typeface="Arial"/>
              </a:rPr>
              <a:t>CONCLUSION &amp; FUTURE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F96052-F75F-4A9C-BD8D-845CA2FD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D303A"/>
                </a:solidFill>
                <a:latin typeface="Arial"/>
                <a:ea typeface="Arial"/>
                <a:cs typeface="Arial"/>
              </a:rPr>
              <a:t>Conclusion and next build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027F78-A0D3-4E02-8D60-5EAFE7250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668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278447-2D4B-43DF-B61D-FA6E2CA7D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67475"/>
            <a:ext cx="3810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DH 308  /  HIS billing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6AE275-8A67-479F-B1D9-62C1034AD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2A9091-2374-4D1B-A33E-F6F3B546A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10725150" cy="1019175"/>
          </a:xfrm>
          <a:prstGeom xmlns:a="http://schemas.openxmlformats.org/drawingml/2006/main" prst="roundRect">
            <a:avLst>
              <a:gd name="adj" fmla="val 6542"/>
            </a:avLst>
          </a:prstGeom>
          <a:solidFill xmlns:a="http://schemas.openxmlformats.org/drawingml/2006/main">
            <a:srgbClr val="F2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669D85-0FC3-46AC-8CEF-16B2D354A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762125"/>
            <a:ext cx="10229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23E"/>
                </a:solidFill>
                <a:latin typeface="Arial"/>
                <a:ea typeface="Arial"/>
                <a:cs typeface="Arial"/>
              </a:rPr>
              <a:t>The prototype shows how clinical work can produce a clear, itemised bill without retyping every charge.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6726E5-FC5F-4591-AB94-E8A99D4E3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813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216A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16A7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16A75"/>
                </a:solidFill>
                <a:latin typeface="Arial"/>
                <a:ea typeface="Arial"/>
                <a:cs typeface="Arial"/>
              </a:rPr>
              <a:t>Next for a mid-sized hospital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C481FD-3CA4-4FF7-B445-0B6187474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552825"/>
            <a:ext cx="3305175" cy="2114550"/>
          </a:xfrm>
          <a:prstGeom xmlns:a="http://schemas.openxmlformats.org/drawingml/2006/main" prst="roundRect">
            <a:avLst>
              <a:gd name="adj" fmla="val 3153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B72F16-D93C-4B1D-B042-386650DDA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623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ADF452-9A50-445D-ADF3-27AF4599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385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0CBB26-0A29-4982-AB74-866F00B87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76725"/>
            <a:ext cx="29241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23E"/>
                </a:solidFill>
                <a:latin typeface="Arial"/>
                <a:ea typeface="Arial"/>
                <a:cs typeface="Arial"/>
              </a:rPr>
              <a:t>More departments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C2C8DA-0094-4D25-8776-D9BF6E3C5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0125"/>
            <a:ext cx="28860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Extend the lab catalog and connect radiology and theatre results.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B56F83-6A81-4308-ABC5-772B64D3E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52825"/>
            <a:ext cx="3305175" cy="2114550"/>
          </a:xfrm>
          <a:prstGeom xmlns:a="http://schemas.openxmlformats.org/drawingml/2006/main" prst="roundRect">
            <a:avLst>
              <a:gd name="adj" fmla="val 3153"/>
            </a:avLst>
          </a:prstGeom>
          <a:solidFill xmlns:a="http://schemas.openxmlformats.org/drawingml/2006/main">
            <a:srgbClr val="F2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2A8684-D5BA-4385-84C1-8CA1A3652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623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17A559-2D37-424C-9746-EFA9BF99E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8385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940FDF-D2D2-4CB7-8473-9818E7D2E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276725"/>
            <a:ext cx="29241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23E"/>
                </a:solidFill>
                <a:latin typeface="Arial"/>
                <a:ea typeface="Arial"/>
                <a:cs typeface="Arial"/>
              </a:rPr>
              <a:t>More payer detail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0197AE-9F24-4CBA-8217-0BE121C8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810125"/>
            <a:ext cx="28860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Add named TPA formats, CGHS and corporate review screens.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2FAFB0-F9AF-4EC8-B99B-70D2CC6C6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552825"/>
            <a:ext cx="3305175" cy="2114550"/>
          </a:xfrm>
          <a:prstGeom xmlns:a="http://schemas.openxmlformats.org/drawingml/2006/main" prst="roundRect">
            <a:avLst>
              <a:gd name="adj" fmla="val 3153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10533E-0F31-4C9B-B431-50A08E66A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7623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62FCBE-DF1C-44D3-9FD0-B0381163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8385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9559B5-0C74-4533-A401-B8203E32E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76725"/>
            <a:ext cx="29241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7323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23E"/>
                </a:solidFill>
                <a:latin typeface="Arial"/>
                <a:ea typeface="Arial"/>
                <a:cs typeface="Arial"/>
              </a:rPr>
              <a:t>Production controls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C6656F-7C74-42D7-A3BA-A634E3EF2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810125"/>
            <a:ext cx="28860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Use approved portal links, stronger login, backups and tested tax masters.</a:t>
            </a:r>
          </a:p>
        </p:txBody>
      </p:sp>
    </p:spTree>
    <p:extLst>
      <p:ext uri="{BB962C8B-B14F-4D97-AF65-F5344CB8AC3E}">
        <p14:creationId xmlns:p14="http://schemas.microsoft.com/office/powerpoint/2010/main" val="192481921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B6FC6B5-9C96-4C75-A995-A91255E27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EB5849-671F-47DF-9ED9-696406792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762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16A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216A7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16A7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85F6A7-CB21-48E3-8E1C-1FD31A28D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D303A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F95A29-8DED-4171-A956-81B9BA98C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668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417CE0-2F9A-43E5-B8E5-7D008C936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67475"/>
            <a:ext cx="3810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DH 308  /  HIS billing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FA1955-8BB8-44B9-902C-10E25CE93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607A8C-844F-4FF3-9103-6432E084A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38275"/>
            <a:ext cx="520065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9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6939A8-5921-49B5-AC1E-EA23B4C3F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954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C5B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C5B6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C5B66"/>
                </a:solidFill>
                <a:latin typeface="Arial"/>
                <a:ea typeface="Arial"/>
                <a:cs typeface="Arial"/>
              </a:rPr>
              <a:t>Supplied bills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384A46-95A5-4277-976D-EAC7FB28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24025"/>
            <a:ext cx="4953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19 KIMS and Apollo scanned pages; only de-identified crops appear in this deck.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380F57-8229-48A1-BA35-AF306722C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520065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2F6F5"/>
          </a:solidFill>
          <a:ln xmlns:a="http://schemas.openxmlformats.org/drawingml/2006/main" w="9525">
            <a:solidFill>
              <a:srgbClr val="CED9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005626-72E1-4F67-B048-2C5868034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52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C5B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C5B6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C5B66"/>
                </a:solidFill>
                <a:latin typeface="Arial"/>
                <a:ea typeface="Arial"/>
                <a:cs typeface="Arial"/>
              </a:rPr>
              <a:t>DH 308 lectures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C29E46-07F2-4D2F-93D3-0B68441D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4953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ER modelling, ICD-10 and LOINC, HL7 and healthcare database standards.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C010B2-E868-40C5-B97E-989D608B7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52725"/>
            <a:ext cx="520065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9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F6DF60-E4AB-40A9-B8BE-E1F4F35AA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987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C5B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C5B6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C5B66"/>
                </a:solidFill>
                <a:latin typeface="Arial"/>
                <a:ea typeface="Arial"/>
                <a:cs typeface="Arial"/>
              </a:rPr>
              <a:t>MoHFW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D0C242-4767-420F-8F7C-8B2FE000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38475"/>
            <a:ext cx="4953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Patients’ Rights Charter, clinicalestablishments.mohfw.gov.in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F5D7F1-07A9-45FB-9343-B2BF7E568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520065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2F6F5"/>
          </a:solidFill>
          <a:ln xmlns:a="http://schemas.openxmlformats.org/drawingml/2006/main" w="9525">
            <a:solidFill>
              <a:srgbClr val="CED9D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01A1E4-D661-4305-8171-AD0296C0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671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C5B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C5B6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C5B66"/>
                </a:solidFill>
                <a:latin typeface="Arial"/>
                <a:ea typeface="Arial"/>
                <a:cs typeface="Arial"/>
              </a:rPr>
              <a:t>MoHFW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7F4AA0-407E-45CE-935C-AF57639C5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95700"/>
            <a:ext cx="4953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EHR standards for India: ICD, LOINC and optional licensed CPT mapping.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93F9DD-F2C6-41DC-A72A-2376DDA7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67175"/>
            <a:ext cx="520065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9D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3FE5BE-599E-4C4D-9F03-C96B186A0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243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C5B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C5B6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C5B66"/>
                </a:solidFill>
                <a:latin typeface="Arial"/>
                <a:ea typeface="Arial"/>
                <a:cs typeface="Arial"/>
              </a:rPr>
              <a:t>WHO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651FC3-1738-49F1-AB18-66DEDDE25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52925"/>
            <a:ext cx="4953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188"/>
          </a:bodyPr>
          <a:lstStyle xmlns:a="http://schemas.openxmlformats.org/drawingml/2006/main">
            <a:defPPr algn="l">
              <a:defRPr sz="9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ICD-10 E11.9 example, icd.who.int/browse10/Content/statichtml/ICD10Volume2_en_2019.pdf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99CC69-0C98-4AF2-B512-A354CB0BD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24400"/>
            <a:ext cx="520065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2F6F5"/>
          </a:solidFill>
          <a:ln xmlns:a="http://schemas.openxmlformats.org/drawingml/2006/main" w="9525">
            <a:solidFill>
              <a:srgbClr val="CED9D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0DA96B-4F34-40AD-A087-0551D2CC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815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C5B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C5B6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C5B66"/>
                </a:solidFill>
                <a:latin typeface="Arial"/>
                <a:ea typeface="Arial"/>
                <a:cs typeface="Arial"/>
              </a:rPr>
              <a:t>LOINC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A4B1FA-4D17-4BA2-8FDE-788B3151B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10150"/>
            <a:ext cx="4953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HbA1c blood observation 4548-4, loinc.org/4548-4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55AA05-8B63-4936-BE7E-ABF0D55C3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81625"/>
            <a:ext cx="520065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9D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D9D00E-E5C9-4F5A-8E47-34C96B9BC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3877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C5B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C5B6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C5B66"/>
                </a:solidFill>
                <a:latin typeface="Arial"/>
                <a:ea typeface="Arial"/>
                <a:cs typeface="Arial"/>
              </a:rPr>
              <a:t>HL7 FHIR R4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3D247A-F837-45E7-AA9A-4CADE50D8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67375"/>
            <a:ext cx="4953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ChargeItem and Invoice resources, hl7.org/fhir/R4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648AD2-7B8F-4332-BF8B-E078E41A6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38275"/>
            <a:ext cx="520065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2F6F5"/>
          </a:solidFill>
          <a:ln xmlns:a="http://schemas.openxmlformats.org/drawingml/2006/main" w="9525">
            <a:solidFill>
              <a:srgbClr val="CED9D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A32578-04AD-4CEB-BAD3-926534FCF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954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C5B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C5B6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C5B66"/>
                </a:solidFill>
                <a:latin typeface="Arial"/>
                <a:ea typeface="Arial"/>
                <a:cs typeface="Arial"/>
              </a:rPr>
              <a:t>GST Council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8B029B-7B1D-4361-8E4D-8BCF241B6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24025"/>
            <a:ext cx="4953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2025 medicine rates FAQ, gstcouncil.gov.in/sites/default/files/2025-09/faq_0.pdf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700715-8478-4809-ABDE-1C71724D1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95500"/>
            <a:ext cx="520065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9D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9427E1-239F-4765-A78E-44211F725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52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C5B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C5B6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C5B66"/>
                </a:solidFill>
                <a:latin typeface="Arial"/>
                <a:ea typeface="Arial"/>
                <a:cs typeface="Arial"/>
              </a:rPr>
              <a:t>CBIC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E013105-A658-4865-8F07-8665E2A87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81250"/>
            <a:ext cx="4953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GST service rate entry 31A and healthcare exemption, cbic-gst.gov.in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D851D22-FCE2-4EF6-A6C9-D02FD4A54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52725"/>
            <a:ext cx="520065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2F6F5"/>
          </a:solidFill>
          <a:ln xmlns:a="http://schemas.openxmlformats.org/drawingml/2006/main" w="9525">
            <a:solidFill>
              <a:srgbClr val="CED9D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4D8B3D9-E688-4A7E-86EE-D9A0D396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0987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C5B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C5B6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C5B66"/>
                </a:solidFill>
                <a:latin typeface="Arial"/>
                <a:ea typeface="Arial"/>
                <a:cs typeface="Arial"/>
              </a:rPr>
              <a:t>GST Council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0B85220-58B2-4914-B245-28F6D44BD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38475"/>
            <a:ext cx="4953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Hospital inpatient composite supply AAR, gstcouncil.gov.in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044F7DC-21FF-4267-879B-56AD5F5AF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09950"/>
            <a:ext cx="520065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9D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F054165-2796-404A-9C34-D63D66594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671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C5B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C5B6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C5B66"/>
                </a:solidFill>
                <a:latin typeface="Arial"/>
                <a:ea typeface="Arial"/>
                <a:cs typeface="Arial"/>
              </a:rPr>
              <a:t>GST portal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3A98728-3B0C-4473-A374-C28FC34FF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95700"/>
            <a:ext cx="4953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GSTR-1 tables and HSN summary, tutorial.gst.gov.in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B1F9AC1-6AE0-4672-8F4A-AF00333EE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67175"/>
            <a:ext cx="520065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2F6F5"/>
          </a:solidFill>
          <a:ln xmlns:a="http://schemas.openxmlformats.org/drawingml/2006/main" w="9525">
            <a:solidFill>
              <a:srgbClr val="CED9D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54380E6-5EEC-4D1E-84EC-AC0582042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243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C5B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C5B6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C5B66"/>
                </a:solidFill>
                <a:latin typeface="Arial"/>
                <a:ea typeface="Arial"/>
                <a:cs typeface="Arial"/>
              </a:rPr>
              <a:t>IRDAI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24EAC51-9F17-4197-9B14-9E11E40A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52925"/>
            <a:ext cx="4953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FAQs on health insurance regulations, irdai.gov.in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37F8B65-26D6-498C-9FD2-E0B58101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724400"/>
            <a:ext cx="520065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9D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721BEF5-D515-4CC9-987B-A38E7002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815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C5B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C5B6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C5B66"/>
                </a:solidFill>
                <a:latin typeface="Arial"/>
                <a:ea typeface="Arial"/>
                <a:cs typeface="Arial"/>
              </a:rPr>
              <a:t>NHA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8F12A4C-F5DD-4F6B-8724-90D5BE2B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10150"/>
            <a:ext cx="4953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1D303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D303A"/>
                </a:solidFill>
                <a:latin typeface="Arial"/>
                <a:ea typeface="Arial"/>
                <a:cs typeface="Arial"/>
              </a:rPr>
              <a:t>PM-JAY Health Benefit Package 2.2 manual, nha.gov.in</a:t>
            </a:r>
          </a:p>
        </p:txBody>
      </p:sp>
    </p:spTree>
    <p:extLst>
      <p:ext uri="{BB962C8B-B14F-4D97-AF65-F5344CB8AC3E}">
        <p14:creationId xmlns:p14="http://schemas.microsoft.com/office/powerpoint/2010/main" val="1645705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2026-10-08T03:53:07.7330000Z</dcterms:created>
  <dcterms:modified xsi:type="dcterms:W3CDTF">2026-10-08T03:53:07.7340000Z</dcterms:modified>
</coreProperties>
</file>